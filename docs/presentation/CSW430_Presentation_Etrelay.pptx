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731520"/>
            <a:ext cx="3108960" cy="31089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5349240"/>
            <a:ext cx="2011680" cy="2011680"/>
          </a:xfrm>
          <a:prstGeom prst="ellipse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02920"/>
            <a:ext cx="1261872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404" y="557784"/>
            <a:ext cx="837799" cy="7315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21408" y="66751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B8A6"/>
                </a:solidFill>
                <a:latin typeface="Aptos Display"/>
              </a:rPr>
              <a:t>FINAL PROJECT • CSW430</a:t>
            </a:r>
            <a:endParaRPr sz="1100" b="1" i="0">
              <a:solidFill>
                <a:srgbClr val="14B8A6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1627632"/>
            <a:ext cx="51206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ptos Display"/>
              </a:rPr>
              <a:t>Etrelay:</a:t>
            </a:r>
            <a:endParaRPr sz="4200" b="1" i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2231136"/>
            <a:ext cx="566928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ptos Display"/>
              </a:rPr>
              <a:t>Rental Operations</a:t>
            </a:r>
            <a:endParaRPr sz="4200" b="1" i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530352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7D4E0"/>
                </a:solidFill>
                <a:latin typeface="Aptos"/>
              </a:rPr>
              <a:t>A mobile equipment transfer management system for AV rental teams</a:t>
            </a:r>
            <a:endParaRPr sz="1800" b="0" i="0">
              <a:solidFill>
                <a:srgbClr val="C7D4E0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9808" y="4251960"/>
            <a:ext cx="4892040" cy="109728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48970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TRAN KHANH BINH</a:t>
            </a:r>
            <a:endParaRPr sz="14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7552" y="4837176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FC0CF"/>
                </a:solidFill>
                <a:latin typeface="Aptos"/>
              </a:rPr>
              <a:t>2231200127  •  INDIVIDUAL PROJECT</a:t>
            </a:r>
            <a:endParaRPr sz="1150" b="0" i="0">
              <a:solidFill>
                <a:srgbClr val="AFC0C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70020" y="4244340"/>
            <a:ext cx="1538605" cy="1090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E0E9"/>
                </a:solidFill>
                <a:latin typeface="Aptos"/>
              </a:rPr>
              <a:t>Lecturers</a:t>
            </a:r>
            <a:endParaRPr sz="1150" b="0" i="0">
              <a:solidFill>
                <a:srgbClr val="D4E0E9"/>
              </a:solidFill>
              <a:latin typeface="Aptos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E0E9"/>
                </a:solidFill>
                <a:latin typeface="Aptos"/>
              </a:rPr>
              <a:t>Tran Van Tai </a:t>
            </a:r>
            <a:endParaRPr sz="1150" b="0" i="0">
              <a:solidFill>
                <a:srgbClr val="D4E0E9"/>
              </a:solidFill>
              <a:latin typeface="Aptos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E0E9"/>
                </a:solidFill>
                <a:latin typeface="Aptos"/>
              </a:rPr>
              <a:t>Nguyen Hoang Ly</a:t>
            </a:r>
            <a:endParaRPr sz="1150" b="0" i="0">
              <a:solidFill>
                <a:srgbClr val="D4E0E9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73952" y="1143000"/>
            <a:ext cx="4983480" cy="4498848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8_transfer_list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60502"/>
            <a:ext cx="4764024" cy="346384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812280" y="5833872"/>
            <a:ext cx="2423160" cy="310896"/>
          </a:xfrm>
          <a:prstGeom prst="roundRect">
            <a:avLst/>
          </a:prstGeom>
          <a:solidFill>
            <a:srgbClr val="D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5833872"/>
            <a:ext cx="224027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F33"/>
                </a:solidFill>
                <a:latin typeface="Aptos"/>
              </a:rPr>
              <a:t>12 JUL — 12 AUG 2026</a:t>
            </a:r>
            <a:endParaRPr sz="110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45752" y="5797296"/>
            <a:ext cx="20299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Mobile Application Development</a:t>
            </a:r>
            <a:endParaRPr sz="1150" b="1" i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7680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5EFF"/>
                </a:solidFill>
                <a:latin typeface="Aptos Display"/>
              </a:rPr>
              <a:t>CSW430 • MOBILE APPLICATION DEVELOPMENT</a:t>
            </a:r>
            <a:endParaRPr sz="1000" b="1" i="0">
              <a:solidFill>
                <a:srgbClr val="1E5E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1F33"/>
                </a:solidFill>
                <a:latin typeface="Aptos Display"/>
              </a:rPr>
              <a:t>Why this project?</a:t>
            </a:r>
            <a:endParaRPr sz="2900" b="1" i="0">
              <a:solidFill>
                <a:srgbClr val="0B1F33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9966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B76"/>
                </a:solidFill>
                <a:latin typeface="Aptos"/>
              </a:rPr>
              <a:t>The operational gap is not inventory alone — it is movement accountability.</a:t>
            </a:r>
            <a:endParaRPr sz="130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320040"/>
            <a:ext cx="502920" cy="38404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32004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1737360"/>
            <a:ext cx="4572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0B1F33"/>
                </a:solidFill>
                <a:latin typeface="Aptos Display"/>
              </a:rPr>
              <a:t>A transfer is more than a row in a spreadsheet.</a:t>
            </a:r>
            <a:endParaRPr sz="3100" b="1" i="0">
              <a:solidFill>
                <a:srgbClr val="0B1F33"/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2944368"/>
            <a:ext cx="44348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F6B76"/>
                </a:solidFill>
                <a:latin typeface="Aptos"/>
              </a:rPr>
              <a:t>AV teams need one record that explains what should move, what actually moved, what returned, and who performed the action.</a:t>
            </a:r>
            <a:endParaRPr sz="180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4690872"/>
            <a:ext cx="1536192" cy="310896"/>
          </a:xfrm>
          <a:prstGeom prst="round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90872"/>
            <a:ext cx="13533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5EFF"/>
                </a:solidFill>
                <a:latin typeface="Aptos"/>
              </a:rPr>
              <a:t>PROJECT RESPONSE</a:t>
            </a:r>
            <a:endParaRPr sz="1100" b="1" i="0">
              <a:solidFill>
                <a:srgbClr val="1E5E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9808" y="50749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F33"/>
                </a:solidFill>
                <a:latin typeface="Aptos"/>
              </a:rPr>
              <a:t>Customers + Locations + Assets + Transfers</a:t>
            </a:r>
            <a:endParaRPr sz="180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80760" y="1783080"/>
            <a:ext cx="5394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27648" y="2011680"/>
            <a:ext cx="640080" cy="640080"/>
          </a:xfrm>
          <a:prstGeom prst="ellipse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0116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01</a:t>
            </a:r>
            <a:endParaRPr sz="15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23760" y="199339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5EFF"/>
                </a:solidFill>
                <a:latin typeface="Aptos"/>
              </a:rPr>
              <a:t>PLANNED</a:t>
            </a:r>
            <a:endParaRPr sz="1400" b="1" i="0">
              <a:solidFill>
                <a:srgbClr val="1E5E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23760" y="2350008"/>
            <a:ext cx="37490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B1F33"/>
                </a:solidFill>
                <a:latin typeface="Aptos"/>
              </a:rPr>
              <a:t>Expected assets and quantities</a:t>
            </a:r>
            <a:endParaRPr sz="1600" b="0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080760" y="3200400"/>
            <a:ext cx="5394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27648" y="3429000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4290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02</a:t>
            </a:r>
            <a:endParaRPr sz="15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23760" y="34107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B8A6"/>
                </a:solidFill>
                <a:latin typeface="Aptos"/>
              </a:rPr>
              <a:t>MOVED</a:t>
            </a:r>
            <a:endParaRPr sz="1400" b="1" i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23760" y="3767328"/>
            <a:ext cx="37490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B1F33"/>
                </a:solidFill>
                <a:latin typeface="Aptos"/>
              </a:rPr>
              <a:t>Dispatch and partial movement</a:t>
            </a:r>
            <a:endParaRPr sz="1600" b="0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80760" y="4617720"/>
            <a:ext cx="5394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27648" y="4846320"/>
            <a:ext cx="640080" cy="640080"/>
          </a:xfrm>
          <a:prstGeom prst="ellipse">
            <a:avLst/>
          </a:prstGeom>
          <a:solidFill>
            <a:srgbClr val="EF6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4846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03</a:t>
            </a:r>
            <a:endParaRPr sz="15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223760" y="482803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A5B"/>
                </a:solidFill>
                <a:latin typeface="Aptos"/>
              </a:rPr>
              <a:t>RETURNED</a:t>
            </a:r>
            <a:endParaRPr sz="1400" b="1" i="0">
              <a:solidFill>
                <a:srgbClr val="EF6A5B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23760" y="5184648"/>
            <a:ext cx="37490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B1F33"/>
                </a:solidFill>
                <a:latin typeface="Aptos"/>
              </a:rPr>
              <a:t>Received, damaged, outstanding</a:t>
            </a:r>
            <a:endParaRPr sz="1600" b="0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8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858F"/>
                </a:solidFill>
                <a:latin typeface="Aptos"/>
              </a:rPr>
              <a:t>ETRELAY: RENTAL OPERATIONS</a:t>
            </a:r>
            <a:endParaRPr sz="850" b="1" i="0">
              <a:solidFill>
                <a:srgbClr val="7A858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80960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58F"/>
                </a:solidFill>
                <a:latin typeface="Aptos"/>
              </a:rPr>
              <a:t>TRAN KHANH BINH • 2231200127</a:t>
            </a:r>
            <a:endParaRPr sz="850" b="0" i="0">
              <a:solidFill>
                <a:srgbClr val="7A858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7680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5EFF"/>
                </a:solidFill>
                <a:latin typeface="Aptos Display"/>
              </a:rPr>
              <a:t>CSW430 • MOBILE APPLICATION DEVELOPMENT</a:t>
            </a:r>
            <a:endParaRPr sz="1000" b="1" i="0">
              <a:solidFill>
                <a:srgbClr val="1E5E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1F33"/>
                </a:solidFill>
                <a:latin typeface="Aptos Display"/>
              </a:rPr>
              <a:t>Objectives and scope</a:t>
            </a:r>
            <a:endParaRPr sz="2900" b="1" i="0">
              <a:solidFill>
                <a:srgbClr val="0B1F33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9966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B76"/>
                </a:solidFill>
                <a:latin typeface="Aptos"/>
              </a:rPr>
              <a:t>A complete course-sized slice of a real product — with sensitive launch details excluded.</a:t>
            </a:r>
            <a:endParaRPr sz="130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320040"/>
            <a:ext cx="502920" cy="38404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32004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6492240" cy="978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828800"/>
            <a:ext cx="109728" cy="978408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1993392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5EFF"/>
                </a:solidFill>
                <a:latin typeface="Aptos"/>
              </a:rPr>
              <a:t>MOBILE</a:t>
            </a:r>
            <a:endParaRPr sz="1200" b="1" i="0">
              <a:solidFill>
                <a:srgbClr val="1E5E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40280" y="1984248"/>
            <a:ext cx="4617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B1F33"/>
                </a:solidFill>
                <a:latin typeface="Aptos"/>
              </a:rPr>
              <a:t>Build an Android app with at least 20 topic-appropriate screens.</a:t>
            </a:r>
            <a:endParaRPr sz="1650" b="0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9808" y="2990088"/>
            <a:ext cx="6492240" cy="978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2990088"/>
            <a:ext cx="109728" cy="9784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1546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B8A6"/>
                </a:solidFill>
                <a:latin typeface="Aptos"/>
              </a:rPr>
              <a:t>BACKEND</a:t>
            </a:r>
            <a:endParaRPr sz="1200" b="1" i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40280" y="3145536"/>
            <a:ext cx="4617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B1F33"/>
                </a:solidFill>
                <a:latin typeface="Aptos"/>
              </a:rPr>
              <a:t>Connect Flutter to a self-developed REST API and local PostgreSQL.</a:t>
            </a:r>
            <a:endParaRPr sz="1650" b="0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9808" y="4151376"/>
            <a:ext cx="6492240" cy="978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4151376"/>
            <a:ext cx="109728" cy="978408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31596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B544"/>
                </a:solidFill>
                <a:latin typeface="Aptos"/>
              </a:rPr>
              <a:t>DATA</a:t>
            </a:r>
            <a:endParaRPr sz="1200" b="1" i="0">
              <a:solidFill>
                <a:srgbClr val="F2B544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40280" y="4306824"/>
            <a:ext cx="4617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B1F33"/>
                </a:solidFill>
                <a:latin typeface="Aptos"/>
              </a:rPr>
              <a:t>Support auth, profile, list/detail, CRUD, QR identity and transfer lifecycle.</a:t>
            </a:r>
            <a:endParaRPr sz="1650" b="0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75320" y="1645920"/>
            <a:ext cx="28346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1E5EFF"/>
                </a:solidFill>
                <a:latin typeface="Aptos Display"/>
              </a:rPr>
              <a:t>29</a:t>
            </a:r>
            <a:endParaRPr sz="6400" b="1" i="0">
              <a:solidFill>
                <a:srgbClr val="1E5EFF"/>
              </a:solidFill>
              <a:latin typeface="Aptos Displa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75320" y="26974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1F33"/>
                </a:solidFill>
                <a:latin typeface="Aptos"/>
              </a:rPr>
              <a:t>primary screens</a:t>
            </a:r>
            <a:endParaRPr sz="200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75320" y="315468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6B76"/>
                </a:solidFill>
                <a:latin typeface="Aptos"/>
              </a:rPr>
              <a:t>verified in the source inventory</a:t>
            </a:r>
            <a:endParaRPr sz="1350" b="0" i="0">
              <a:solidFill>
                <a:srgbClr val="5F6B76"/>
              </a:solidFill>
              <a:latin typeface="Aptos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909560" y="3794760"/>
            <a:ext cx="3566160" cy="0"/>
          </a:xfrm>
          <a:prstGeom prst="line">
            <a:avLst/>
          </a:prstGeom>
          <a:ln w="12700">
            <a:solidFill>
              <a:srgbClr val="D8D5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60" y="4142232"/>
            <a:ext cx="1234440" cy="310896"/>
          </a:xfrm>
          <a:prstGeom prst="roundRect">
            <a:avLst/>
          </a:prstGeom>
          <a:solidFill>
            <a:srgbClr val="D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142232"/>
            <a:ext cx="1051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B8A6"/>
                </a:solidFill>
                <a:latin typeface="Aptos"/>
              </a:rPr>
              <a:t>IN SCOPE</a:t>
            </a:r>
            <a:endParaRPr sz="1100" b="1" i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38160" y="4572000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B1F33"/>
                </a:solidFill>
                <a:latin typeface="Aptos"/>
              </a:rPr>
              <a:t>Auth • catalogs • assets • QR • transfers • evidence • history</a:t>
            </a:r>
            <a:endParaRPr sz="1500" b="0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138160" y="5394960"/>
            <a:ext cx="1234440" cy="310896"/>
          </a:xfrm>
          <a:prstGeom prst="roundRect">
            <a:avLst/>
          </a:prstGeom>
          <a:solidFill>
            <a:srgbClr val="FFF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5394960"/>
            <a:ext cx="1051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86A00"/>
                </a:solidFill>
                <a:latin typeface="Aptos"/>
              </a:rPr>
              <a:t>BOUNDARY</a:t>
            </a:r>
            <a:endParaRPr sz="1100" b="1" i="0">
              <a:solidFill>
                <a:srgbClr val="986A00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555480" y="5376672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33"/>
                </a:solidFill>
                <a:latin typeface="Aptos"/>
              </a:rPr>
              <a:t>No secrets, pricing or private production details</a:t>
            </a:r>
            <a:endParaRPr sz="1250" b="0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858F"/>
                </a:solidFill>
                <a:latin typeface="Aptos"/>
              </a:rPr>
              <a:t>ETRELAY: RENTAL OPERATIONS</a:t>
            </a:r>
            <a:endParaRPr sz="850" b="1" i="0">
              <a:solidFill>
                <a:srgbClr val="7A858F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680960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58F"/>
                </a:solidFill>
                <a:latin typeface="Aptos"/>
              </a:rPr>
              <a:t>TRAN KHANH BINH • 2231200127</a:t>
            </a:r>
            <a:endParaRPr sz="850" b="0" i="0">
              <a:solidFill>
                <a:srgbClr val="7A858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7680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5EFF"/>
                </a:solidFill>
                <a:latin typeface="Aptos Display"/>
              </a:rPr>
              <a:t>CSW430 • MOBILE APPLICATION DEVELOPMENT</a:t>
            </a:r>
            <a:endParaRPr sz="1000" b="1" i="0">
              <a:solidFill>
                <a:srgbClr val="1E5E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1F33"/>
                </a:solidFill>
                <a:latin typeface="Aptos Display"/>
              </a:rPr>
              <a:t>Project plan</a:t>
            </a:r>
            <a:endParaRPr sz="2900" b="1" i="0">
              <a:solidFill>
                <a:srgbClr val="0B1F33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9966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B76"/>
                </a:solidFill>
                <a:latin typeface="Aptos"/>
              </a:rPr>
              <a:t>One student owns every phase: analysis, design, implementation, testing and presentation.</a:t>
            </a:r>
            <a:endParaRPr sz="130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320040"/>
            <a:ext cx="502920" cy="38404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32004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60120" y="3017520"/>
            <a:ext cx="10012680" cy="0"/>
          </a:xfrm>
          <a:prstGeom prst="line">
            <a:avLst/>
          </a:prstGeom>
          <a:ln w="25400">
            <a:solidFill>
              <a:srgbClr val="B8C1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49808" y="2807208"/>
            <a:ext cx="420624" cy="420624"/>
          </a:xfrm>
          <a:prstGeom prst="ellipse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5EFF"/>
                </a:solidFill>
                <a:latin typeface="Aptos"/>
              </a:rPr>
              <a:t>ANALYZE</a:t>
            </a:r>
            <a:endParaRPr sz="1300" b="1" i="0">
              <a:solidFill>
                <a:srgbClr val="1E5E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2677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3"/>
                </a:solidFill>
                <a:latin typeface="Aptos"/>
              </a:rPr>
              <a:t>12–16 Jul</a:t>
            </a:r>
            <a:endParaRPr sz="125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18288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B76"/>
                </a:solidFill>
                <a:latin typeface="Aptos"/>
              </a:rPr>
              <a:t>Requirements
research</a:t>
            </a:r>
            <a:endParaRPr sz="140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264408" y="2807208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19385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B8A6"/>
                </a:solidFill>
                <a:latin typeface="Aptos"/>
              </a:rPr>
              <a:t>DESIGN</a:t>
            </a:r>
            <a:endParaRPr sz="1300" b="1" i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60320" y="22677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3"/>
                </a:solidFill>
                <a:latin typeface="Aptos"/>
              </a:rPr>
              <a:t>15–19 Jul</a:t>
            </a:r>
            <a:endParaRPr sz="125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60320" y="3401568"/>
            <a:ext cx="18288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B76"/>
                </a:solidFill>
                <a:latin typeface="Aptos"/>
              </a:rPr>
              <a:t>UX + database</a:t>
            </a:r>
            <a:endParaRPr sz="140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79007" y="2807208"/>
            <a:ext cx="420624" cy="420624"/>
          </a:xfrm>
          <a:prstGeom prst="ellipse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9385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B544"/>
                </a:solidFill>
                <a:latin typeface="Aptos"/>
              </a:rPr>
              <a:t>BUILD</a:t>
            </a:r>
            <a:endParaRPr sz="1300" b="1" i="0">
              <a:solidFill>
                <a:srgbClr val="F2B544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74920" y="22677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3"/>
                </a:solidFill>
                <a:latin typeface="Aptos"/>
              </a:rPr>
              <a:t>18 Jul–4 Aug</a:t>
            </a:r>
            <a:endParaRPr sz="125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74920" y="3401568"/>
            <a:ext cx="18288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B76"/>
                </a:solidFill>
                <a:latin typeface="Aptos"/>
              </a:rPr>
              <a:t>Flutter + Node REST API</a:t>
            </a:r>
            <a:endParaRPr sz="140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293608" y="2807208"/>
            <a:ext cx="420624" cy="420624"/>
          </a:xfrm>
          <a:prstGeom prst="ellipse">
            <a:avLst/>
          </a:prstGeom>
          <a:solidFill>
            <a:srgbClr val="EF6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19385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F6A5B"/>
                </a:solidFill>
                <a:latin typeface="Aptos"/>
              </a:rPr>
              <a:t>TEST</a:t>
            </a:r>
            <a:endParaRPr sz="1300" b="1" i="0">
              <a:solidFill>
                <a:srgbClr val="EF6A5B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89520" y="22677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3"/>
                </a:solidFill>
                <a:latin typeface="Aptos"/>
              </a:rPr>
              <a:t>30 Jul–9 Aug</a:t>
            </a:r>
            <a:endParaRPr sz="125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89520" y="3401568"/>
            <a:ext cx="18288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B76"/>
                </a:solidFill>
                <a:latin typeface="Aptos"/>
              </a:rPr>
              <a:t>Flutter + REST API tests</a:t>
            </a:r>
            <a:endParaRPr sz="140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0762488" y="2807208"/>
            <a:ext cx="420624" cy="420624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19385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3"/>
                </a:solidFill>
                <a:latin typeface="Aptos"/>
              </a:rPr>
              <a:t>DOCUMENT</a:t>
            </a:r>
            <a:endParaRPr sz="130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92640" y="226771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3"/>
                </a:solidFill>
                <a:latin typeface="Aptos"/>
              </a:rPr>
              <a:t>5–12 Aug</a:t>
            </a:r>
            <a:endParaRPr sz="125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92640" y="3401568"/>
            <a:ext cx="18288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B76"/>
                </a:solidFill>
                <a:latin typeface="Aptos"/>
              </a:rPr>
              <a:t>Report + slides</a:t>
            </a:r>
            <a:endParaRPr sz="140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14400" y="4681728"/>
            <a:ext cx="10378440" cy="100584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91947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B8A6"/>
                </a:solidFill>
                <a:latin typeface="Aptos"/>
              </a:rPr>
              <a:t>INDIVIDUAL DELIVERY MODEL</a:t>
            </a:r>
            <a:endParaRPr sz="1200" b="1" i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703320" y="4818888"/>
            <a:ext cx="70408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ptos"/>
              </a:rPr>
              <a:t>No fictional team members. The same person can explain every design and implementation decision.</a:t>
            </a:r>
            <a:endParaRPr sz="1800" b="0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8368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858F"/>
                </a:solidFill>
                <a:latin typeface="Aptos"/>
              </a:rPr>
              <a:t>ETRELAY: RENTAL OPERATIONS</a:t>
            </a:r>
            <a:endParaRPr sz="850" b="1" i="0">
              <a:solidFill>
                <a:srgbClr val="7A858F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80960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58F"/>
                </a:solidFill>
                <a:latin typeface="Aptos"/>
              </a:rPr>
              <a:t>TRAN KHANH BINH • 2231200127</a:t>
            </a:r>
            <a:endParaRPr sz="850" b="0" i="0">
              <a:solidFill>
                <a:srgbClr val="7A858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7680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B8A6"/>
                </a:solidFill>
                <a:latin typeface="Aptos Display"/>
              </a:rPr>
              <a:t>CSW430 • MOBILE APPLICATION DEVELOPMENT</a:t>
            </a:r>
            <a:endParaRPr sz="1000" b="1" i="0">
              <a:solidFill>
                <a:srgbClr val="14B8A6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ptos Display"/>
              </a:rPr>
              <a:t>Main feature system</a:t>
            </a:r>
            <a:endParaRPr sz="2900" b="1" i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9966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9C8D6"/>
                </a:solidFill>
                <a:latin typeface="Aptos"/>
              </a:rPr>
              <a:t>The transfer lifecycle is the spine; catalogs, assets, evidence and access support it.</a:t>
            </a:r>
            <a:endParaRPr sz="1300" b="0" i="0">
              <a:solidFill>
                <a:srgbClr val="B9C8D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320040"/>
            <a:ext cx="502920" cy="38404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32004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05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10332720" cy="13716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94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2596896"/>
            <a:ext cx="640080" cy="640080"/>
          </a:xfrm>
          <a:prstGeom prst="ellipse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596896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1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57400" y="26974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PREPARE</a:t>
            </a:r>
            <a:endParaRPr sz="1500" b="1" i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2907792"/>
            <a:ext cx="457200" cy="0"/>
          </a:xfrm>
          <a:prstGeom prst="line">
            <a:avLst/>
          </a:prstGeom>
          <a:ln w="25400">
            <a:solidFill>
              <a:srgbClr val="547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749039" y="2596896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596896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2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26974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DISPATCH</a:t>
            </a:r>
            <a:endParaRPr sz="1500" b="1" i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715000" y="2907792"/>
            <a:ext cx="457200" cy="0"/>
          </a:xfrm>
          <a:prstGeom prst="line">
            <a:avLst/>
          </a:prstGeom>
          <a:ln w="25400">
            <a:solidFill>
              <a:srgbClr val="547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63640" y="2596896"/>
            <a:ext cx="640080" cy="640080"/>
          </a:xfrm>
          <a:prstGeom prst="ellipse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596896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3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86600" y="26974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RETURN</a:t>
            </a:r>
            <a:endParaRPr sz="1500" b="1" i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2907792"/>
            <a:ext cx="457200" cy="0"/>
          </a:xfrm>
          <a:prstGeom prst="line">
            <a:avLst/>
          </a:prstGeom>
          <a:ln w="25400">
            <a:solidFill>
              <a:srgbClr val="547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778240" y="2596896"/>
            <a:ext cx="640080" cy="640080"/>
          </a:xfrm>
          <a:prstGeom prst="ellipse">
            <a:avLst/>
          </a:prstGeom>
          <a:solidFill>
            <a:srgbClr val="EF6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596896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4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01200" y="26974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HISTORY</a:t>
            </a:r>
            <a:endParaRPr sz="15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14400" y="4233672"/>
            <a:ext cx="2487168" cy="310896"/>
          </a:xfrm>
          <a:prstGeom prst="round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233672"/>
            <a:ext cx="230428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5EFF"/>
                </a:solidFill>
                <a:latin typeface="Aptos"/>
              </a:rPr>
              <a:t>AUTH + COMPANY</a:t>
            </a:r>
            <a:endParaRPr sz="1050" b="1" i="0">
              <a:solidFill>
                <a:srgbClr val="1E5EFF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273552" y="4233672"/>
            <a:ext cx="2487168" cy="310896"/>
          </a:xfrm>
          <a:prstGeom prst="roundRect">
            <a:avLst/>
          </a:prstGeom>
          <a:solidFill>
            <a:srgbClr val="D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64992" y="4233672"/>
            <a:ext cx="230428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B8A6"/>
                </a:solidFill>
                <a:latin typeface="Aptos"/>
              </a:rPr>
              <a:t>CUSTOMERS + LOCATIONS</a:t>
            </a:r>
            <a:endParaRPr sz="1050" b="1" i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89320" y="4233672"/>
            <a:ext cx="2487168" cy="310896"/>
          </a:xfrm>
          <a:prstGeom prst="roundRect">
            <a:avLst/>
          </a:prstGeom>
          <a:solidFill>
            <a:srgbClr val="FFF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59" y="4233672"/>
            <a:ext cx="230428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86A00"/>
                </a:solidFill>
                <a:latin typeface="Aptos"/>
              </a:rPr>
              <a:t>SERIALIZED + BULK ASSETS</a:t>
            </a:r>
            <a:endParaRPr sz="1050" b="1" i="0">
              <a:solidFill>
                <a:srgbClr val="986A00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796528" y="4233672"/>
            <a:ext cx="2487168" cy="310896"/>
          </a:xfrm>
          <a:prstGeom prst="roundRect">
            <a:avLst/>
          </a:prstGeom>
          <a:solidFill>
            <a:srgbClr val="FFE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87967" y="4233672"/>
            <a:ext cx="230428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F6A5B"/>
                </a:solidFill>
                <a:latin typeface="Aptos"/>
              </a:rPr>
              <a:t>QR + PRIVATE EVIDENCE</a:t>
            </a:r>
            <a:endParaRPr sz="1050" b="1" i="0">
              <a:solidFill>
                <a:srgbClr val="EF6A5B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4400" y="4983480"/>
            <a:ext cx="103327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3DE"/>
                </a:solidFill>
                <a:latin typeface="Aptos"/>
              </a:rPr>
              <a:t>Adaptive phone + large-screen layouts • loading / empty / error / recovery states</a:t>
            </a:r>
            <a:endParaRPr sz="1800" b="0" i="0">
              <a:solidFill>
                <a:srgbClr val="C5D3DE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BBCB"/>
                </a:solidFill>
                <a:latin typeface="Aptos"/>
              </a:rPr>
              <a:t>ETRELAY: RENTAL OPERATIONS</a:t>
            </a:r>
            <a:endParaRPr sz="850" b="1" i="0">
              <a:solidFill>
                <a:srgbClr val="A8BBC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80960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8BBCB"/>
                </a:solidFill>
                <a:latin typeface="Aptos"/>
              </a:rPr>
              <a:t>TRAN KHANH BINH • 2231200127</a:t>
            </a:r>
            <a:endParaRPr sz="850" b="0" i="0">
              <a:solidFill>
                <a:srgbClr val="A8BBC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7680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5EFF"/>
                </a:solidFill>
                <a:latin typeface="Aptos Display"/>
              </a:rPr>
              <a:t>CSW430 • MOBILE APPLICATION DEVELOPMENT</a:t>
            </a:r>
            <a:endParaRPr sz="1000" b="1" i="0">
              <a:solidFill>
                <a:srgbClr val="1E5E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1F33"/>
                </a:solidFill>
                <a:latin typeface="Aptos Display"/>
              </a:rPr>
              <a:t>Technology and architecture</a:t>
            </a:r>
            <a:endParaRPr sz="2900" b="1" i="0">
              <a:solidFill>
                <a:srgbClr val="0B1F33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9966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B76"/>
                </a:solidFill>
                <a:latin typeface="Aptos"/>
              </a:rPr>
              <a:t>Flutter, a self-developed REST API, and a local relational database.</a:t>
            </a:r>
            <a:endParaRPr sz="130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320040"/>
            <a:ext cx="502920" cy="38404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32004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06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609344"/>
            <a:ext cx="7360920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31674"/>
            <a:ext cx="7031736" cy="35627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21040" y="1664208"/>
            <a:ext cx="3200400" cy="786384"/>
          </a:xfrm>
          <a:prstGeom prst="round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783080"/>
            <a:ext cx="13898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5EFF"/>
                </a:solidFill>
                <a:latin typeface="Aptos"/>
              </a:rPr>
              <a:t>MOBILE</a:t>
            </a:r>
            <a:endParaRPr sz="1100" b="1" i="0">
              <a:solidFill>
                <a:srgbClr val="1E5E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0" y="1783080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1F33"/>
                </a:solidFill>
                <a:latin typeface="Aptos"/>
              </a:rPr>
              <a:t>Flutter • Dart • Riverpod</a:t>
            </a:r>
            <a:endParaRPr sz="1200" b="0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321040" y="2578608"/>
            <a:ext cx="3200400" cy="786384"/>
          </a:xfrm>
          <a:prstGeom prst="roundRect">
            <a:avLst/>
          </a:prstGeom>
          <a:solidFill>
            <a:srgbClr val="D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697480"/>
            <a:ext cx="13898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B8A6"/>
                </a:solidFill>
                <a:latin typeface="Aptos"/>
              </a:rPr>
              <a:t>BACKEND / API</a:t>
            </a:r>
            <a:endParaRPr sz="1100" b="1" i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875520" y="2697480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1F33"/>
                </a:solidFill>
                <a:latin typeface="Aptos"/>
              </a:rPr>
              <a:t>Node.js • Express • Zod</a:t>
            </a:r>
            <a:endParaRPr sz="1200" b="0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321040" y="3493008"/>
            <a:ext cx="3200400" cy="786384"/>
          </a:xfrm>
          <a:prstGeom prst="roundRect">
            <a:avLst/>
          </a:prstGeom>
          <a:solidFill>
            <a:srgbClr val="FFF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3611880"/>
            <a:ext cx="13898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B544"/>
                </a:solidFill>
                <a:latin typeface="Aptos"/>
              </a:rPr>
              <a:t>DATABASE</a:t>
            </a:r>
            <a:endParaRPr sz="1100" b="1" i="0">
              <a:solidFill>
                <a:srgbClr val="F2B54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75520" y="3611880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1F33"/>
                </a:solidFill>
                <a:latin typeface="Aptos"/>
              </a:rPr>
              <a:t>PostgreSQL • pg • indexes</a:t>
            </a:r>
            <a:endParaRPr sz="1200" b="0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321040" y="4407408"/>
            <a:ext cx="3200400" cy="786384"/>
          </a:xfrm>
          <a:prstGeom prst="roundRect">
            <a:avLst/>
          </a:prstGeom>
          <a:solidFill>
            <a:srgbClr val="FFE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4526280"/>
            <a:ext cx="13898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A5B"/>
                </a:solidFill>
                <a:latin typeface="Aptos"/>
              </a:rPr>
              <a:t>PRIVATE MEDIA</a:t>
            </a:r>
            <a:endParaRPr sz="1100" b="1" i="0">
              <a:solidFill>
                <a:srgbClr val="EF6A5B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875520" y="4526280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1F33"/>
                </a:solidFill>
                <a:latin typeface="Aptos"/>
              </a:rPr>
              <a:t>Local JWT authentication</a:t>
            </a:r>
            <a:endParaRPr sz="1200" b="0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321040" y="5468112"/>
            <a:ext cx="3200400" cy="56692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555955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ptos"/>
              </a:rPr>
              <a:t>Flutter → Node.js + Express REST API → local PostgreSQL. Local JWT provides identity only.</a:t>
            </a:r>
            <a:endParaRPr sz="113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8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858F"/>
                </a:solidFill>
                <a:latin typeface="Aptos"/>
              </a:rPr>
              <a:t>ETRELAY: RENTAL OPERATIONS</a:t>
            </a:r>
            <a:endParaRPr sz="850" b="1" i="0">
              <a:solidFill>
                <a:srgbClr val="7A858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80960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58F"/>
                </a:solidFill>
                <a:latin typeface="Aptos"/>
              </a:rPr>
              <a:t>TRAN KHANH BINH • 2231200127</a:t>
            </a:r>
            <a:endParaRPr sz="850" b="0" i="0">
              <a:solidFill>
                <a:srgbClr val="7A858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7680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5EFF"/>
                </a:solidFill>
                <a:latin typeface="Aptos Display"/>
              </a:rPr>
              <a:t>CSW430 • MOBILE APPLICATION DEVELOPMENT</a:t>
            </a:r>
            <a:endParaRPr sz="1000" b="1" i="0">
              <a:solidFill>
                <a:srgbClr val="1E5E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1F33"/>
                </a:solidFill>
                <a:latin typeface="Aptos Display"/>
              </a:rPr>
              <a:t>Analysis: users and authorization</a:t>
            </a:r>
            <a:endParaRPr sz="2900" b="1" i="0">
              <a:solidFill>
                <a:srgbClr val="0B1F33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9966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B76"/>
                </a:solidFill>
                <a:latin typeface="Aptos"/>
              </a:rPr>
              <a:t>Flutter controls visibility; backend authorization remains authoritative.</a:t>
            </a:r>
            <a:endParaRPr sz="130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320040"/>
            <a:ext cx="502920" cy="38404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32004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07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0749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993392"/>
            <a:ext cx="658368" cy="658368"/>
          </a:xfrm>
          <a:prstGeom prst="ellipse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99339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B1F33"/>
                </a:solidFill>
                <a:latin typeface="Aptos"/>
              </a:rPr>
              <a:t>O</a:t>
            </a:r>
            <a:endParaRPr sz="200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20240" y="197510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1F33"/>
                </a:solidFill>
                <a:latin typeface="Aptos Display"/>
              </a:rPr>
              <a:t>OWNER</a:t>
            </a:r>
            <a:endParaRPr sz="2400" b="1" i="0">
              <a:solidFill>
                <a:srgbClr val="0B1F33"/>
              </a:solidFill>
              <a:latin typeface="Aptos Displa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8992" y="2788920"/>
            <a:ext cx="416052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5F6B76"/>
                </a:solidFill>
                <a:latin typeface="Aptos"/>
              </a:defRPr>
            </a:pPr>
            <a:r>
              <a:t>•  Manage company settings and invitations</a:t>
            </a:r>
          </a:p>
          <a:p>
            <a:pPr>
              <a:spcAft>
                <a:spcPts val="1200"/>
              </a:spcAft>
              <a:defRPr sz="1700">
                <a:solidFill>
                  <a:srgbClr val="5F6B76"/>
                </a:solidFill>
                <a:latin typeface="Aptos"/>
              </a:defRPr>
            </a:pPr>
            <a:r>
              <a:t>•  Perform all operational workflows</a:t>
            </a:r>
          </a:p>
          <a:p>
            <a:pPr>
              <a:spcAft>
                <a:spcPts val="1200"/>
              </a:spcAft>
              <a:defRPr sz="1700">
                <a:solidFill>
                  <a:srgbClr val="5F6B76"/>
                </a:solidFill>
                <a:latin typeface="Aptos"/>
              </a:defRPr>
            </a:pPr>
            <a:r>
              <a:t>•  Control team membership and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" y="5285232"/>
            <a:ext cx="2880360" cy="310896"/>
          </a:xfrm>
          <a:prstGeom prst="roundRect">
            <a:avLst/>
          </a:prstGeom>
          <a:solidFill>
            <a:srgbClr val="FFF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5285232"/>
            <a:ext cx="269747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86A00"/>
                </a:solidFill>
                <a:latin typeface="Aptos"/>
              </a:rPr>
              <a:t>COMPANY ADMIN + OPERATOR</a:t>
            </a:r>
            <a:endParaRPr sz="1100" b="1" i="0">
              <a:solidFill>
                <a:srgbClr val="986A0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55080" y="1691640"/>
            <a:ext cx="50749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02552" y="1993392"/>
            <a:ext cx="658368" cy="6583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2" y="199339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S</a:t>
            </a:r>
            <a:endParaRPr sz="2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43800" y="197510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B1F33"/>
                </a:solidFill>
                <a:latin typeface="Aptos Display"/>
              </a:rPr>
              <a:t>STAFF</a:t>
            </a:r>
            <a:endParaRPr sz="2400" b="1" i="0">
              <a:solidFill>
                <a:srgbClr val="0B1F33"/>
              </a:solidFill>
              <a:latin typeface="Aptos Display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02552" y="2788920"/>
            <a:ext cx="416052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5F6B76"/>
                </a:solidFill>
                <a:latin typeface="Aptos"/>
              </a:defRPr>
            </a:pPr>
            <a:r>
              <a:t>•  View permitted company records</a:t>
            </a:r>
          </a:p>
          <a:p>
            <a:pPr>
              <a:spcAft>
                <a:spcPts val="1200"/>
              </a:spcAft>
              <a:defRPr sz="1700">
                <a:solidFill>
                  <a:srgbClr val="5F6B76"/>
                </a:solidFill>
                <a:latin typeface="Aptos"/>
              </a:defRPr>
            </a:pPr>
            <a:r>
              <a:t>•  Prepare, dispatch and return assigned transfers</a:t>
            </a:r>
          </a:p>
          <a:p>
            <a:pPr>
              <a:spcAft>
                <a:spcPts val="1200"/>
              </a:spcAft>
              <a:defRPr sz="1700">
                <a:solidFill>
                  <a:srgbClr val="5F6B76"/>
                </a:solidFill>
                <a:latin typeface="Aptos"/>
              </a:defRPr>
            </a:pPr>
            <a:r>
              <a:t>•  Scan QR and add operational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02552" y="5285232"/>
            <a:ext cx="2423160" cy="310896"/>
          </a:xfrm>
          <a:prstGeom prst="roundRect">
            <a:avLst/>
          </a:prstGeom>
          <a:solidFill>
            <a:srgbClr val="D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5285232"/>
            <a:ext cx="224027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B8A6"/>
                </a:solidFill>
                <a:latin typeface="Aptos"/>
              </a:rPr>
              <a:t>AUTHORIZED OPERATOR</a:t>
            </a:r>
            <a:endParaRPr sz="1100" b="1" i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858F"/>
                </a:solidFill>
                <a:latin typeface="Aptos"/>
              </a:rPr>
              <a:t>ETRELAY: RENTAL OPERATIONS</a:t>
            </a:r>
            <a:endParaRPr sz="850" b="1" i="0">
              <a:solidFill>
                <a:srgbClr val="7A858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80960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58F"/>
                </a:solidFill>
                <a:latin typeface="Aptos"/>
              </a:rPr>
              <a:t>TRAN KHANH BINH • 2231200127</a:t>
            </a:r>
            <a:endParaRPr sz="850" b="0" i="0">
              <a:solidFill>
                <a:srgbClr val="7A858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7680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5EFF"/>
                </a:solidFill>
                <a:latin typeface="Aptos Display"/>
              </a:rPr>
              <a:t>CSW430 • MOBILE APPLICATION DEVELOPMENT</a:t>
            </a:r>
            <a:endParaRPr sz="1000" b="1" i="0">
              <a:solidFill>
                <a:srgbClr val="1E5E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1F33"/>
                </a:solidFill>
                <a:latin typeface="Aptos Display"/>
              </a:rPr>
              <a:t>Database and API contract</a:t>
            </a:r>
            <a:endParaRPr sz="2900" b="1" i="0">
              <a:solidFill>
                <a:srgbClr val="0B1F33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9966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B76"/>
                </a:solidFill>
                <a:latin typeface="Aptos"/>
              </a:rPr>
              <a:t>Nine explicit Node.js + Express REST endpoints returning JSON.</a:t>
            </a:r>
            <a:endParaRPr sz="130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320040"/>
            <a:ext cx="502920" cy="38404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32004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08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581912"/>
            <a:ext cx="598932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domain_mode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341046"/>
            <a:ext cx="5696711" cy="29622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95160" y="1600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5EFF"/>
                </a:solidFill>
                <a:latin typeface="Aptos"/>
              </a:rPr>
              <a:t>COURSE API MINIMUM</a:t>
            </a:r>
            <a:endParaRPr sz="1100" b="1" i="0">
              <a:solidFill>
                <a:srgbClr val="1E5E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995160" y="2011680"/>
            <a:ext cx="199339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04888" y="2103120"/>
            <a:ext cx="292608" cy="292608"/>
          </a:xfrm>
          <a:prstGeom prst="ellipse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2103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1</a:t>
            </a:r>
            <a:endParaRPr sz="9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07224" y="2112264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3"/>
                </a:solidFill>
                <a:latin typeface="Aptos"/>
              </a:rPr>
              <a:t>Login</a:t>
            </a:r>
            <a:endParaRPr sz="125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95160" y="2642616"/>
            <a:ext cx="199339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04888" y="2734056"/>
            <a:ext cx="292608" cy="292608"/>
          </a:xfrm>
          <a:prstGeom prst="ellipse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273405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2</a:t>
            </a:r>
            <a:endParaRPr sz="9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07224" y="2743200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3"/>
                </a:solidFill>
                <a:latin typeface="Aptos"/>
              </a:rPr>
              <a:t>Register</a:t>
            </a:r>
            <a:endParaRPr sz="125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995160" y="3273552"/>
            <a:ext cx="199339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04888" y="3364992"/>
            <a:ext cx="292608" cy="292608"/>
          </a:xfrm>
          <a:prstGeom prst="ellipse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04888" y="33649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3</a:t>
            </a:r>
            <a:endParaRPr sz="9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07224" y="3374136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3"/>
                </a:solidFill>
                <a:latin typeface="Aptos"/>
              </a:rPr>
              <a:t>Get profile</a:t>
            </a:r>
            <a:endParaRPr sz="125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995160" y="3904487"/>
            <a:ext cx="199339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04888" y="3995927"/>
            <a:ext cx="292608" cy="292608"/>
          </a:xfrm>
          <a:prstGeom prst="ellipse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04888" y="3995927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4</a:t>
            </a:r>
            <a:endParaRPr sz="9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07224" y="4005072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3"/>
                </a:solidFill>
                <a:latin typeface="Aptos"/>
              </a:rPr>
              <a:t>Update profile</a:t>
            </a:r>
            <a:endParaRPr sz="125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995160" y="4535424"/>
            <a:ext cx="199339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04888" y="4626864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04888" y="462686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5</a:t>
            </a:r>
            <a:endParaRPr sz="9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07224" y="4636008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3"/>
                </a:solidFill>
                <a:latin typeface="Aptos"/>
              </a:rPr>
              <a:t>Get list</a:t>
            </a:r>
            <a:endParaRPr sz="125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235440" y="2011680"/>
            <a:ext cx="199339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45168" y="2103120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45168" y="2103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6</a:t>
            </a:r>
            <a:endParaRPr sz="9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747504" y="2112264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3"/>
                </a:solidFill>
                <a:latin typeface="Aptos"/>
              </a:rPr>
              <a:t>Get detail</a:t>
            </a:r>
            <a:endParaRPr sz="125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235440" y="2642616"/>
            <a:ext cx="199339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345168" y="2734056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5168" y="273405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7</a:t>
            </a:r>
            <a:endParaRPr sz="9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747504" y="2743200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3"/>
                </a:solidFill>
                <a:latin typeface="Aptos"/>
              </a:rPr>
              <a:t>Create</a:t>
            </a:r>
            <a:endParaRPr sz="125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235440" y="3273552"/>
            <a:ext cx="199339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345168" y="3364992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45168" y="33649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8</a:t>
            </a:r>
            <a:endParaRPr sz="9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747504" y="3374136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3"/>
                </a:solidFill>
                <a:latin typeface="Aptos"/>
              </a:rPr>
              <a:t>Update</a:t>
            </a:r>
            <a:endParaRPr sz="125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235440" y="3904487"/>
            <a:ext cx="1993392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345168" y="3995927"/>
            <a:ext cx="292608" cy="29260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45168" y="3995927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9</a:t>
            </a:r>
            <a:endParaRPr sz="95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47504" y="4005072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F33"/>
                </a:solidFill>
                <a:latin typeface="Aptos"/>
              </a:rPr>
              <a:t>Delete</a:t>
            </a:r>
            <a:endParaRPr sz="125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995160" y="5321808"/>
            <a:ext cx="4224528" cy="64008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96328" y="5495544"/>
            <a:ext cx="38221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5E1EB"/>
                </a:solidFill>
                <a:latin typeface="Consolas" panose="020B0609020204030204"/>
              </a:rPr>
              <a:t>{ "success": true, "data": { … } }</a:t>
            </a:r>
            <a:endParaRPr sz="1350" b="0" i="0">
              <a:solidFill>
                <a:srgbClr val="D5E1EB"/>
              </a:solidFill>
              <a:latin typeface="Consolas" panose="020B0609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58368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858F"/>
                </a:solidFill>
                <a:latin typeface="Aptos"/>
              </a:rPr>
              <a:t>ETRELAY: RENTAL OPERATIONS</a:t>
            </a:r>
            <a:endParaRPr sz="850" b="1" i="0">
              <a:solidFill>
                <a:srgbClr val="7A858F"/>
              </a:solidFill>
              <a:latin typeface="Apto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680960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58F"/>
                </a:solidFill>
                <a:latin typeface="Aptos"/>
              </a:rPr>
              <a:t>TRAN KHANH BINH • 2231200127</a:t>
            </a:r>
            <a:endParaRPr sz="850" b="0" i="0">
              <a:solidFill>
                <a:srgbClr val="7A858F"/>
              </a:solidFill>
              <a:latin typeface="Aptos"/>
            </a:endParaRPr>
          </a:p>
        </p:txBody>
      </p:sp>
      <p:pic>
        <p:nvPicPr>
          <p:cNvPr id="51" name="api-health-evidence" descr="api-health-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000" y="2300000"/>
            <a:ext cx="5500000" cy="2713333"/>
          </a:xfrm>
          <a:prstGeom prst="rect">
            <a:avLst/>
          </a:prstGeom>
        </p:spPr>
      </p:pic>
      <p:pic>
        <p:nvPicPr>
          <p:cNvPr id="52" name="Picture 51" descr="emulator-customer-lo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4519"/>
            <a:ext cx="5440680" cy="318789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68680" y="52120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Aptos"/>
              </a:defRPr>
            </a:pPr>
            <a:r>
              <a:t>RUNTIME EVIDENCE  •  local Customer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7680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5EFF"/>
                </a:solidFill>
                <a:latin typeface="Aptos Display"/>
              </a:rPr>
              <a:t>CSW430 • MOBILE APPLICATION DEVELOPMENT</a:t>
            </a:r>
            <a:endParaRPr sz="1000" b="1" i="0">
              <a:solidFill>
                <a:srgbClr val="1E5E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1F33"/>
                </a:solidFill>
                <a:latin typeface="Aptos Display"/>
              </a:rPr>
              <a:t>Runtime UI and screen coverage</a:t>
            </a:r>
            <a:endParaRPr sz="2900" b="1" i="0">
              <a:solidFill>
                <a:srgbClr val="0B1F33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9966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Authenticated Etrelay screens captured on the connected Android Studio emulator.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64240" y="320040"/>
            <a:ext cx="502920" cy="38404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32004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09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594360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transfer_list_cropp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082" y="1709928"/>
            <a:ext cx="5634171" cy="409651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39712" y="1600200"/>
            <a:ext cx="470916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_asset_list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125989"/>
            <a:ext cx="4489704" cy="326438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8680" y="6035040"/>
            <a:ext cx="1572768" cy="310896"/>
          </a:xfrm>
          <a:prstGeom prst="round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6035040"/>
            <a:ext cx="138988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5EFF"/>
                </a:solidFill>
                <a:latin typeface="Aptos"/>
              </a:rPr>
              <a:t>TRANSFER LIST</a:t>
            </a:r>
            <a:endParaRPr sz="1100" b="1" i="0">
              <a:solidFill>
                <a:srgbClr val="1E5E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96896" y="6053328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33"/>
                </a:solidFill>
                <a:latin typeface="Aptos"/>
              </a:rPr>
              <a:t>Search • filters • state badges • ownership</a:t>
            </a:r>
            <a:endParaRPr sz="1250" b="0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068312" y="6035040"/>
            <a:ext cx="1389888" cy="310896"/>
          </a:xfrm>
          <a:prstGeom prst="roundRect">
            <a:avLst/>
          </a:prstGeom>
          <a:solidFill>
            <a:srgbClr val="DF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6035040"/>
            <a:ext cx="12070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B8A6"/>
                </a:solidFill>
                <a:latin typeface="Aptos"/>
              </a:rPr>
              <a:t>ASSET LIST</a:t>
            </a:r>
            <a:endParaRPr sz="1100" b="1" i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41080" y="598932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1F33"/>
                </a:solidFill>
                <a:latin typeface="Aptos"/>
              </a:rPr>
              <a:t>Serialized • bulk • warehouse • working state</a:t>
            </a:r>
            <a:endParaRPr sz="1250" b="0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858F"/>
                </a:solidFill>
                <a:latin typeface="Aptos"/>
              </a:rPr>
              <a:t>ETRELAY: RENTAL OPERATIONS</a:t>
            </a:r>
            <a:endParaRPr sz="850" b="1" i="0">
              <a:solidFill>
                <a:srgbClr val="7A858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0960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58F"/>
                </a:solidFill>
                <a:latin typeface="Aptos"/>
              </a:rPr>
              <a:t>TRAN KHANH BINH • 2231200127</a:t>
            </a:r>
            <a:endParaRPr sz="850" b="0" i="0">
              <a:solidFill>
                <a:srgbClr val="7A858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7680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B8A6"/>
                </a:solidFill>
                <a:latin typeface="Aptos Display"/>
              </a:rPr>
              <a:t>CSW430 • MOBILE APPLICATION DEVELOPMENT</a:t>
            </a:r>
            <a:endParaRPr sz="1000" b="1" i="0">
              <a:solidFill>
                <a:srgbClr val="14B8A6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ptos Display"/>
              </a:rPr>
              <a:t>Testing and verified results</a:t>
            </a:r>
            <a:endParaRPr sz="2900" b="1" i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9966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9C8D6"/>
                </a:solidFill>
                <a:latin typeface="Aptos"/>
              </a:rPr>
              <a:t>Verification of Flutter, REST API and local demo components.</a:t>
            </a:r>
            <a:endParaRPr sz="1300" b="0" i="0">
              <a:solidFill>
                <a:srgbClr val="B9C8D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320040"/>
            <a:ext cx="502920" cy="38404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32004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10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14B8A6"/>
                </a:solidFill>
                <a:latin typeface="Aptos Display"/>
              </a:rPr>
              <a:t>127</a:t>
            </a:r>
            <a:endParaRPr sz="4800" b="1" i="0">
              <a:solidFill>
                <a:srgbClr val="14B8A6"/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77063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Flutter tests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2468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C8D6"/>
                </a:solidFill>
                <a:latin typeface="Aptos"/>
              </a:rPr>
              <a:t>Workflow, widgets and failure recovery</a:t>
            </a:r>
            <a:endParaRPr sz="1250" b="0" i="0">
              <a:solidFill>
                <a:srgbClr val="B9C8D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11880" y="1874519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1E5EFF"/>
                </a:solidFill>
                <a:latin typeface="Aptos Display"/>
              </a:rPr>
              <a:t>29</a:t>
            </a:r>
            <a:endParaRPr sz="4800" b="1" i="0">
              <a:solidFill>
                <a:srgbClr val="1E5EFF"/>
              </a:solidFill>
              <a:latin typeface="Aptos Displa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11880" y="277063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primary screens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11880" y="3246120"/>
            <a:ext cx="2468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C8D6"/>
                </a:solidFill>
                <a:latin typeface="Aptos"/>
              </a:rPr>
              <a:t>Above the course minimum of 20</a:t>
            </a:r>
            <a:endParaRPr sz="1250" b="0" i="0">
              <a:solidFill>
                <a:srgbClr val="B9C8D6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46520" y="1874519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2B544"/>
                </a:solidFill>
                <a:latin typeface="Aptos Display"/>
              </a:rPr>
              <a:t>9</a:t>
            </a:r>
            <a:endParaRPr sz="4800" b="1" i="0">
              <a:solidFill>
                <a:srgbClr val="F2B544"/>
              </a:solidFill>
              <a:latin typeface="Aptos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6520" y="277063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REST API tests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46520" y="3246120"/>
            <a:ext cx="2468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C8D6"/>
                </a:solidFill>
                <a:latin typeface="Aptos"/>
              </a:rPr>
              <a:t>Health, validation, auth and ownership</a:t>
            </a:r>
            <a:endParaRPr sz="1250" b="0" i="0">
              <a:solidFill>
                <a:srgbClr val="B9C8D6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81160" y="1874519"/>
            <a:ext cx="24688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EF6A5B"/>
                </a:solidFill>
                <a:latin typeface="Aptos Display"/>
              </a:rPr>
              <a:t>9</a:t>
            </a:r>
            <a:endParaRPr sz="4800" b="1" i="0">
              <a:solidFill>
                <a:srgbClr val="EF6A5B"/>
              </a:solidFill>
              <a:latin typeface="Aptos Displa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81160" y="277063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REST endpoints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81160" y="3246120"/>
            <a:ext cx="2468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9C8D6"/>
                </a:solidFill>
                <a:latin typeface="Aptos"/>
              </a:rPr>
              <a:t>Required course capabilities</a:t>
            </a:r>
            <a:endParaRPr sz="1250" b="0" i="0">
              <a:solidFill>
                <a:srgbClr val="B9C8D6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960" y="4754880"/>
            <a:ext cx="10561320" cy="84124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94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5568" y="5010912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5010912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00200" y="4956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nsolas" panose="020B0609020204030204"/>
              </a:rPr>
              <a:t>flutter analyze</a:t>
            </a:r>
            <a:endParaRPr sz="1500" b="1" i="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57600" y="495604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B8A6"/>
                </a:solidFill>
                <a:latin typeface="Aptos"/>
              </a:rPr>
              <a:t>PASS — no issues found</a:t>
            </a:r>
            <a:endParaRPr sz="1500" b="1" i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03720" y="4956048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Local database + emulator smoke: final runtime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BBCB"/>
                </a:solidFill>
                <a:latin typeface="Aptos"/>
              </a:rPr>
              <a:t>ETRELAY: RENTAL OPERATIONS</a:t>
            </a:r>
            <a:endParaRPr sz="850" b="1" i="0">
              <a:solidFill>
                <a:srgbClr val="A8BBCB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0960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8BBCB"/>
                </a:solidFill>
                <a:latin typeface="Aptos"/>
              </a:rPr>
              <a:t>TRAN KHANH BINH • 2231200127</a:t>
            </a:r>
            <a:endParaRPr sz="850" b="0" i="0">
              <a:solidFill>
                <a:srgbClr val="A8BBC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7680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5EFF"/>
                </a:solidFill>
                <a:latin typeface="Aptos Display"/>
              </a:rPr>
              <a:t>CSW430 • MOBILE APPLICATION DEVELOPMENT</a:t>
            </a:r>
            <a:endParaRPr sz="1000" b="1" i="0">
              <a:solidFill>
                <a:srgbClr val="1E5E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1F33"/>
                </a:solidFill>
                <a:latin typeface="Aptos Display"/>
              </a:rPr>
              <a:t>Demonstration path</a:t>
            </a:r>
            <a:endParaRPr sz="2900" b="1" i="0">
              <a:solidFill>
                <a:srgbClr val="0B1F33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9966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B76"/>
                </a:solidFill>
                <a:latin typeface="Aptos"/>
              </a:rPr>
              <a:t>A short sequence proving the required mobile–REST API–database workflow.</a:t>
            </a:r>
            <a:endParaRPr sz="130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320040"/>
            <a:ext cx="502920" cy="38404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32004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11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166420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5EFF"/>
                </a:solidFill>
                <a:latin typeface="Aptos Display"/>
              </a:rPr>
              <a:t>01</a:t>
            </a:r>
            <a:endParaRPr sz="2500" b="1" i="0">
              <a:solidFill>
                <a:srgbClr val="1E5EFF"/>
              </a:solidFill>
              <a:latin typeface="Aptos Dis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3"/>
                </a:solidFill>
                <a:latin typeface="Aptos"/>
              </a:rPr>
              <a:t>SIGN IN</a:t>
            </a:r>
            <a:endParaRPr sz="130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126187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6B76"/>
                </a:solidFill>
                <a:latin typeface="Aptos"/>
              </a:rPr>
              <a:t>Call Node login API</a:t>
            </a:r>
            <a:endParaRPr sz="135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68680" y="4498848"/>
            <a:ext cx="658368" cy="73152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87752" y="1874519"/>
            <a:ext cx="166420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205740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B8A6"/>
                </a:solidFill>
                <a:latin typeface="Aptos Display"/>
              </a:rPr>
              <a:t>02</a:t>
            </a:r>
            <a:endParaRPr sz="2500" b="1" i="0">
              <a:solidFill>
                <a:srgbClr val="14B8A6"/>
              </a:solidFill>
              <a:latin typeface="Aptos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70632" y="274320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3"/>
                </a:solidFill>
                <a:latin typeface="Aptos"/>
              </a:rPr>
              <a:t>PROFILE</a:t>
            </a:r>
            <a:endParaRPr sz="130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70632" y="3200400"/>
            <a:ext cx="126187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6B76"/>
                </a:solidFill>
                <a:latin typeface="Aptos"/>
              </a:rPr>
              <a:t>Read/update profile API</a:t>
            </a:r>
            <a:endParaRPr sz="135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70632" y="4498848"/>
            <a:ext cx="658368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89704" y="1874519"/>
            <a:ext cx="166420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4" y="205740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B544"/>
                </a:solidFill>
                <a:latin typeface="Aptos Display"/>
              </a:rPr>
              <a:t>03</a:t>
            </a:r>
            <a:endParaRPr sz="2500" b="1" i="0">
              <a:solidFill>
                <a:srgbClr val="F2B544"/>
              </a:solidFill>
              <a:latin typeface="Aptos Display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72584" y="274320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3"/>
                </a:solidFill>
                <a:latin typeface="Aptos"/>
              </a:rPr>
              <a:t>CUSTOMERS</a:t>
            </a:r>
            <a:endParaRPr sz="130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72584" y="3200400"/>
            <a:ext cx="126187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6B76"/>
                </a:solidFill>
                <a:latin typeface="Aptos"/>
              </a:rPr>
              <a:t>List/detail through REST API</a:t>
            </a:r>
            <a:endParaRPr sz="135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72584" y="4498848"/>
            <a:ext cx="658368" cy="73152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91656" y="1874519"/>
            <a:ext cx="166420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205740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F6A5B"/>
                </a:solidFill>
                <a:latin typeface="Aptos Display"/>
              </a:rPr>
              <a:t>04</a:t>
            </a:r>
            <a:endParaRPr sz="2500" b="1" i="0">
              <a:solidFill>
                <a:srgbClr val="EF6A5B"/>
              </a:solidFill>
              <a:latin typeface="Aptos Display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74536" y="274320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3"/>
                </a:solidFill>
                <a:latin typeface="Aptos"/>
              </a:rPr>
              <a:t>CREATE</a:t>
            </a:r>
            <a:endParaRPr sz="130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74536" y="3200400"/>
            <a:ext cx="126187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6B76"/>
                </a:solidFill>
                <a:latin typeface="Aptos"/>
              </a:rPr>
              <a:t>Add a Customer through REST API</a:t>
            </a:r>
            <a:endParaRPr sz="135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74536" y="4498848"/>
            <a:ext cx="658368" cy="73152"/>
          </a:xfrm>
          <a:prstGeom prst="rect">
            <a:avLst/>
          </a:prstGeom>
          <a:solidFill>
            <a:srgbClr val="EF6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93608" y="1874519"/>
            <a:ext cx="166420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205740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E5EFF"/>
                </a:solidFill>
                <a:latin typeface="Aptos Display"/>
              </a:rPr>
              <a:t>05</a:t>
            </a:r>
            <a:endParaRPr sz="2500" b="1" i="0">
              <a:solidFill>
                <a:srgbClr val="1E5EFF"/>
              </a:solidFill>
              <a:latin typeface="Aptos Display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76488" y="274320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3"/>
                </a:solidFill>
                <a:latin typeface="Aptos"/>
              </a:rPr>
              <a:t>UPDATE</a:t>
            </a:r>
            <a:endParaRPr sz="130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76488" y="3200400"/>
            <a:ext cx="126187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6B76"/>
                </a:solidFill>
                <a:latin typeface="Aptos"/>
              </a:rPr>
              <a:t>Edit or archive Customer</a:t>
            </a:r>
            <a:endParaRPr sz="135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476488" y="4498848"/>
            <a:ext cx="658368" cy="73152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95560" y="1874519"/>
            <a:ext cx="1664208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78440" y="2057400"/>
            <a:ext cx="685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B8A6"/>
                </a:solidFill>
                <a:latin typeface="Aptos Display"/>
              </a:rPr>
              <a:t>06</a:t>
            </a:r>
            <a:endParaRPr sz="2500" b="1" i="0">
              <a:solidFill>
                <a:srgbClr val="14B8A6"/>
              </a:solidFill>
              <a:latin typeface="Aptos Display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378440" y="274320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3"/>
                </a:solidFill>
                <a:latin typeface="Aptos"/>
              </a:rPr>
              <a:t>DELETE</a:t>
            </a:r>
            <a:endParaRPr sz="130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378440" y="3200400"/>
            <a:ext cx="126187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6B76"/>
                </a:solidFill>
                <a:latin typeface="Aptos"/>
              </a:rPr>
              <a:t>Verify ownership and JSON response</a:t>
            </a:r>
            <a:endParaRPr sz="135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0378440" y="4498848"/>
            <a:ext cx="658368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423160" y="5394960"/>
            <a:ext cx="7360920" cy="566928"/>
          </a:xfrm>
          <a:prstGeom prst="roundRect">
            <a:avLst/>
          </a:prstGeom>
          <a:solidFill>
            <a:srgbClr val="FFF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5486400"/>
            <a:ext cx="69037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C5700"/>
                </a:solidFill>
                <a:latin typeface="Aptos"/>
              </a:rPr>
              <a:t>RUNTIME EVIDENCE  •  API health, login, profile and Customer CRUD on the Android Studio emulator.</a:t>
            </a:r>
            <a:endParaRPr sz="1250" b="1" i="0">
              <a:solidFill>
                <a:srgbClr val="7C5700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8368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858F"/>
                </a:solidFill>
                <a:latin typeface="Aptos"/>
              </a:rPr>
              <a:t>ETRELAY: RENTAL OPERATIONS</a:t>
            </a:r>
            <a:endParaRPr sz="850" b="1" i="0">
              <a:solidFill>
                <a:srgbClr val="7A858F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680960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58F"/>
                </a:solidFill>
                <a:latin typeface="Aptos"/>
              </a:rPr>
              <a:t>TRAN KHANH BINH • 2231200127</a:t>
            </a:r>
            <a:endParaRPr sz="850" b="0" i="0">
              <a:solidFill>
                <a:srgbClr val="7A858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7680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E5EFF"/>
                </a:solidFill>
                <a:latin typeface="Aptos Display"/>
              </a:rPr>
              <a:t>CSW430 • MOBILE APPLICATION DEVELOPMENT</a:t>
            </a:r>
            <a:endParaRPr sz="1000" b="1" i="0">
              <a:solidFill>
                <a:srgbClr val="1E5E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8755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1F33"/>
                </a:solidFill>
                <a:latin typeface="Aptos Display"/>
              </a:rPr>
              <a:t>Limitations and future work</a:t>
            </a:r>
            <a:endParaRPr sz="2900" b="1" i="0">
              <a:solidFill>
                <a:srgbClr val="0B1F33"/>
              </a:solidFill>
              <a:latin typeface="Aptos Displa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6656" y="1252728"/>
            <a:ext cx="9966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B76"/>
                </a:solidFill>
                <a:latin typeface="Aptos"/>
              </a:rPr>
              <a:t>Clear boundaries make the academic claim stronger, not weaker.</a:t>
            </a:r>
            <a:endParaRPr sz="1300" b="0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320040"/>
            <a:ext cx="502920" cy="38404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0" y="32004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12</a:t>
            </a:r>
            <a:endParaRPr sz="12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8" y="1737360"/>
            <a:ext cx="3474720" cy="4251960"/>
          </a:xfrm>
          <a:prstGeom prst="roundRect">
            <a:avLst/>
          </a:prstGeom>
          <a:solidFill>
            <a:srgbClr val="FFF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6200"/>
                </a:solidFill>
                <a:latin typeface="Aptos"/>
              </a:rPr>
              <a:t>CURRENT LIMITS</a:t>
            </a:r>
            <a:endParaRPr sz="1300" b="1" i="0">
              <a:solidFill>
                <a:srgbClr val="8A620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" y="2670048"/>
            <a:ext cx="278892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•  Emulator screenshots use demonstration data only</a:t>
            </a:r>
          </a:p>
          <a:p>
            <a:r>
              <a:t>•  Local-only demonstration: no cloud/Play Store deployment</a:t>
            </a:r>
          </a:p>
          <a:p>
            <a:r>
              <a:t>•  No commercial launch details in the academic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6995160" cy="192024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02996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B8A6"/>
                </a:solidFill>
                <a:latin typeface="Aptos"/>
              </a:rPr>
              <a:t>BACKEND EXPLANATION</a:t>
            </a:r>
            <a:endParaRPr sz="1300" b="1" i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36592" y="2468880"/>
            <a:ext cx="6126480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Express owns REST routes, Zod validation and PostgreSQL queries. Local JWT identifies users only.</a:t>
            </a:r>
            <a:endParaRPr sz="2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34840" y="3977639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3977639"/>
            <a:ext cx="1572768" cy="9144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4325112"/>
            <a:ext cx="131673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F33"/>
                </a:solidFill>
                <a:latin typeface="Aptos"/>
              </a:rPr>
              <a:t>REPORTING</a:t>
            </a:r>
            <a:endParaRPr sz="120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99631" y="3977639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1" y="3977639"/>
            <a:ext cx="1572768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4325112"/>
            <a:ext cx="131673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F33"/>
                </a:solidFill>
                <a:latin typeface="Aptos"/>
              </a:rPr>
              <a:t>OFFLINE SYNC</a:t>
            </a:r>
            <a:endParaRPr sz="120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64423" y="3977639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64423" y="3977639"/>
            <a:ext cx="1572768" cy="91440"/>
          </a:xfrm>
          <a:prstGeom prst="rect">
            <a:avLst/>
          </a:prstGeom>
          <a:solidFill>
            <a:srgbClr val="EF6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4325112"/>
            <a:ext cx="131673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F33"/>
                </a:solidFill>
                <a:latin typeface="Aptos"/>
              </a:rPr>
              <a:t>NOTIFICATIONS</a:t>
            </a:r>
            <a:endParaRPr sz="120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729215" y="3977639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9215" y="3977639"/>
            <a:ext cx="1572768" cy="91440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7232" y="4325112"/>
            <a:ext cx="131673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1F33"/>
                </a:solidFill>
                <a:latin typeface="Aptos"/>
              </a:rPr>
              <a:t>SUS STUDY</a:t>
            </a:r>
            <a:endParaRPr sz="1200" b="1" i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90288" y="54681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F6B76"/>
                </a:solidFill>
                <a:latin typeface="Aptos"/>
              </a:rPr>
              <a:t>FUTURE WORK</a:t>
            </a:r>
            <a:endParaRPr sz="1200" b="1" i="0">
              <a:solidFill>
                <a:srgbClr val="5F6B76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8368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858F"/>
                </a:solidFill>
                <a:latin typeface="Aptos"/>
              </a:rPr>
              <a:t>ETRELAY: RENTAL OPERATIONS</a:t>
            </a:r>
            <a:endParaRPr sz="850" b="1" i="0">
              <a:solidFill>
                <a:srgbClr val="7A858F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80960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858F"/>
                </a:solidFill>
                <a:latin typeface="Aptos"/>
              </a:rPr>
              <a:t>TRAN KHANH BINH • 2231200127</a:t>
            </a:r>
            <a:endParaRPr sz="850" b="0" i="0">
              <a:solidFill>
                <a:srgbClr val="7A858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4846320"/>
            <a:ext cx="2331720" cy="2331720"/>
          </a:xfrm>
          <a:prstGeom prst="ellipse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44200" y="-640080"/>
            <a:ext cx="2423160" cy="24231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10896"/>
            <a:ext cx="7680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B8A6"/>
                </a:solidFill>
                <a:latin typeface="Aptos Display"/>
              </a:rPr>
              <a:t>CSW430 • CONCLUSION</a:t>
            </a:r>
            <a:endParaRPr sz="1000" b="1" i="0">
              <a:solidFill>
                <a:srgbClr val="14B8A6"/>
              </a:solidFill>
              <a:latin typeface="Aptos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0"/>
            <a:ext cx="10058400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ptos Display"/>
              </a:rPr>
              <a:t>Etrelay demonstrates a complete mobile application slice.</a:t>
            </a:r>
            <a:endParaRPr sz="3800" b="1" i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816352"/>
            <a:ext cx="103327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C7D4E0"/>
                </a:solidFill>
                <a:latin typeface="Aptos"/>
              </a:rPr>
              <a:t>Mobile UI  •  backend/API  •  PostgreSQL  •  authentication  •  CRUD  •  QR  •  transfer lifecycle  •  testing</a:t>
            </a:r>
            <a:endParaRPr sz="1750" b="0" i="0">
              <a:solidFill>
                <a:srgbClr val="C7D4E0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34640" y="3913632"/>
            <a:ext cx="6537960" cy="10515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294A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7248" y="4160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B8A6"/>
                </a:solidFill>
                <a:latin typeface="Aptos"/>
              </a:rPr>
              <a:t>Ready for presentation</a:t>
            </a:r>
            <a:endParaRPr sz="1800" b="1" i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33872" y="4078224"/>
            <a:ext cx="3182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Custom REST API implemented • local runtime demonstration ready</a:t>
            </a:r>
            <a:endParaRPr sz="1600" b="0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34640" y="5532120"/>
            <a:ext cx="6537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2B544"/>
                </a:solidFill>
                <a:latin typeface="Aptos"/>
              </a:rPr>
              <a:t>Questions &amp; demonstration</a:t>
            </a:r>
            <a:endParaRPr sz="2200" b="1" i="0">
              <a:solidFill>
                <a:srgbClr val="F2B544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BBCB"/>
                </a:solidFill>
                <a:latin typeface="Aptos"/>
              </a:rPr>
              <a:t>ETRELAY: RENTAL OPERATIONS</a:t>
            </a:r>
            <a:endParaRPr sz="850" b="1" i="0">
              <a:solidFill>
                <a:srgbClr val="A8BBCB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80960" y="6519672"/>
            <a:ext cx="3840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8BBCB"/>
                </a:solidFill>
                <a:latin typeface="Aptos"/>
              </a:rPr>
              <a:t>TRAN KHANH BINH • 2231200127</a:t>
            </a:r>
            <a:endParaRPr sz="850" b="0" i="0">
              <a:solidFill>
                <a:srgbClr val="A8BBC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7680960" cy="23774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E5EFF"/>
                </a:solidFill>
                <a:latin typeface="Aptos"/>
              </a:rPr>
              <a:t>CSW430 • MOBILE APPLICATION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9875520" cy="5852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0B1F33"/>
                </a:solidFill>
                <a:latin typeface="Aptos Display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52728"/>
            <a:ext cx="1005840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F6B76"/>
                </a:solidFill>
                <a:latin typeface="Aptos"/>
              </a:rPr>
              <a:t>Selected academic sources supporting usability, inventory traceability and API security.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320040"/>
            <a:ext cx="502920" cy="384048"/>
          </a:xfrm>
          <a:prstGeom prst="round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93192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5349240" cy="4297680"/>
          </a:xfrm>
          <a:prstGeom prst="roundRect">
            <a:avLst/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37360"/>
            <a:ext cx="5349240" cy="9144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9632" y="1737360"/>
            <a:ext cx="5230368" cy="4297680"/>
          </a:xfrm>
          <a:prstGeom prst="roundRect">
            <a:avLst/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737360"/>
            <a:ext cx="5230368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29968"/>
            <a:ext cx="4389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8A6200"/>
                </a:solidFill>
                <a:latin typeface="Aptos"/>
              </a:rPr>
              <a:t>MOBILE + 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029968"/>
            <a:ext cx="4389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Aptos"/>
              </a:rPr>
              <a:t>INVENTORY +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87168"/>
            <a:ext cx="4617720" cy="3063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B1F33"/>
                </a:solidFill>
                <a:latin typeface="Aptos"/>
              </a:rPr>
              <a:t>Harrison, Flood &amp; Duce (2013) — mobile usability
Weichbroth (2020) — usability literature review
Nielsen (1994) — usability heuristics
Chen et al. (2014) — OAuth for mobile apps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487168"/>
            <a:ext cx="4526280" cy="3063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B1F33"/>
                </a:solidFill>
                <a:latin typeface="Aptos"/>
              </a:rPr>
              <a:t>Fett, Kusters &amp; Schmitz (2016) — OAuth 2.0 security
Sethi, Peltonen &amp; Aura (2019) — secure device pairing
Dane, Michael &amp; Wamba (2010) — RFID inventory control
Mathaba et al. (2017) — IoT inventory management
Sriram et al. (2021) — RFID supply-chain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6236208"/>
            <a:ext cx="731520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F6B76"/>
                </a:solidFill>
                <a:latin typeface="Aptos"/>
              </a:rPr>
              <a:t>Full list: 25 references in the project report.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19672"/>
            <a:ext cx="38404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7A858F"/>
                </a:solidFill>
                <a:latin typeface="Aptos"/>
              </a:rPr>
              <a:t>ETRELAY: RENTAL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6519672"/>
            <a:ext cx="3840480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58F"/>
                </a:solidFill>
                <a:latin typeface="Aptos"/>
              </a:rPr>
              <a:t>TRAN KHANH BINH • 2231200127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5695</Words>
  <Application>WPS Presentation</Application>
  <PresentationFormat>On-screen Show (4:3)</PresentationFormat>
  <Paragraphs>458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Arial</vt:lpstr>
      <vt:lpstr>Aptos Display</vt:lpstr>
      <vt:lpstr>Segoe UI Variable Display</vt:lpstr>
      <vt:lpstr>Aptos</vt:lpstr>
      <vt:lpstr>Consolas</vt:lpstr>
      <vt:lpstr>Calibri</vt:lpstr>
      <vt:lpstr>Segoe UI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CSW430 Presentation — Etrelay: Rental Operations</dc:title>
  <dc:creator>Tran Khanh Binh</dc:creator>
  <cp:keywords>CSW430, Flutter, mobile application, PostgreSQL, Supabase, equipment transfer</cp:keywords>
  <dc:description>generated using python-pptx</dc:description>
  <dc:subject>Mobile Application Development final project</dc:subject>
  <cp:lastModifiedBy>Trankhanhbinh Tran</cp:lastModifiedBy>
  <cp:revision>2</cp:revision>
  <dcterms:created xsi:type="dcterms:W3CDTF">2013-01-27T09:14:00Z</dcterms:created>
  <dcterms:modified xsi:type="dcterms:W3CDTF">2026-08-19T08:35:24Z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71300E1B0BF7463FA8E1766EF61AA587_12</vt:lpwstr>
  </property>
  <property fmtid="{D5CDD505-2E9C-101B-9397-08002B2CF9AE}" pid="3" name="KSOProductBuildVer">
    <vt:lpwstr>1033-12.2.0.21931</vt:lpwstr>
  </property>
</Properties>
</file>