
<file path=[Content_Types].xml><?xml version="1.0" encoding="utf-8"?>
<ct:Types xmlns:ct="http://schemas.openxmlformats.org/package/2006/content-types">
  <ct:Default Extension="jpeg" ContentType="image/jpeg"/>
  <ct:Default Extension="png" ContentType="image/png"/>
  <ct:Default Extension="rels" ContentType="application/vnd.openxmlformats-package.relationships+xml"/>
  <ct:Default Extension="xml" ContentType="application/xml"/>
  <ct:Override PartName="/docProps/app.xml" ContentType="application/vnd.openxmlformats-officedocument.extended-properties+xml"/>
  <ct:Override PartName="/docProps/core.xml" ContentType="application/vnd.openxmlformats-package.core-properties+xml"/>
  <ct:Override PartName="/docProps/custom.xml" ContentType="application/vnd.openxmlformats-officedocument.custom-properties+xml"/>
  <ct:Override PartName="/ppt/presProps.xml" ContentType="application/vnd.openxmlformats-officedocument.presentationml.presProps+xml"/>
  <ct:Override PartName="/ppt/presentation.xml" ContentType="application/vnd.openxmlformats-officedocument.presentationml.presentation.main+xml"/>
  <ct:Override PartName="/ppt/slideLayouts/slideLayout1.xml" ContentType="application/vnd.openxmlformats-officedocument.presentationml.slideLayout+xml"/>
  <ct:Override PartName="/ppt/slideLayouts/slideLayout10.xml" ContentType="application/vnd.openxmlformats-officedocument.presentationml.slideLayout+xml"/>
  <ct:Override PartName="/ppt/slideLayouts/slideLayout11.xml" ContentType="application/vnd.openxmlformats-officedocument.presentationml.slideLayout+xml"/>
  <ct:Override PartName="/ppt/slideLayouts/slideLayout2.xml" ContentType="application/vnd.openxmlformats-officedocument.presentationml.slideLayout+xml"/>
  <ct:Override PartName="/ppt/slideLayouts/slideLayout3.xml" ContentType="application/vnd.openxmlformats-officedocument.presentationml.slideLayout+xml"/>
  <ct:Override PartName="/ppt/slideLayouts/slideLayout4.xml" ContentType="application/vnd.openxmlformats-officedocument.presentationml.slideLayout+xml"/>
  <ct:Override PartName="/ppt/slideLayouts/slideLayout5.xml" ContentType="application/vnd.openxmlformats-officedocument.presentationml.slideLayout+xml"/>
  <ct:Override PartName="/ppt/slideLayouts/slideLayout6.xml" ContentType="application/vnd.openxmlformats-officedocument.presentationml.slideLayout+xml"/>
  <ct:Override PartName="/ppt/slideLayouts/slideLayout7.xml" ContentType="application/vnd.openxmlformats-officedocument.presentationml.slideLayout+xml"/>
  <ct:Override PartName="/ppt/slideLayouts/slideLayout8.xml" ContentType="application/vnd.openxmlformats-officedocument.presentationml.slideLayout+xml"/>
  <ct:Override PartName="/ppt/slideLayouts/slideLayout9.xml" ContentType="application/vnd.openxmlformats-officedocument.presentationml.slideLayout+xml"/>
  <ct:Override PartName="/ppt/slideMasters/slideMaster1.xml" ContentType="application/vnd.openxmlformats-officedocument.presentationml.slideMaster+xml"/>
  <ct:Override PartName="/ppt/slides/slide1.xml" ContentType="application/vnd.openxmlformats-officedocument.presentationml.slide+xml"/>
  <ct:Override PartName="/ppt/slides/slide10.xml" ContentType="application/vnd.openxmlformats-officedocument.presentationml.slide+xml"/>
  <ct:Override PartName="/ppt/slides/slide11.xml" ContentType="application/vnd.openxmlformats-officedocument.presentationml.slide+xml"/>
  <ct:Override PartName="/ppt/slides/slide12.xml" ContentType="application/vnd.openxmlformats-officedocument.presentationml.slide+xml"/>
  <ct:Override PartName="/ppt/slides/slide13.xml" ContentType="application/vnd.openxmlformats-officedocument.presentationml.slide+xml"/>
  <ct:Override PartName="/ppt/slides/slide14.xml" ContentType="application/vnd.openxmlformats-officedocument.presentationml.slide+xml"/>
  <ct:Override PartName="/ppt/slides/slide2.xml" ContentType="application/vnd.openxmlformats-officedocument.presentationml.slide+xml"/>
  <ct:Override PartName="/ppt/slides/slide3.xml" ContentType="application/vnd.openxmlformats-officedocument.presentationml.slide+xml"/>
  <ct:Override PartName="/ppt/slides/slide4.xml" ContentType="application/vnd.openxmlformats-officedocument.presentationml.slide+xml"/>
  <ct:Override PartName="/ppt/slides/slide5.xml" ContentType="application/vnd.openxmlformats-officedocument.presentationml.slide+xml"/>
  <ct:Override PartName="/ppt/slides/slide6.xml" ContentType="application/vnd.openxmlformats-officedocument.presentationml.slide+xml"/>
  <ct:Override PartName="/ppt/slides/slide7.xml" ContentType="application/vnd.openxmlformats-officedocument.presentationml.slide+xml"/>
  <ct:Override PartName="/ppt/slides/slide8.xml" ContentType="application/vnd.openxmlformats-officedocument.presentationml.slide+xml"/>
  <ct:Override PartName="/ppt/slides/slide9.xml" ContentType="application/vnd.openxmlformats-officedocument.presentationml.slide+xml"/>
  <ct:Override PartName="/ppt/tableStyles.xml" ContentType="application/vnd.openxmlformats-officedocument.presentationml.tableStyles+xml"/>
  <ct:Override PartName="/ppt/theme/theme1.xml" ContentType="application/vnd.openxmlformats-officedocument.theme+xml"/>
  <ct:Override PartName="/ppt/viewProps.xml" ContentType="application/vnd.openxmlformats-officedocument.presentationml.viewProps+xml"/>
  <ct:Override PartName="/ppt/notesMasters/notesMaster1.xml" ContentType="application/vnd.openxmlformats-officedocument.presentationml.notesMaster+xml"/>
  <ct:Override PartName="/ppt/notesSlides/notesSlide1.xml" ContentType="application/vnd.openxmlformats-officedocument.presentationml.notesSlide+xml"/>
  <ct:Override PartName="/ppt/notesSlides/notesSlide2.xml" ContentType="application/vnd.openxmlformats-officedocument.presentationml.notesSlide+xml"/>
  <ct:Override PartName="/ppt/notesSlides/notesSlide3.xml" ContentType="application/vnd.openxmlformats-officedocument.presentationml.notesSlide+xml"/>
  <ct:Override PartName="/ppt/notesSlides/notesSlide4.xml" ContentType="application/vnd.openxmlformats-officedocument.presentationml.notesSlide+xml"/>
  <ct:Override PartName="/ppt/notesSlides/notesSlide5.xml" ContentType="application/vnd.openxmlformats-officedocument.presentationml.notesSlide+xml"/>
  <ct:Override PartName="/ppt/notesSlides/notesSlide6.xml" ContentType="application/vnd.openxmlformats-officedocument.presentationml.notesSlide+xml"/>
  <ct:Override PartName="/ppt/notesSlides/notesSlide7.xml" ContentType="application/vnd.openxmlformats-officedocument.presentationml.notesSlide+xml"/>
  <ct:Override PartName="/ppt/notesSlides/notesSlide8.xml" ContentType="application/vnd.openxmlformats-officedocument.presentationml.notesSlide+xml"/>
  <ct:Override PartName="/ppt/notesSlides/notesSlide9.xml" ContentType="application/vnd.openxmlformats-officedocument.presentationml.notesSlide+xml"/>
  <ct:Override PartName="/ppt/notesSlides/notesSlide10.xml" ContentType="application/vnd.openxmlformats-officedocument.presentationml.notesSlide+xml"/>
  <ct:Override PartName="/ppt/notesSlides/notesSlide11.xml" ContentType="application/vnd.openxmlformats-officedocument.presentationml.notesSlide+xml"/>
  <ct:Override PartName="/ppt/notesSlides/notesSlide12.xml" ContentType="application/vnd.openxmlformats-officedocument.presentationml.notesSlide+xml"/>
  <ct:Override PartName="/ppt/notesSlides/notesSlide13.xml" ContentType="application/vnd.openxmlformats-officedocument.presentationml.notesSlide+xml"/>
  <ct:Override PartName="/ppt/notesSlides/notesSlide14.xml" ContentType="application/vnd.openxmlformats-officedocument.presentationml.notesSlide+xml"/>
</ct: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9"/>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 Id="rId19"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1.xml" /></Relationships>
</file>

<file path=ppt/notesMasters/notesMaster1.xml><?xml version="1.0" encoding="utf-8"?>
<p:notesMaster xmlns:p="http://schemas.openxmlformats.org/presentationml/2006/main">
  <p:cSld name="">
    <p:spTree>
      <p:nvGrpSpPr>
        <p:cNvPr id="1" name=""/>
        <p:cNvGrpSpPr/>
        <p:nvPr/>
      </p:nvGrpSpPr>
      <p:grpSpPr/>
    </p:spTree>
  </p:cSld>
  <p:clrMap accent1="accent1" accent2="accent2" accent3="accent3" accent4="accent4" accent5="accent5" accent6="accent6" bg1="lt1" bg2="lt2" folHlink="folHlink" hlink="hlink" tx1="dk1" tx2="dk2"/>
</p:notesMaster>
</file>

<file path=ppt/notesSlides/_rels/notesSlide1.xml.rels><?xml version='1.0' encoding='utf-8'?>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p:sp>
        <p:nvSpPr>
          <p:cNvPr id="2" name="Notes Placeholder"/>
          <p:cNvSpPr txBox="1"/>
          <p:nvPr>
            <p:ph type="body" idx="1"/>
          </p:nvPr>
        </p:nvSpPr>
        <p:spPr/>
        <p:txBody>
          <a:bodyPr/>
          <a:lstStyle/>
          <a:p>
            <a:r>
              <a:rPr lang="en-US"/>
              <a:t>Good morning. This is my CSW430 Mobile Application Development project, Etrelay: Rental Operations. It is an individual project about tracking AV equipment movement. I will briefly explain the problem, the architecture, the implementation, and the verified results.</a:t>
            </a:r>
            <a:endParaRPr lang="en-US"/>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p:sp>
        <p:nvSpPr>
          <p:cNvPr id="2" name="Notes Placeholder"/>
          <p:cNvSpPr txBox="1"/>
          <p:nvPr>
            <p:ph type="body" idx="1"/>
          </p:nvPr>
        </p:nvSpPr>
        <p:spPr/>
        <p:txBody>
          <a:bodyPr/>
          <a:lstStyle/>
          <a:p>
            <a:r>
              <a:rPr lang="en-US"/>
              <a:t>The main problem is movement accountability. An inventory list alone cannot explain what was planned, what was dispatched, what was returned, and who performed each action. Etrelay connects customers, locations, assets, and transfers into one operational workflow.</a:t>
            </a:r>
            <a:endParaRPr lang="en-US"/>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p:sp>
        <p:nvSpPr>
          <p:cNvPr id="2" name="Notes Placeholder"/>
          <p:cNvSpPr txBox="1"/>
          <p:nvPr>
            <p:ph type="body" idx="1"/>
          </p:nvPr>
        </p:nvSpPr>
        <p:spPr/>
        <p:txBody>
          <a:bodyPr/>
          <a:lstStyle/>
          <a:p>
            <a:r>
              <a:rPr lang="en-US"/>
              <a:t>The project objectives were to build an Android application with more than 20 relevant screens, connect it to a self-developed REST API and a local PostgreSQL database, and support authentication, profiles, CRUD, QR identity, and transfer operations. Production secrets and commercial details are intentionally outside the academic scope.</a:t>
            </a:r>
            <a:endParaRPr lang="en-US"/>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p:sp>
        <p:nvSpPr>
          <p:cNvPr id="2" name="Notes Placeholder"/>
          <p:cNvSpPr txBox="1"/>
          <p:nvPr>
            <p:ph type="body" idx="1"/>
          </p:nvPr>
        </p:nvSpPr>
        <p:spPr/>
        <p:txBody>
          <a:bodyPr/>
          <a:lstStyle/>
          <a:p>
            <a:r>
              <a:rPr lang="en-US"/>
              <a:t>I completed the project individually. The work was organised into analysis, design, implementation, testing, and documentation. This plan allowed the requirements, database, API, Flutter screens, tests, report, and presentation to be completed as one connected deliverable.</a:t>
            </a:r>
            <a:endParaRPr lang="en-US"/>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p:sp>
        <p:nvSpPr>
          <p:cNvPr id="2" name="Notes Placeholder"/>
          <p:cNvSpPr txBox="1"/>
          <p:nvPr>
            <p:ph type="body" idx="1"/>
          </p:nvPr>
        </p:nvSpPr>
        <p:spPr/>
        <p:txBody>
          <a:bodyPr/>
          <a:lstStyle/>
          <a:p>
            <a:r>
              <a:rPr lang="en-US"/>
              <a:t>The transfer lifecycle is the centre of the system. A user prepares a transfer, dispatches the selected equipment, records the return, and reviews the history. Customers, locations, assets, QR scanning, and evidence support this lifecycle.</a:t>
            </a:r>
            <a:endParaRPr lang="en-US"/>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p:sp>
        <p:nvSpPr>
          <p:cNvPr id="2" name="Notes Placeholder"/>
          <p:cNvSpPr txBox="1"/>
          <p:nvPr>
            <p:ph type="body" idx="1"/>
          </p:nvPr>
        </p:nvSpPr>
        <p:spPr/>
        <p:txBody>
          <a:bodyPr/>
          <a:lstStyle/>
          <a:p>
            <a:r>
              <a:rPr lang="en-US"/>
              <a:t>The assessed architecture is Flutter and Dart on the mobile side, Node.js and Express for the custom REST API, and PostgreSQL for persistence. Riverpod supports Flutter state management, Zod validates API input, and local JWT authentication provides the user identity. The main data flow is Flutter, then REST API, then PostgreSQL.</a:t>
            </a:r>
            <a:endParaRPr lang="en-US"/>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p:sp>
        <p:nvSpPr>
          <p:cNvPr id="2" name="Notes Placeholder"/>
          <p:cNvSpPr txBox="1"/>
          <p:nvPr>
            <p:ph type="body" idx="1"/>
          </p:nvPr>
        </p:nvSpPr>
        <p:spPr/>
        <p:txBody>
          <a:bodyPr/>
          <a:lstStyle/>
          <a:p>
            <a:r>
              <a:rPr lang="en-US"/>
              <a:t>The Owner manages company and operational access, while Staff performs permitted operational actions. Customers are business contacts rather than authenticated application users. Although Flutter controls what is visible, authorization is enforced by the backend, so a client cannot bypass ownership or access rules.</a:t>
            </a:r>
            <a:endParaRPr lang="en-US"/>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p:sp>
        <p:nvSpPr>
          <p:cNvPr id="2" name="Notes Placeholder"/>
          <p:cNvSpPr txBox="1"/>
          <p:nvPr>
            <p:ph type="body" idx="1"/>
          </p:nvPr>
        </p:nvSpPr>
        <p:spPr/>
        <p:txBody>
          <a:bodyPr/>
          <a:lstStyle/>
          <a:p>
            <a:r>
              <a:rPr lang="en-US"/>
              <a:t>The backend implements the nine required API capabilities: login, register, get and update profile, list and detail retrieval, create, update, and delete. Each route returns a consistent JSON response envelope. This is the custom API required by the course; it is not replaced by a backend-as-a-service product.</a:t>
            </a:r>
            <a:endParaRPr lang="en-US"/>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p:sp>
        <p:nvSpPr>
          <p:cNvPr id="2" name="Notes Placeholder"/>
          <p:cNvSpPr txBox="1"/>
          <p:nvPr>
            <p:ph type="body" idx="1"/>
          </p:nvPr>
        </p:nvSpPr>
        <p:spPr/>
        <p:txBody>
          <a:bodyPr/>
          <a:lstStyle/>
          <a:p>
            <a:r>
              <a:rPr lang="en-US"/>
              <a:t>The runtime interface covers authentication, transfers, assets, locations, customers, QR functions, and evidence. The screens use consistent navigation and provide loading, empty, success, validation, and error states. These emulator views show the application side of the architecture.</a:t>
            </a:r>
            <a:endParaRPr lang="en-US"/>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p:sp>
        <p:nvSpPr>
          <p:cNvPr id="2" name="Notes Placeholder"/>
          <p:cNvSpPr txBox="1"/>
          <p:nvPr>
            <p:ph type="body" idx="1"/>
          </p:nvPr>
        </p:nvSpPr>
        <p:spPr/>
        <p:txBody>
          <a:bodyPr/>
          <a:lstStyle/>
          <a:p>
            <a:r>
              <a:rPr lang="en-US"/>
              <a:t>The project was verified with Flutter analysis, Flutter tests, backend API tests, and the local runtime setup. The results include 127 Flutter tests, 29 primary screens, nine REST API tests, and all nine required REST endpoints. The local database and emulator workflow were also checked.</a:t>
            </a:r>
            <a:endParaRPr lang="en-US"/>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p:sp>
        <p:nvSpPr>
          <p:cNvPr id="2" name="Notes Placeholder"/>
          <p:cNvSpPr txBox="1"/>
          <p:nvPr>
            <p:ph type="body" idx="1"/>
          </p:nvPr>
        </p:nvSpPr>
        <p:spPr/>
        <p:txBody>
          <a:bodyPr/>
          <a:lstStyle/>
          <a:p>
            <a:r>
              <a:rPr lang="en-US"/>
              <a:t>For the live demonstration, I will sign in through the Node login API, open the profile, load the customer list and detail, create a customer, update or archive it, and finally delete it. This sequence demonstrates the mobile client, API, database persistence, validation, and ownership checks together.</a:t>
            </a:r>
            <a:endParaRPr lang="en-US"/>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p:sp>
        <p:nvSpPr>
          <p:cNvPr id="2" name="Notes Placeholder"/>
          <p:cNvSpPr txBox="1"/>
          <p:nvPr>
            <p:ph type="body" idx="1"/>
          </p:nvPr>
        </p:nvSpPr>
        <p:spPr/>
        <p:txBody>
          <a:bodyPr/>
          <a:lstStyle/>
          <a:p>
            <a:r>
              <a:rPr lang="en-US"/>
              <a:t>The current version is a local academic demonstration and uses demonstration data only. It is not deployed to the Play Store or a cloud server. Future work could add offline synchronisation, notifications, a usability study, and a production deployment process.</a:t>
            </a:r>
            <a:endParaRPr lang="en-US"/>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p:sp>
        <p:nvSpPr>
          <p:cNvPr id="2" name="Notes Placeholder"/>
          <p:cNvSpPr txBox="1"/>
          <p:nvPr>
            <p:ph type="body" idx="1"/>
          </p:nvPr>
        </p:nvSpPr>
        <p:spPr/>
        <p:txBody>
          <a:bodyPr/>
          <a:lstStyle/>
          <a:p>
            <a:r>
              <a:rPr lang="en-US"/>
              <a:t>In conclusion, Etrelay demonstrates a complete course-sized mobile application slice: Flutter UI, custom backend API, PostgreSQL database, authentication, CRUD, QR support, transfer lifecycle, and testing. The implementation is ready for the local demonstration. Thank you, and I am ready for questions.</a:t>
            </a:r>
            <a:endParaRPr lang="en-US"/>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p:sp>
        <p:nvSpPr>
          <p:cNvPr id="2" name="Notes Placeholder"/>
          <p:cNvSpPr txBox="1"/>
          <p:nvPr>
            <p:ph type="body" idx="1"/>
          </p:nvPr>
        </p:nvSpPr>
        <p:spPr/>
        <p:txBody>
          <a:bodyPr/>
          <a:lstStyle/>
          <a:p>
            <a:r>
              <a:rPr lang="en-US"/>
              <a:t>These references support the project decisions around mobile usability, inventory traceability, API security, authentication, and software architecture. The full report contains the complete reference list; this slide shows only selected sources.</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slideLayout" Target="../slideLayouts/slideLayout7.xml" /><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 /><Relationship Id="rId2" Type="http://schemas.openxmlformats.org/officeDocument/2006/relationships/slideLayout" Target="../slideLayouts/slideLayout7.xml" /><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5.png" /><Relationship Id="rId3" Type="http://schemas.openxmlformats.org/officeDocument/2006/relationships/image" Target="../media/image6.png" /><Relationship Id="rId4" Type="http://schemas.openxmlformats.org/officeDocument/2006/relationships/slideLayout" Target="../slideLayouts/slideLayout7.xml" /><Relationship Id="rId5"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 /><Relationship Id="rId2" Type="http://schemas.openxmlformats.org/officeDocument/2006/relationships/image" Target="../media/image7.png" /><Relationship Id="rId3" Type="http://schemas.openxmlformats.org/officeDocument/2006/relationships/slideLayout" Target="../slideLayouts/slideLayout7.xml" /><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731520"/>
            <a:ext cx="3108960" cy="310896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46920" y="5349240"/>
            <a:ext cx="2011680" cy="2011680"/>
          </a:xfrm>
          <a:prstGeom prst="ellipse">
            <a:avLst/>
          </a:prstGeom>
          <a:solidFill>
            <a:srgbClr val="F2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502920"/>
            <a:ext cx="1261872" cy="8412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png"/>
          <p:cNvPicPr>
            <a:picLocks noChangeAspect="1"/>
          </p:cNvPicPr>
          <p:nvPr/>
        </p:nvPicPr>
        <p:blipFill>
          <a:blip r:embed="rId1"/>
          <a:stretch>
            <a:fillRect/>
          </a:stretch>
        </p:blipFill>
        <p:spPr>
          <a:xfrm>
            <a:off x="870404" y="557784"/>
            <a:ext cx="837799" cy="731519"/>
          </a:xfrm>
          <a:prstGeom prst="rect">
            <a:avLst/>
          </a:prstGeom>
        </p:spPr>
      </p:pic>
      <p:sp>
        <p:nvSpPr>
          <p:cNvPr id="7" name="TextBox 6"/>
          <p:cNvSpPr txBox="1"/>
          <p:nvPr/>
        </p:nvSpPr>
        <p:spPr>
          <a:xfrm>
            <a:off x="2121408" y="667512"/>
            <a:ext cx="3383280" cy="256032"/>
          </a:xfrm>
          <a:prstGeom prst="rect">
            <a:avLst/>
          </a:prstGeom>
          <a:noFill/>
        </p:spPr>
        <p:txBody>
          <a:bodyPr wrap="square" lIns="0" tIns="0" rIns="0" bIns="0" anchor="t">
            <a:spAutoFit/>
          </a:bodyPr>
          <a:lstStyle/>
          <a:p>
            <a:pPr algn="l">
              <a:spcBef>
                <a:spcPts val="0"/>
              </a:spcBef>
              <a:spcAft>
                <a:spcPts val="0"/>
              </a:spcAft>
            </a:pPr>
            <a:r>
              <a:rPr sz="1100" b="1" i="0">
                <a:solidFill>
                  <a:srgbClr val="14B8A6"/>
                </a:solidFill>
                <a:latin typeface="Aptos Display"/>
              </a:rPr>
              <a:t>FINAL PROJECT • CSW430</a:t>
            </a:r>
            <a:endParaRPr sz="1100" b="1" i="0">
              <a:solidFill>
                <a:srgbClr val="14B8A6"/>
              </a:solidFill>
              <a:latin typeface="Aptos Display"/>
            </a:endParaRPr>
          </a:p>
        </p:txBody>
      </p:sp>
      <p:sp>
        <p:nvSpPr>
          <p:cNvPr id="8" name="TextBox 7"/>
          <p:cNvSpPr txBox="1"/>
          <p:nvPr/>
        </p:nvSpPr>
        <p:spPr>
          <a:xfrm>
            <a:off x="713232" y="1627632"/>
            <a:ext cx="5120640" cy="658368"/>
          </a:xfrm>
          <a:prstGeom prst="rect">
            <a:avLst/>
          </a:prstGeom>
          <a:noFill/>
        </p:spPr>
        <p:txBody>
          <a:bodyPr wrap="square" lIns="0" tIns="0" rIns="0" bIns="0" anchor="t">
            <a:spAutoFit/>
          </a:bodyPr>
          <a:lstStyle/>
          <a:p>
            <a:pPr algn="l">
              <a:spcBef>
                <a:spcPts val="0"/>
              </a:spcBef>
              <a:spcAft>
                <a:spcPts val="0"/>
              </a:spcAft>
            </a:pPr>
            <a:r>
              <a:rPr sz="4200" b="1" i="0">
                <a:solidFill>
                  <a:srgbClr val="FFFFFF"/>
                </a:solidFill>
                <a:latin typeface="Aptos Display"/>
              </a:rPr>
              <a:t>Etrelay:</a:t>
            </a:r>
            <a:endParaRPr sz="4200" b="1" i="0">
              <a:solidFill>
                <a:srgbClr val="FFFFFF"/>
              </a:solidFill>
              <a:latin typeface="Aptos Display"/>
            </a:endParaRPr>
          </a:p>
        </p:txBody>
      </p:sp>
      <p:sp>
        <p:nvSpPr>
          <p:cNvPr id="9" name="TextBox 8"/>
          <p:cNvSpPr txBox="1"/>
          <p:nvPr/>
        </p:nvSpPr>
        <p:spPr>
          <a:xfrm>
            <a:off x="713232" y="2231136"/>
            <a:ext cx="5669280" cy="694944"/>
          </a:xfrm>
          <a:prstGeom prst="rect">
            <a:avLst/>
          </a:prstGeom>
          <a:noFill/>
        </p:spPr>
        <p:txBody>
          <a:bodyPr wrap="square" lIns="0" tIns="0" rIns="0" bIns="0" anchor="t">
            <a:spAutoFit/>
          </a:bodyPr>
          <a:lstStyle/>
          <a:p>
            <a:pPr algn="l">
              <a:spcBef>
                <a:spcPts val="0"/>
              </a:spcBef>
              <a:spcAft>
                <a:spcPts val="0"/>
              </a:spcAft>
            </a:pPr>
            <a:r>
              <a:rPr sz="4200" b="1" i="0">
                <a:solidFill>
                  <a:srgbClr val="FFFFFF"/>
                </a:solidFill>
                <a:latin typeface="Aptos Display"/>
              </a:rPr>
              <a:t>Rental Operations</a:t>
            </a:r>
            <a:endParaRPr sz="4200" b="1" i="0">
              <a:solidFill>
                <a:srgbClr val="FFFFFF"/>
              </a:solidFill>
              <a:latin typeface="Aptos Display"/>
            </a:endParaRPr>
          </a:p>
        </p:txBody>
      </p:sp>
      <p:sp>
        <p:nvSpPr>
          <p:cNvPr id="10" name="TextBox 9"/>
          <p:cNvSpPr txBox="1"/>
          <p:nvPr/>
        </p:nvSpPr>
        <p:spPr>
          <a:xfrm>
            <a:off x="749808" y="3127248"/>
            <a:ext cx="5303520" cy="694944"/>
          </a:xfrm>
          <a:prstGeom prst="rect">
            <a:avLst/>
          </a:prstGeom>
          <a:noFill/>
        </p:spPr>
        <p:txBody>
          <a:bodyPr wrap="square" lIns="0" tIns="0" rIns="0" bIns="0" anchor="t">
            <a:spAutoFit/>
          </a:bodyPr>
          <a:lstStyle/>
          <a:p>
            <a:pPr algn="l">
              <a:spcBef>
                <a:spcPts val="0"/>
              </a:spcBef>
              <a:spcAft>
                <a:spcPts val="0"/>
              </a:spcAft>
            </a:pPr>
            <a:r>
              <a:rPr sz="1800" b="0" i="0">
                <a:solidFill>
                  <a:srgbClr val="C7D4E0"/>
                </a:solidFill>
                <a:latin typeface="Aptos"/>
              </a:rPr>
              <a:t>A mobile equipment transfer management system for AV rental teams</a:t>
            </a:r>
            <a:endParaRPr sz="1800" b="0" i="0">
              <a:solidFill>
                <a:srgbClr val="C7D4E0"/>
              </a:solidFill>
              <a:latin typeface="Aptos"/>
            </a:endParaRPr>
          </a:p>
        </p:txBody>
      </p:sp>
      <p:sp>
        <p:nvSpPr>
          <p:cNvPr id="11" name="Rounded Rectangle 10"/>
          <p:cNvSpPr/>
          <p:nvPr/>
        </p:nvSpPr>
        <p:spPr>
          <a:xfrm>
            <a:off x="749808" y="4251960"/>
            <a:ext cx="4892040" cy="1097280"/>
          </a:xfrm>
          <a:prstGeom prst="roundRect">
            <a:avLst/>
          </a:prstGeom>
          <a:solidFill>
            <a:srgbClr val="102A43"/>
          </a:solidFill>
          <a:ln w="12700">
            <a:solidFill>
              <a:srgbClr val="2444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4489704"/>
            <a:ext cx="2560320" cy="274320"/>
          </a:xfrm>
          <a:prstGeom prst="rect">
            <a:avLst/>
          </a:prstGeom>
          <a:noFill/>
        </p:spPr>
        <p:txBody>
          <a:bodyPr wrap="square" lIns="0" tIns="0" rIns="0" bIns="0" anchor="t">
            <a:spAutoFit/>
          </a:bodyPr>
          <a:lstStyle/>
          <a:p>
            <a:pPr algn="l">
              <a:spcBef>
                <a:spcPts val="0"/>
              </a:spcBef>
              <a:spcAft>
                <a:spcPts val="0"/>
              </a:spcAft>
            </a:pPr>
            <a:r>
              <a:rPr sz="1400" b="1" i="0">
                <a:solidFill>
                  <a:srgbClr val="FFFFFF"/>
                </a:solidFill>
                <a:latin typeface="Aptos"/>
              </a:rPr>
              <a:t>TRAN KHANH BINH</a:t>
            </a:r>
            <a:endParaRPr sz="1400" b="1" i="0">
              <a:solidFill>
                <a:srgbClr val="FFFFFF"/>
              </a:solidFill>
              <a:latin typeface="Aptos"/>
            </a:endParaRPr>
          </a:p>
        </p:txBody>
      </p:sp>
      <p:sp>
        <p:nvSpPr>
          <p:cNvPr id="13" name="TextBox 12"/>
          <p:cNvSpPr txBox="1"/>
          <p:nvPr/>
        </p:nvSpPr>
        <p:spPr>
          <a:xfrm>
            <a:off x="987552" y="4837176"/>
            <a:ext cx="3566160" cy="228600"/>
          </a:xfrm>
          <a:prstGeom prst="rect">
            <a:avLst/>
          </a:prstGeom>
          <a:noFill/>
        </p:spPr>
        <p:txBody>
          <a:bodyPr wrap="square" lIns="0" tIns="0" rIns="0" bIns="0" anchor="t">
            <a:spAutoFit/>
          </a:bodyPr>
          <a:lstStyle/>
          <a:p>
            <a:pPr algn="l">
              <a:spcBef>
                <a:spcPts val="0"/>
              </a:spcBef>
              <a:spcAft>
                <a:spcPts val="0"/>
              </a:spcAft>
            </a:pPr>
            <a:r>
              <a:rPr sz="1150" b="0" i="0">
                <a:solidFill>
                  <a:srgbClr val="AFC0CF"/>
                </a:solidFill>
                <a:latin typeface="Aptos"/>
              </a:rPr>
              <a:t>2231200127  •  INDIVIDUAL PROJECT</a:t>
            </a:r>
            <a:endParaRPr sz="1150" b="0" i="0">
              <a:solidFill>
                <a:srgbClr val="AFC0CF"/>
              </a:solidFill>
              <a:latin typeface="Aptos"/>
            </a:endParaRPr>
          </a:p>
        </p:txBody>
      </p:sp>
      <p:sp>
        <p:nvSpPr>
          <p:cNvPr id="14" name="TextBox 13"/>
          <p:cNvSpPr txBox="1"/>
          <p:nvPr/>
        </p:nvSpPr>
        <p:spPr>
          <a:xfrm>
            <a:off x="3970020" y="4244340"/>
            <a:ext cx="1538605" cy="1090930"/>
          </a:xfrm>
          <a:prstGeom prst="rect">
            <a:avLst/>
          </a:prstGeom>
          <a:noFill/>
        </p:spPr>
        <p:txBody>
          <a:bodyPr wrap="square" lIns="0" tIns="0" rIns="0" bIns="0" anchor="t">
            <a:noAutofit/>
          </a:bodyPr>
          <a:lstStyle/>
          <a:p>
            <a:pPr algn="r">
              <a:spcBef>
                <a:spcPts val="0"/>
              </a:spcBef>
              <a:spcAft>
                <a:spcPts val="0"/>
              </a:spcAft>
            </a:pPr>
            <a:r>
              <a:rPr sz="1150" b="0" i="0">
                <a:solidFill>
                  <a:srgbClr val="D4E0E9"/>
                </a:solidFill>
                <a:latin typeface="Aptos"/>
              </a:rPr>
              <a:t>Lecturers</a:t>
            </a:r>
            <a:endParaRPr sz="1150" b="0" i="0">
              <a:solidFill>
                <a:srgbClr val="D4E0E9"/>
              </a:solidFill>
              <a:latin typeface="Aptos"/>
            </a:endParaRPr>
          </a:p>
          <a:p>
            <a:pPr algn="r">
              <a:spcBef>
                <a:spcPts val="0"/>
              </a:spcBef>
              <a:spcAft>
                <a:spcPts val="0"/>
              </a:spcAft>
            </a:pPr>
            <a:r>
              <a:rPr sz="1150" b="0" i="0">
                <a:solidFill>
                  <a:srgbClr val="D4E0E9"/>
                </a:solidFill>
                <a:latin typeface="Aptos"/>
              </a:rPr>
              <a:t>Tran Van Tai </a:t>
            </a:r>
            <a:endParaRPr sz="1150" b="0" i="0">
              <a:solidFill>
                <a:srgbClr val="D4E0E9"/>
              </a:solidFill>
              <a:latin typeface="Aptos"/>
            </a:endParaRPr>
          </a:p>
          <a:p>
            <a:pPr algn="r">
              <a:spcBef>
                <a:spcPts val="0"/>
              </a:spcBef>
              <a:spcAft>
                <a:spcPts val="0"/>
              </a:spcAft>
            </a:pPr>
            <a:r>
              <a:rPr sz="1150" b="0" i="0">
                <a:solidFill>
                  <a:srgbClr val="D4E0E9"/>
                </a:solidFill>
                <a:latin typeface="Aptos"/>
              </a:rPr>
              <a:t>Nguyen Hoang Ly</a:t>
            </a:r>
            <a:endParaRPr sz="1150" b="0" i="0">
              <a:solidFill>
                <a:srgbClr val="D4E0E9"/>
              </a:solidFill>
              <a:latin typeface="Aptos"/>
            </a:endParaRPr>
          </a:p>
        </p:txBody>
      </p:sp>
      <p:sp>
        <p:nvSpPr>
          <p:cNvPr id="15" name="Rounded Rectangle 14"/>
          <p:cNvSpPr/>
          <p:nvPr/>
        </p:nvSpPr>
        <p:spPr>
          <a:xfrm>
            <a:off x="6473952" y="1143000"/>
            <a:ext cx="4983480" cy="4498848"/>
          </a:xfrm>
          <a:prstGeom prst="roundRect">
            <a:avLst/>
          </a:prstGeom>
          <a:solidFill>
            <a:srgbClr val="FFFCF6"/>
          </a:solidFill>
          <a:ln w="1016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08_transfer_list_cropped.png"/>
          <p:cNvPicPr>
            <a:picLocks noChangeAspect="1"/>
          </p:cNvPicPr>
          <p:nvPr/>
        </p:nvPicPr>
        <p:blipFill>
          <a:blip r:embed="rId2"/>
          <a:stretch>
            <a:fillRect/>
          </a:stretch>
        </p:blipFill>
        <p:spPr>
          <a:xfrm>
            <a:off x="6583680" y="1660502"/>
            <a:ext cx="4764024" cy="3463842"/>
          </a:xfrm>
          <a:prstGeom prst="rect">
            <a:avLst/>
          </a:prstGeom>
        </p:spPr>
      </p:pic>
      <p:sp>
        <p:nvSpPr>
          <p:cNvPr id="17" name="Rounded Rectangle 16"/>
          <p:cNvSpPr/>
          <p:nvPr/>
        </p:nvSpPr>
        <p:spPr>
          <a:xfrm>
            <a:off x="6812280" y="5833872"/>
            <a:ext cx="2423160" cy="310896"/>
          </a:xfrm>
          <a:prstGeom prst="roundRect">
            <a:avLst/>
          </a:prstGeom>
          <a:solidFill>
            <a:srgbClr val="DF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3720" y="5833872"/>
            <a:ext cx="2240279" cy="310896"/>
          </a:xfrm>
          <a:prstGeom prst="rect">
            <a:avLst/>
          </a:prstGeom>
          <a:noFill/>
        </p:spPr>
        <p:txBody>
          <a:bodyPr wrap="square" lIns="0" tIns="0" rIns="0" bIns="0" anchor="ctr">
            <a:spAutoFit/>
          </a:bodyPr>
          <a:lstStyle/>
          <a:p>
            <a:pPr algn="ctr">
              <a:spcBef>
                <a:spcPts val="0"/>
              </a:spcBef>
              <a:spcAft>
                <a:spcPts val="0"/>
              </a:spcAft>
            </a:pPr>
            <a:r>
              <a:rPr sz="1100" b="1" i="0">
                <a:solidFill>
                  <a:srgbClr val="0B1F33"/>
                </a:solidFill>
                <a:latin typeface="Aptos"/>
              </a:rPr>
              <a:t>12 JUL — 12 AUG 2026</a:t>
            </a:r>
            <a:endParaRPr sz="1100" b="1" i="0">
              <a:solidFill>
                <a:srgbClr val="0B1F33"/>
              </a:solidFill>
              <a:latin typeface="Aptos"/>
            </a:endParaRPr>
          </a:p>
        </p:txBody>
      </p:sp>
      <p:sp>
        <p:nvSpPr>
          <p:cNvPr id="19" name="TextBox 18"/>
          <p:cNvSpPr txBox="1"/>
          <p:nvPr/>
        </p:nvSpPr>
        <p:spPr>
          <a:xfrm>
            <a:off x="9445752" y="5797296"/>
            <a:ext cx="2029968" cy="438912"/>
          </a:xfrm>
          <a:prstGeom prst="rect">
            <a:avLst/>
          </a:prstGeom>
          <a:noFill/>
        </p:spPr>
        <p:txBody>
          <a:bodyPr wrap="square" lIns="0" tIns="0" rIns="0" bIns="0" anchor="t">
            <a:spAutoFit/>
          </a:bodyPr>
          <a:lstStyle/>
          <a:p>
            <a:pPr algn="r">
              <a:spcBef>
                <a:spcPts val="0"/>
              </a:spcBef>
              <a:spcAft>
                <a:spcPts val="0"/>
              </a:spcAft>
            </a:pPr>
            <a:r>
              <a:rPr sz="1150" b="1" i="0">
                <a:solidFill>
                  <a:srgbClr val="FFFFFF"/>
                </a:solidFill>
                <a:latin typeface="Aptos"/>
              </a:rPr>
              <a:t>Mobile Application Development</a:t>
            </a:r>
            <a:endParaRPr sz="1150" b="1" i="0">
              <a:solidFill>
                <a:srgbClr val="FFFFFF"/>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7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7680960" cy="237744"/>
          </a:xfrm>
          <a:prstGeom prst="rect">
            <a:avLst/>
          </a:prstGeom>
          <a:noFill/>
        </p:spPr>
        <p:txBody>
          <a:bodyPr wrap="square" lIns="0" tIns="0" rIns="0" bIns="0" anchor="t">
            <a:spAutoFit/>
          </a:bodyPr>
          <a:lstStyle/>
          <a:p>
            <a:pPr algn="l">
              <a:spcBef>
                <a:spcPts val="0"/>
              </a:spcBef>
              <a:spcAft>
                <a:spcPts val="0"/>
              </a:spcAft>
            </a:pPr>
            <a:r>
              <a:rPr sz="1000" b="1" i="0">
                <a:solidFill>
                  <a:srgbClr val="1E5EFF"/>
                </a:solidFill>
                <a:latin typeface="Aptos Display"/>
              </a:rPr>
              <a:t>CSW430 • MOBILE APPLICATION DEVELOPMENT</a:t>
            </a:r>
            <a:endParaRPr sz="1000" b="1" i="0">
              <a:solidFill>
                <a:srgbClr val="1E5EFF"/>
              </a:solidFill>
              <a:latin typeface="Aptos Display"/>
            </a:endParaRPr>
          </a:p>
        </p:txBody>
      </p:sp>
      <p:sp>
        <p:nvSpPr>
          <p:cNvPr id="4" name="TextBox 3"/>
          <p:cNvSpPr txBox="1"/>
          <p:nvPr/>
        </p:nvSpPr>
        <p:spPr>
          <a:xfrm>
            <a:off x="658368" y="658368"/>
            <a:ext cx="9875520" cy="585216"/>
          </a:xfrm>
          <a:prstGeom prst="rect">
            <a:avLst/>
          </a:prstGeom>
          <a:noFill/>
        </p:spPr>
        <p:txBody>
          <a:bodyPr wrap="square" lIns="0" tIns="0" rIns="0" bIns="0" anchor="t">
            <a:spAutoFit/>
          </a:bodyPr>
          <a:lstStyle/>
          <a:p>
            <a:pPr algn="l">
              <a:spcBef>
                <a:spcPts val="0"/>
              </a:spcBef>
              <a:spcAft>
                <a:spcPts val="0"/>
              </a:spcAft>
            </a:pPr>
            <a:r>
              <a:rPr sz="2900" b="1" i="0">
                <a:solidFill>
                  <a:srgbClr val="0B1F33"/>
                </a:solidFill>
                <a:latin typeface="Aptos Display"/>
              </a:rPr>
              <a:t>Why this project?</a:t>
            </a:r>
            <a:endParaRPr sz="2900" b="1" i="0">
              <a:solidFill>
                <a:srgbClr val="0B1F33"/>
              </a:solidFill>
              <a:latin typeface="Aptos Display"/>
            </a:endParaRPr>
          </a:p>
        </p:txBody>
      </p:sp>
      <p:sp>
        <p:nvSpPr>
          <p:cNvPr id="5" name="TextBox 4"/>
          <p:cNvSpPr txBox="1"/>
          <p:nvPr/>
        </p:nvSpPr>
        <p:spPr>
          <a:xfrm>
            <a:off x="676656" y="1252728"/>
            <a:ext cx="9966960" cy="347472"/>
          </a:xfrm>
          <a:prstGeom prst="rect">
            <a:avLst/>
          </a:prstGeom>
          <a:noFill/>
        </p:spPr>
        <p:txBody>
          <a:bodyPr wrap="square" lIns="0" tIns="0" rIns="0" bIns="0" anchor="t">
            <a:spAutoFit/>
          </a:bodyPr>
          <a:lstStyle/>
          <a:p>
            <a:pPr algn="l">
              <a:spcBef>
                <a:spcPts val="0"/>
              </a:spcBef>
              <a:spcAft>
                <a:spcPts val="0"/>
              </a:spcAft>
            </a:pPr>
            <a:r>
              <a:rPr sz="1300" b="0" i="0">
                <a:solidFill>
                  <a:srgbClr val="5F6B76"/>
                </a:solidFill>
                <a:latin typeface="Aptos"/>
              </a:rPr>
              <a:t>The operational gap is not inventory alone — it is movement accountability.</a:t>
            </a:r>
            <a:endParaRPr sz="1300" b="0" i="0">
              <a:solidFill>
                <a:srgbClr val="5F6B76"/>
              </a:solidFill>
              <a:latin typeface="Aptos"/>
            </a:endParaRPr>
          </a:p>
        </p:txBody>
      </p:sp>
      <p:sp>
        <p:nvSpPr>
          <p:cNvPr id="6" name="Rounded Rectangle 5"/>
          <p:cNvSpPr/>
          <p:nvPr/>
        </p:nvSpPr>
        <p:spPr>
          <a:xfrm>
            <a:off x="11064240" y="320040"/>
            <a:ext cx="502920" cy="384048"/>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20040"/>
            <a:ext cx="502920" cy="384048"/>
          </a:xfrm>
          <a:prstGeom prst="rect">
            <a:avLst/>
          </a:prstGeom>
          <a:noFill/>
        </p:spPr>
        <p:txBody>
          <a:bodyPr wrap="square" lIns="0" tIns="0" rIns="0" bIns="0" anchor="ctr">
            <a:spAutoFit/>
          </a:bodyPr>
          <a:lstStyle/>
          <a:p>
            <a:pPr algn="ctr">
              <a:spcBef>
                <a:spcPts val="0"/>
              </a:spcBef>
              <a:spcAft>
                <a:spcPts val="0"/>
              </a:spcAft>
            </a:pPr>
            <a:r>
              <a:rPr sz="1200" b="1" i="0">
                <a:solidFill>
                  <a:srgbClr val="FFFFFF"/>
                </a:solidFill>
                <a:latin typeface="Aptos"/>
              </a:rPr>
              <a:t>02</a:t>
            </a:r>
            <a:endParaRPr sz="1200" b="1" i="0">
              <a:solidFill>
                <a:srgbClr val="FFFFFF"/>
              </a:solidFill>
              <a:latin typeface="Aptos"/>
            </a:endParaRPr>
          </a:p>
        </p:txBody>
      </p:sp>
      <p:sp>
        <p:nvSpPr>
          <p:cNvPr id="8" name="TextBox 7"/>
          <p:cNvSpPr txBox="1"/>
          <p:nvPr/>
        </p:nvSpPr>
        <p:spPr>
          <a:xfrm>
            <a:off x="713232" y="1737360"/>
            <a:ext cx="4572000" cy="1051560"/>
          </a:xfrm>
          <a:prstGeom prst="rect">
            <a:avLst/>
          </a:prstGeom>
          <a:noFill/>
        </p:spPr>
        <p:txBody>
          <a:bodyPr wrap="square" lIns="0" tIns="0" rIns="0" bIns="0" anchor="t">
            <a:spAutoFit/>
          </a:bodyPr>
          <a:lstStyle/>
          <a:p>
            <a:pPr algn="l">
              <a:spcBef>
                <a:spcPts val="0"/>
              </a:spcBef>
              <a:spcAft>
                <a:spcPts val="0"/>
              </a:spcAft>
            </a:pPr>
            <a:r>
              <a:rPr sz="3100" b="1" i="0">
                <a:solidFill>
                  <a:srgbClr val="0B1F33"/>
                </a:solidFill>
                <a:latin typeface="Aptos Display"/>
              </a:rPr>
              <a:t>A transfer is more than a row in a spreadsheet.</a:t>
            </a:r>
            <a:endParaRPr sz="3100" b="1" i="0">
              <a:solidFill>
                <a:srgbClr val="0B1F33"/>
              </a:solidFill>
              <a:latin typeface="Aptos Display"/>
            </a:endParaRPr>
          </a:p>
        </p:txBody>
      </p:sp>
      <p:sp>
        <p:nvSpPr>
          <p:cNvPr id="9" name="TextBox 8"/>
          <p:cNvSpPr txBox="1"/>
          <p:nvPr/>
        </p:nvSpPr>
        <p:spPr>
          <a:xfrm>
            <a:off x="731520" y="2944368"/>
            <a:ext cx="4434840" cy="1188720"/>
          </a:xfrm>
          <a:prstGeom prst="rect">
            <a:avLst/>
          </a:prstGeom>
          <a:noFill/>
        </p:spPr>
        <p:txBody>
          <a:bodyPr wrap="square" lIns="0" tIns="0" rIns="0" bIns="0" anchor="t">
            <a:spAutoFit/>
          </a:bodyPr>
          <a:lstStyle/>
          <a:p>
            <a:pPr algn="l">
              <a:spcBef>
                <a:spcPts val="0"/>
              </a:spcBef>
              <a:spcAft>
                <a:spcPts val="0"/>
              </a:spcAft>
            </a:pPr>
            <a:r>
              <a:rPr sz="1800" b="0" i="0">
                <a:solidFill>
                  <a:srgbClr val="5F6B76"/>
                </a:solidFill>
                <a:latin typeface="Aptos"/>
              </a:rPr>
              <a:t>AV teams need one record that explains what should move, what actually moved, what returned, and who performed the action.</a:t>
            </a:r>
            <a:endParaRPr sz="1800" b="0" i="0">
              <a:solidFill>
                <a:srgbClr val="5F6B76"/>
              </a:solidFill>
              <a:latin typeface="Aptos"/>
            </a:endParaRPr>
          </a:p>
        </p:txBody>
      </p:sp>
      <p:sp>
        <p:nvSpPr>
          <p:cNvPr id="10" name="Rounded Rectangle 9"/>
          <p:cNvSpPr/>
          <p:nvPr/>
        </p:nvSpPr>
        <p:spPr>
          <a:xfrm>
            <a:off x="731520" y="4690872"/>
            <a:ext cx="1536192" cy="310896"/>
          </a:xfrm>
          <a:prstGeom prst="roundRect">
            <a:avLst/>
          </a:prstGeom>
          <a:solidFill>
            <a:srgbClr val="E8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690872"/>
            <a:ext cx="1353312" cy="310896"/>
          </a:xfrm>
          <a:prstGeom prst="rect">
            <a:avLst/>
          </a:prstGeom>
          <a:noFill/>
        </p:spPr>
        <p:txBody>
          <a:bodyPr wrap="square" lIns="0" tIns="0" rIns="0" bIns="0" anchor="ctr">
            <a:spAutoFit/>
          </a:bodyPr>
          <a:lstStyle/>
          <a:p>
            <a:pPr algn="ctr">
              <a:spcBef>
                <a:spcPts val="0"/>
              </a:spcBef>
              <a:spcAft>
                <a:spcPts val="0"/>
              </a:spcAft>
            </a:pPr>
            <a:r>
              <a:rPr sz="1100" b="1" i="0">
                <a:solidFill>
                  <a:srgbClr val="1E5EFF"/>
                </a:solidFill>
                <a:latin typeface="Aptos"/>
              </a:rPr>
              <a:t>PROJECT RESPONSE</a:t>
            </a:r>
            <a:endParaRPr sz="1100" b="1" i="0">
              <a:solidFill>
                <a:srgbClr val="1E5EFF"/>
              </a:solidFill>
              <a:latin typeface="Aptos"/>
            </a:endParaRPr>
          </a:p>
        </p:txBody>
      </p:sp>
      <p:sp>
        <p:nvSpPr>
          <p:cNvPr id="12" name="TextBox 11"/>
          <p:cNvSpPr txBox="1"/>
          <p:nvPr/>
        </p:nvSpPr>
        <p:spPr>
          <a:xfrm>
            <a:off x="749808" y="5074920"/>
            <a:ext cx="4480560" cy="594360"/>
          </a:xfrm>
          <a:prstGeom prst="rect">
            <a:avLst/>
          </a:prstGeom>
          <a:noFill/>
        </p:spPr>
        <p:txBody>
          <a:bodyPr wrap="square" lIns="0" tIns="0" rIns="0" bIns="0" anchor="t">
            <a:spAutoFit/>
          </a:bodyPr>
          <a:lstStyle/>
          <a:p>
            <a:pPr algn="l">
              <a:spcBef>
                <a:spcPts val="0"/>
              </a:spcBef>
              <a:spcAft>
                <a:spcPts val="0"/>
              </a:spcAft>
            </a:pPr>
            <a:r>
              <a:rPr sz="1800" b="1" i="0">
                <a:solidFill>
                  <a:srgbClr val="0B1F33"/>
                </a:solidFill>
                <a:latin typeface="Aptos"/>
              </a:rPr>
              <a:t>Customers + Locations + Assets + Transfers</a:t>
            </a:r>
            <a:endParaRPr sz="1800" b="1" i="0">
              <a:solidFill>
                <a:srgbClr val="0B1F33"/>
              </a:solidFill>
              <a:latin typeface="Aptos"/>
            </a:endParaRPr>
          </a:p>
        </p:txBody>
      </p:sp>
      <p:sp>
        <p:nvSpPr>
          <p:cNvPr id="13" name="Rounded Rectangle 12"/>
          <p:cNvSpPr/>
          <p:nvPr/>
        </p:nvSpPr>
        <p:spPr>
          <a:xfrm>
            <a:off x="6080760" y="1783080"/>
            <a:ext cx="5394960" cy="1143000"/>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27648" y="2011680"/>
            <a:ext cx="640080" cy="640080"/>
          </a:xfrm>
          <a:prstGeom prst="ellipse">
            <a:avLst/>
          </a:prstGeom>
          <a:solidFill>
            <a:srgbClr val="1E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7648" y="2011680"/>
            <a:ext cx="640080" cy="640080"/>
          </a:xfrm>
          <a:prstGeom prst="rect">
            <a:avLst/>
          </a:prstGeom>
          <a:noFill/>
        </p:spPr>
        <p:txBody>
          <a:bodyPr wrap="square" lIns="0" tIns="0" rIns="0" bIns="0" anchor="ctr">
            <a:spAutoFit/>
          </a:bodyPr>
          <a:lstStyle/>
          <a:p>
            <a:pPr algn="ctr">
              <a:spcBef>
                <a:spcPts val="0"/>
              </a:spcBef>
              <a:spcAft>
                <a:spcPts val="0"/>
              </a:spcAft>
            </a:pPr>
            <a:r>
              <a:rPr sz="1500" b="1" i="0">
                <a:solidFill>
                  <a:srgbClr val="FFFFFF"/>
                </a:solidFill>
                <a:latin typeface="Aptos"/>
              </a:rPr>
              <a:t>01</a:t>
            </a:r>
            <a:endParaRPr sz="1500" b="1" i="0">
              <a:solidFill>
                <a:srgbClr val="FFFFFF"/>
              </a:solidFill>
              <a:latin typeface="Aptos"/>
            </a:endParaRPr>
          </a:p>
        </p:txBody>
      </p:sp>
      <p:sp>
        <p:nvSpPr>
          <p:cNvPr id="16" name="TextBox 15"/>
          <p:cNvSpPr txBox="1"/>
          <p:nvPr/>
        </p:nvSpPr>
        <p:spPr>
          <a:xfrm>
            <a:off x="7223760" y="1993392"/>
            <a:ext cx="1554480" cy="274320"/>
          </a:xfrm>
          <a:prstGeom prst="rect">
            <a:avLst/>
          </a:prstGeom>
          <a:noFill/>
        </p:spPr>
        <p:txBody>
          <a:bodyPr wrap="square" lIns="0" tIns="0" rIns="0" bIns="0" anchor="t">
            <a:spAutoFit/>
          </a:bodyPr>
          <a:lstStyle/>
          <a:p>
            <a:pPr algn="l">
              <a:spcBef>
                <a:spcPts val="0"/>
              </a:spcBef>
              <a:spcAft>
                <a:spcPts val="0"/>
              </a:spcAft>
            </a:pPr>
            <a:r>
              <a:rPr sz="1400" b="1" i="0">
                <a:solidFill>
                  <a:srgbClr val="1E5EFF"/>
                </a:solidFill>
                <a:latin typeface="Aptos"/>
              </a:rPr>
              <a:t>PLANNED</a:t>
            </a:r>
            <a:endParaRPr sz="1400" b="1" i="0">
              <a:solidFill>
                <a:srgbClr val="1E5EFF"/>
              </a:solidFill>
              <a:latin typeface="Aptos"/>
            </a:endParaRPr>
          </a:p>
        </p:txBody>
      </p:sp>
      <p:sp>
        <p:nvSpPr>
          <p:cNvPr id="17" name="TextBox 16"/>
          <p:cNvSpPr txBox="1"/>
          <p:nvPr/>
        </p:nvSpPr>
        <p:spPr>
          <a:xfrm>
            <a:off x="7223760" y="2350008"/>
            <a:ext cx="3749039" cy="292608"/>
          </a:xfrm>
          <a:prstGeom prst="rect">
            <a:avLst/>
          </a:prstGeom>
          <a:noFill/>
        </p:spPr>
        <p:txBody>
          <a:bodyPr wrap="square" lIns="0" tIns="0" rIns="0" bIns="0" anchor="t">
            <a:spAutoFit/>
          </a:bodyPr>
          <a:lstStyle/>
          <a:p>
            <a:pPr algn="l">
              <a:spcBef>
                <a:spcPts val="0"/>
              </a:spcBef>
              <a:spcAft>
                <a:spcPts val="0"/>
              </a:spcAft>
            </a:pPr>
            <a:r>
              <a:rPr sz="1600" b="0" i="0">
                <a:solidFill>
                  <a:srgbClr val="0B1F33"/>
                </a:solidFill>
                <a:latin typeface="Aptos"/>
              </a:rPr>
              <a:t>Expected assets and quantities</a:t>
            </a:r>
            <a:endParaRPr sz="1600" b="0" i="0">
              <a:solidFill>
                <a:srgbClr val="0B1F33"/>
              </a:solidFill>
              <a:latin typeface="Aptos"/>
            </a:endParaRPr>
          </a:p>
        </p:txBody>
      </p:sp>
      <p:sp>
        <p:nvSpPr>
          <p:cNvPr id="18" name="Rounded Rectangle 17"/>
          <p:cNvSpPr/>
          <p:nvPr/>
        </p:nvSpPr>
        <p:spPr>
          <a:xfrm>
            <a:off x="6080760" y="3200400"/>
            <a:ext cx="5394960" cy="1143000"/>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27648" y="3429000"/>
            <a:ext cx="640080" cy="64008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7648" y="3429000"/>
            <a:ext cx="640080" cy="640080"/>
          </a:xfrm>
          <a:prstGeom prst="rect">
            <a:avLst/>
          </a:prstGeom>
          <a:noFill/>
        </p:spPr>
        <p:txBody>
          <a:bodyPr wrap="square" lIns="0" tIns="0" rIns="0" bIns="0" anchor="ctr">
            <a:spAutoFit/>
          </a:bodyPr>
          <a:lstStyle/>
          <a:p>
            <a:pPr algn="ctr">
              <a:spcBef>
                <a:spcPts val="0"/>
              </a:spcBef>
              <a:spcAft>
                <a:spcPts val="0"/>
              </a:spcAft>
            </a:pPr>
            <a:r>
              <a:rPr sz="1500" b="1" i="0">
                <a:solidFill>
                  <a:srgbClr val="FFFFFF"/>
                </a:solidFill>
                <a:latin typeface="Aptos"/>
              </a:rPr>
              <a:t>02</a:t>
            </a:r>
            <a:endParaRPr sz="1500" b="1" i="0">
              <a:solidFill>
                <a:srgbClr val="FFFFFF"/>
              </a:solidFill>
              <a:latin typeface="Aptos"/>
            </a:endParaRPr>
          </a:p>
        </p:txBody>
      </p:sp>
      <p:sp>
        <p:nvSpPr>
          <p:cNvPr id="21" name="TextBox 20"/>
          <p:cNvSpPr txBox="1"/>
          <p:nvPr/>
        </p:nvSpPr>
        <p:spPr>
          <a:xfrm>
            <a:off x="7223760" y="3410712"/>
            <a:ext cx="1554480" cy="274320"/>
          </a:xfrm>
          <a:prstGeom prst="rect">
            <a:avLst/>
          </a:prstGeom>
          <a:noFill/>
        </p:spPr>
        <p:txBody>
          <a:bodyPr wrap="square" lIns="0" tIns="0" rIns="0" bIns="0" anchor="t">
            <a:spAutoFit/>
          </a:bodyPr>
          <a:lstStyle/>
          <a:p>
            <a:pPr algn="l">
              <a:spcBef>
                <a:spcPts val="0"/>
              </a:spcBef>
              <a:spcAft>
                <a:spcPts val="0"/>
              </a:spcAft>
            </a:pPr>
            <a:r>
              <a:rPr sz="1400" b="1" i="0">
                <a:solidFill>
                  <a:srgbClr val="14B8A6"/>
                </a:solidFill>
                <a:latin typeface="Aptos"/>
              </a:rPr>
              <a:t>MOVED</a:t>
            </a:r>
            <a:endParaRPr sz="1400" b="1" i="0">
              <a:solidFill>
                <a:srgbClr val="14B8A6"/>
              </a:solidFill>
              <a:latin typeface="Aptos"/>
            </a:endParaRPr>
          </a:p>
        </p:txBody>
      </p:sp>
      <p:sp>
        <p:nvSpPr>
          <p:cNvPr id="22" name="TextBox 21"/>
          <p:cNvSpPr txBox="1"/>
          <p:nvPr/>
        </p:nvSpPr>
        <p:spPr>
          <a:xfrm>
            <a:off x="7223760" y="3767328"/>
            <a:ext cx="3749039" cy="292608"/>
          </a:xfrm>
          <a:prstGeom prst="rect">
            <a:avLst/>
          </a:prstGeom>
          <a:noFill/>
        </p:spPr>
        <p:txBody>
          <a:bodyPr wrap="square" lIns="0" tIns="0" rIns="0" bIns="0" anchor="t">
            <a:spAutoFit/>
          </a:bodyPr>
          <a:lstStyle/>
          <a:p>
            <a:pPr algn="l">
              <a:spcBef>
                <a:spcPts val="0"/>
              </a:spcBef>
              <a:spcAft>
                <a:spcPts val="0"/>
              </a:spcAft>
            </a:pPr>
            <a:r>
              <a:rPr sz="1600" b="0" i="0">
                <a:solidFill>
                  <a:srgbClr val="0B1F33"/>
                </a:solidFill>
                <a:latin typeface="Aptos"/>
              </a:rPr>
              <a:t>Dispatch and partial movement</a:t>
            </a:r>
            <a:endParaRPr sz="1600" b="0" i="0">
              <a:solidFill>
                <a:srgbClr val="0B1F33"/>
              </a:solidFill>
              <a:latin typeface="Aptos"/>
            </a:endParaRPr>
          </a:p>
        </p:txBody>
      </p:sp>
      <p:sp>
        <p:nvSpPr>
          <p:cNvPr id="23" name="Rounded Rectangle 22"/>
          <p:cNvSpPr/>
          <p:nvPr/>
        </p:nvSpPr>
        <p:spPr>
          <a:xfrm>
            <a:off x="6080760" y="4617720"/>
            <a:ext cx="5394960" cy="1143000"/>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27648" y="4846320"/>
            <a:ext cx="640080" cy="640080"/>
          </a:xfrm>
          <a:prstGeom prst="ellipse">
            <a:avLst/>
          </a:prstGeom>
          <a:solidFill>
            <a:srgbClr val="EF6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27648" y="4846320"/>
            <a:ext cx="640080" cy="640080"/>
          </a:xfrm>
          <a:prstGeom prst="rect">
            <a:avLst/>
          </a:prstGeom>
          <a:noFill/>
        </p:spPr>
        <p:txBody>
          <a:bodyPr wrap="square" lIns="0" tIns="0" rIns="0" bIns="0" anchor="ctr">
            <a:spAutoFit/>
          </a:bodyPr>
          <a:lstStyle/>
          <a:p>
            <a:pPr algn="ctr">
              <a:spcBef>
                <a:spcPts val="0"/>
              </a:spcBef>
              <a:spcAft>
                <a:spcPts val="0"/>
              </a:spcAft>
            </a:pPr>
            <a:r>
              <a:rPr sz="1500" b="1" i="0">
                <a:solidFill>
                  <a:srgbClr val="FFFFFF"/>
                </a:solidFill>
                <a:latin typeface="Aptos"/>
              </a:rPr>
              <a:t>03</a:t>
            </a:r>
            <a:endParaRPr sz="1500" b="1" i="0">
              <a:solidFill>
                <a:srgbClr val="FFFFFF"/>
              </a:solidFill>
              <a:latin typeface="Aptos"/>
            </a:endParaRPr>
          </a:p>
        </p:txBody>
      </p:sp>
      <p:sp>
        <p:nvSpPr>
          <p:cNvPr id="26" name="TextBox 25"/>
          <p:cNvSpPr txBox="1"/>
          <p:nvPr/>
        </p:nvSpPr>
        <p:spPr>
          <a:xfrm>
            <a:off x="7223760" y="4828032"/>
            <a:ext cx="1554480" cy="274320"/>
          </a:xfrm>
          <a:prstGeom prst="rect">
            <a:avLst/>
          </a:prstGeom>
          <a:noFill/>
        </p:spPr>
        <p:txBody>
          <a:bodyPr wrap="square" lIns="0" tIns="0" rIns="0" bIns="0" anchor="t">
            <a:spAutoFit/>
          </a:bodyPr>
          <a:lstStyle/>
          <a:p>
            <a:pPr algn="l">
              <a:spcBef>
                <a:spcPts val="0"/>
              </a:spcBef>
              <a:spcAft>
                <a:spcPts val="0"/>
              </a:spcAft>
            </a:pPr>
            <a:r>
              <a:rPr sz="1400" b="1" i="0">
                <a:solidFill>
                  <a:srgbClr val="EF6A5B"/>
                </a:solidFill>
                <a:latin typeface="Aptos"/>
              </a:rPr>
              <a:t>RETURNED</a:t>
            </a:r>
            <a:endParaRPr sz="1400" b="1" i="0">
              <a:solidFill>
                <a:srgbClr val="EF6A5B"/>
              </a:solidFill>
              <a:latin typeface="Aptos"/>
            </a:endParaRPr>
          </a:p>
        </p:txBody>
      </p:sp>
      <p:sp>
        <p:nvSpPr>
          <p:cNvPr id="27" name="TextBox 26"/>
          <p:cNvSpPr txBox="1"/>
          <p:nvPr/>
        </p:nvSpPr>
        <p:spPr>
          <a:xfrm>
            <a:off x="7223760" y="5184648"/>
            <a:ext cx="3749039" cy="292608"/>
          </a:xfrm>
          <a:prstGeom prst="rect">
            <a:avLst/>
          </a:prstGeom>
          <a:noFill/>
        </p:spPr>
        <p:txBody>
          <a:bodyPr wrap="square" lIns="0" tIns="0" rIns="0" bIns="0" anchor="t">
            <a:spAutoFit/>
          </a:bodyPr>
          <a:lstStyle/>
          <a:p>
            <a:pPr algn="l">
              <a:spcBef>
                <a:spcPts val="0"/>
              </a:spcBef>
              <a:spcAft>
                <a:spcPts val="0"/>
              </a:spcAft>
            </a:pPr>
            <a:r>
              <a:rPr sz="1600" b="0" i="0">
                <a:solidFill>
                  <a:srgbClr val="0B1F33"/>
                </a:solidFill>
                <a:latin typeface="Aptos"/>
              </a:rPr>
              <a:t>Received, damaged, outstanding</a:t>
            </a:r>
            <a:endParaRPr sz="1600" b="0" i="0">
              <a:solidFill>
                <a:srgbClr val="0B1F33"/>
              </a:solidFill>
              <a:latin typeface="Aptos"/>
            </a:endParaRPr>
          </a:p>
        </p:txBody>
      </p:sp>
      <p:sp>
        <p:nvSpPr>
          <p:cNvPr id="28" name="TextBox 27"/>
          <p:cNvSpPr txBox="1"/>
          <p:nvPr/>
        </p:nvSpPr>
        <p:spPr>
          <a:xfrm>
            <a:off x="658368" y="6519672"/>
            <a:ext cx="3840480" cy="146304"/>
          </a:xfrm>
          <a:prstGeom prst="rect">
            <a:avLst/>
          </a:prstGeom>
          <a:noFill/>
        </p:spPr>
        <p:txBody>
          <a:bodyPr wrap="square" lIns="0" tIns="0" rIns="0" bIns="0" anchor="t">
            <a:spAutoFit/>
          </a:bodyPr>
          <a:lstStyle/>
          <a:p>
            <a:pPr algn="l">
              <a:spcBef>
                <a:spcPts val="0"/>
              </a:spcBef>
              <a:spcAft>
                <a:spcPts val="0"/>
              </a:spcAft>
            </a:pPr>
            <a:r>
              <a:rPr sz="850" b="1" i="0">
                <a:solidFill>
                  <a:srgbClr val="7A858F"/>
                </a:solidFill>
                <a:latin typeface="Aptos"/>
              </a:rPr>
              <a:t>ETRELAY: RENTAL OPERATIONS</a:t>
            </a:r>
            <a:endParaRPr sz="850" b="1" i="0">
              <a:solidFill>
                <a:srgbClr val="7A858F"/>
              </a:solidFill>
              <a:latin typeface="Aptos"/>
            </a:endParaRPr>
          </a:p>
        </p:txBody>
      </p:sp>
      <p:sp>
        <p:nvSpPr>
          <p:cNvPr id="29" name="TextBox 28"/>
          <p:cNvSpPr txBox="1"/>
          <p:nvPr/>
        </p:nvSpPr>
        <p:spPr>
          <a:xfrm>
            <a:off x="7680960" y="6519672"/>
            <a:ext cx="3840480" cy="146304"/>
          </a:xfrm>
          <a:prstGeom prst="rect">
            <a:avLst/>
          </a:prstGeom>
          <a:noFill/>
        </p:spPr>
        <p:txBody>
          <a:bodyPr wrap="square" lIns="0" tIns="0" rIns="0" bIns="0" anchor="t">
            <a:spAutoFit/>
          </a:bodyPr>
          <a:lstStyle/>
          <a:p>
            <a:pPr algn="r">
              <a:spcBef>
                <a:spcPts val="0"/>
              </a:spcBef>
              <a:spcAft>
                <a:spcPts val="0"/>
              </a:spcAft>
            </a:pPr>
            <a:r>
              <a:rPr sz="850" b="0" i="0">
                <a:solidFill>
                  <a:srgbClr val="7A858F"/>
                </a:solidFill>
                <a:latin typeface="Aptos"/>
              </a:rPr>
              <a:t>TRAN KHANH BINH • 2231200127</a:t>
            </a:r>
            <a:endParaRPr sz="850" b="0" i="0">
              <a:solidFill>
                <a:srgbClr val="7A858F"/>
              </a:solidFill>
              <a:latin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7680960" cy="237744"/>
          </a:xfrm>
          <a:prstGeom prst="rect">
            <a:avLst/>
          </a:prstGeom>
          <a:noFill/>
        </p:spPr>
        <p:txBody>
          <a:bodyPr wrap="square" lIns="0" tIns="0" rIns="0" bIns="0" anchor="t">
            <a:spAutoFit/>
          </a:bodyPr>
          <a:lstStyle/>
          <a:p>
            <a:pPr algn="l">
              <a:spcBef>
                <a:spcPts val="0"/>
              </a:spcBef>
              <a:spcAft>
                <a:spcPts val="0"/>
              </a:spcAft>
            </a:pPr>
            <a:r>
              <a:rPr sz="1000" b="1" i="0">
                <a:solidFill>
                  <a:srgbClr val="1E5EFF"/>
                </a:solidFill>
                <a:latin typeface="Aptos Display"/>
              </a:rPr>
              <a:t>CSW430 • MOBILE APPLICATION DEVELOPMENT</a:t>
            </a:r>
            <a:endParaRPr sz="1000" b="1" i="0">
              <a:solidFill>
                <a:srgbClr val="1E5EFF"/>
              </a:solidFill>
              <a:latin typeface="Aptos Display"/>
            </a:endParaRPr>
          </a:p>
        </p:txBody>
      </p:sp>
      <p:sp>
        <p:nvSpPr>
          <p:cNvPr id="4" name="TextBox 3"/>
          <p:cNvSpPr txBox="1"/>
          <p:nvPr/>
        </p:nvSpPr>
        <p:spPr>
          <a:xfrm>
            <a:off x="658368" y="658368"/>
            <a:ext cx="9875520" cy="585216"/>
          </a:xfrm>
          <a:prstGeom prst="rect">
            <a:avLst/>
          </a:prstGeom>
          <a:noFill/>
        </p:spPr>
        <p:txBody>
          <a:bodyPr wrap="square" lIns="0" tIns="0" rIns="0" bIns="0" anchor="t">
            <a:spAutoFit/>
          </a:bodyPr>
          <a:lstStyle/>
          <a:p>
            <a:pPr algn="l">
              <a:spcBef>
                <a:spcPts val="0"/>
              </a:spcBef>
              <a:spcAft>
                <a:spcPts val="0"/>
              </a:spcAft>
            </a:pPr>
            <a:r>
              <a:rPr sz="2900" b="1" i="0">
                <a:solidFill>
                  <a:srgbClr val="0B1F33"/>
                </a:solidFill>
                <a:latin typeface="Aptos Display"/>
              </a:rPr>
              <a:t>Objectives and scope</a:t>
            </a:r>
            <a:endParaRPr sz="2900" b="1" i="0">
              <a:solidFill>
                <a:srgbClr val="0B1F33"/>
              </a:solidFill>
              <a:latin typeface="Aptos Display"/>
            </a:endParaRPr>
          </a:p>
        </p:txBody>
      </p:sp>
      <p:sp>
        <p:nvSpPr>
          <p:cNvPr id="5" name="TextBox 4"/>
          <p:cNvSpPr txBox="1"/>
          <p:nvPr/>
        </p:nvSpPr>
        <p:spPr>
          <a:xfrm>
            <a:off x="676656" y="1252728"/>
            <a:ext cx="9966960" cy="347472"/>
          </a:xfrm>
          <a:prstGeom prst="rect">
            <a:avLst/>
          </a:prstGeom>
          <a:noFill/>
        </p:spPr>
        <p:txBody>
          <a:bodyPr wrap="square" lIns="0" tIns="0" rIns="0" bIns="0" anchor="t">
            <a:spAutoFit/>
          </a:bodyPr>
          <a:lstStyle/>
          <a:p>
            <a:pPr algn="l">
              <a:spcBef>
                <a:spcPts val="0"/>
              </a:spcBef>
              <a:spcAft>
                <a:spcPts val="0"/>
              </a:spcAft>
            </a:pPr>
            <a:r>
              <a:rPr sz="1300" b="0" i="0">
                <a:solidFill>
                  <a:srgbClr val="5F6B76"/>
                </a:solidFill>
                <a:latin typeface="Aptos"/>
              </a:rPr>
              <a:t>A complete course-sized slice of a real product — with sensitive launch details excluded.</a:t>
            </a:r>
            <a:endParaRPr sz="1300" b="0" i="0">
              <a:solidFill>
                <a:srgbClr val="5F6B76"/>
              </a:solidFill>
              <a:latin typeface="Aptos"/>
            </a:endParaRPr>
          </a:p>
        </p:txBody>
      </p:sp>
      <p:sp>
        <p:nvSpPr>
          <p:cNvPr id="6" name="Rounded Rectangle 5"/>
          <p:cNvSpPr/>
          <p:nvPr/>
        </p:nvSpPr>
        <p:spPr>
          <a:xfrm>
            <a:off x="11064240" y="320040"/>
            <a:ext cx="502920" cy="384048"/>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20040"/>
            <a:ext cx="502920" cy="384048"/>
          </a:xfrm>
          <a:prstGeom prst="rect">
            <a:avLst/>
          </a:prstGeom>
          <a:noFill/>
        </p:spPr>
        <p:txBody>
          <a:bodyPr wrap="square" lIns="0" tIns="0" rIns="0" bIns="0" anchor="ctr">
            <a:spAutoFit/>
          </a:bodyPr>
          <a:lstStyle/>
          <a:p>
            <a:pPr algn="ctr">
              <a:spcBef>
                <a:spcPts val="0"/>
              </a:spcBef>
              <a:spcAft>
                <a:spcPts val="0"/>
              </a:spcAft>
            </a:pPr>
            <a:r>
              <a:rPr sz="1200" b="1" i="0">
                <a:solidFill>
                  <a:srgbClr val="FFFFFF"/>
                </a:solidFill>
                <a:latin typeface="Aptos"/>
              </a:rPr>
              <a:t>03</a:t>
            </a:r>
            <a:endParaRPr sz="1200" b="1" i="0">
              <a:solidFill>
                <a:srgbClr val="FFFFFF"/>
              </a:solidFill>
              <a:latin typeface="Aptos"/>
            </a:endParaRPr>
          </a:p>
        </p:txBody>
      </p:sp>
      <p:sp>
        <p:nvSpPr>
          <p:cNvPr id="8" name="Rounded Rectangle 7"/>
          <p:cNvSpPr/>
          <p:nvPr/>
        </p:nvSpPr>
        <p:spPr>
          <a:xfrm>
            <a:off x="749808" y="1828800"/>
            <a:ext cx="6492240" cy="978408"/>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1828800"/>
            <a:ext cx="109728" cy="978408"/>
          </a:xfrm>
          <a:prstGeom prst="rect">
            <a:avLst/>
          </a:prstGeom>
          <a:solidFill>
            <a:srgbClr val="1E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1993392"/>
            <a:ext cx="1280160" cy="256032"/>
          </a:xfrm>
          <a:prstGeom prst="rect">
            <a:avLst/>
          </a:prstGeom>
          <a:noFill/>
        </p:spPr>
        <p:txBody>
          <a:bodyPr wrap="square" lIns="0" tIns="0" rIns="0" bIns="0" anchor="t">
            <a:spAutoFit/>
          </a:bodyPr>
          <a:lstStyle/>
          <a:p>
            <a:pPr algn="l">
              <a:spcBef>
                <a:spcPts val="0"/>
              </a:spcBef>
              <a:spcAft>
                <a:spcPts val="0"/>
              </a:spcAft>
            </a:pPr>
            <a:r>
              <a:rPr sz="1200" b="1" i="0">
                <a:solidFill>
                  <a:srgbClr val="1E5EFF"/>
                </a:solidFill>
                <a:latin typeface="Aptos"/>
              </a:rPr>
              <a:t>MOBILE</a:t>
            </a:r>
            <a:endParaRPr sz="1200" b="1" i="0">
              <a:solidFill>
                <a:srgbClr val="1E5EFF"/>
              </a:solidFill>
              <a:latin typeface="Aptos"/>
            </a:endParaRPr>
          </a:p>
        </p:txBody>
      </p:sp>
      <p:sp>
        <p:nvSpPr>
          <p:cNvPr id="11" name="TextBox 10"/>
          <p:cNvSpPr txBox="1"/>
          <p:nvPr/>
        </p:nvSpPr>
        <p:spPr>
          <a:xfrm>
            <a:off x="2240280" y="1984248"/>
            <a:ext cx="4617720" cy="566928"/>
          </a:xfrm>
          <a:prstGeom prst="rect">
            <a:avLst/>
          </a:prstGeom>
          <a:noFill/>
        </p:spPr>
        <p:txBody>
          <a:bodyPr wrap="square" lIns="0" tIns="0" rIns="0" bIns="0" anchor="t">
            <a:spAutoFit/>
          </a:bodyPr>
          <a:lstStyle/>
          <a:p>
            <a:pPr algn="l">
              <a:spcBef>
                <a:spcPts val="0"/>
              </a:spcBef>
              <a:spcAft>
                <a:spcPts val="0"/>
              </a:spcAft>
            </a:pPr>
            <a:r>
              <a:rPr sz="1650" b="0" i="0">
                <a:solidFill>
                  <a:srgbClr val="0B1F33"/>
                </a:solidFill>
                <a:latin typeface="Aptos"/>
              </a:rPr>
              <a:t>Build an Android app with at least 20 topic-appropriate screens.</a:t>
            </a:r>
            <a:endParaRPr sz="1650" b="0" i="0">
              <a:solidFill>
                <a:srgbClr val="0B1F33"/>
              </a:solidFill>
              <a:latin typeface="Aptos"/>
            </a:endParaRPr>
          </a:p>
        </p:txBody>
      </p:sp>
      <p:sp>
        <p:nvSpPr>
          <p:cNvPr id="12" name="Rounded Rectangle 11"/>
          <p:cNvSpPr/>
          <p:nvPr/>
        </p:nvSpPr>
        <p:spPr>
          <a:xfrm>
            <a:off x="749808" y="2990088"/>
            <a:ext cx="6492240" cy="978408"/>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8" y="2990088"/>
            <a:ext cx="109728" cy="97840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3154680"/>
            <a:ext cx="1280160" cy="256032"/>
          </a:xfrm>
          <a:prstGeom prst="rect">
            <a:avLst/>
          </a:prstGeom>
          <a:noFill/>
        </p:spPr>
        <p:txBody>
          <a:bodyPr wrap="square" lIns="0" tIns="0" rIns="0" bIns="0" anchor="t">
            <a:spAutoFit/>
          </a:bodyPr>
          <a:lstStyle/>
          <a:p>
            <a:pPr algn="l">
              <a:spcBef>
                <a:spcPts val="0"/>
              </a:spcBef>
              <a:spcAft>
                <a:spcPts val="0"/>
              </a:spcAft>
            </a:pPr>
            <a:r>
              <a:rPr sz="1200" b="1" i="0">
                <a:solidFill>
                  <a:srgbClr val="14B8A6"/>
                </a:solidFill>
                <a:latin typeface="Aptos"/>
              </a:rPr>
              <a:t>BACKEND</a:t>
            </a:r>
            <a:endParaRPr sz="1200" b="1" i="0">
              <a:solidFill>
                <a:srgbClr val="14B8A6"/>
              </a:solidFill>
              <a:latin typeface="Aptos"/>
            </a:endParaRPr>
          </a:p>
        </p:txBody>
      </p:sp>
      <p:sp>
        <p:nvSpPr>
          <p:cNvPr id="15" name="TextBox 14"/>
          <p:cNvSpPr txBox="1"/>
          <p:nvPr/>
        </p:nvSpPr>
        <p:spPr>
          <a:xfrm>
            <a:off x="2240280" y="3145536"/>
            <a:ext cx="4617720" cy="566928"/>
          </a:xfrm>
          <a:prstGeom prst="rect">
            <a:avLst/>
          </a:prstGeom>
          <a:noFill/>
        </p:spPr>
        <p:txBody>
          <a:bodyPr wrap="square" lIns="0" tIns="0" rIns="0" bIns="0" anchor="t">
            <a:spAutoFit/>
          </a:bodyPr>
          <a:lstStyle/>
          <a:p>
            <a:pPr algn="l">
              <a:spcBef>
                <a:spcPts val="0"/>
              </a:spcBef>
              <a:spcAft>
                <a:spcPts val="0"/>
              </a:spcAft>
            </a:pPr>
            <a:r>
              <a:rPr sz="1650" b="0" i="0">
                <a:solidFill>
                  <a:srgbClr val="0B1F33"/>
                </a:solidFill>
                <a:latin typeface="Aptos"/>
              </a:rPr>
              <a:t>Connect Flutter to a self-developed REST API and local PostgreSQL.</a:t>
            </a:r>
            <a:endParaRPr sz="1650" b="0" i="0">
              <a:solidFill>
                <a:srgbClr val="0B1F33"/>
              </a:solidFill>
              <a:latin typeface="Aptos"/>
            </a:endParaRPr>
          </a:p>
        </p:txBody>
      </p:sp>
      <p:sp>
        <p:nvSpPr>
          <p:cNvPr id="16" name="Rounded Rectangle 15"/>
          <p:cNvSpPr/>
          <p:nvPr/>
        </p:nvSpPr>
        <p:spPr>
          <a:xfrm>
            <a:off x="749808" y="4151376"/>
            <a:ext cx="6492240" cy="978408"/>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9808" y="4151376"/>
            <a:ext cx="109728" cy="978408"/>
          </a:xfrm>
          <a:prstGeom prst="rect">
            <a:avLst/>
          </a:prstGeom>
          <a:solidFill>
            <a:srgbClr val="F2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0704" y="4315968"/>
            <a:ext cx="1280160" cy="256032"/>
          </a:xfrm>
          <a:prstGeom prst="rect">
            <a:avLst/>
          </a:prstGeom>
          <a:noFill/>
        </p:spPr>
        <p:txBody>
          <a:bodyPr wrap="square" lIns="0" tIns="0" rIns="0" bIns="0" anchor="t">
            <a:spAutoFit/>
          </a:bodyPr>
          <a:lstStyle/>
          <a:p>
            <a:pPr algn="l">
              <a:spcBef>
                <a:spcPts val="0"/>
              </a:spcBef>
              <a:spcAft>
                <a:spcPts val="0"/>
              </a:spcAft>
            </a:pPr>
            <a:r>
              <a:rPr sz="1200" b="1" i="0">
                <a:solidFill>
                  <a:srgbClr val="F2B544"/>
                </a:solidFill>
                <a:latin typeface="Aptos"/>
              </a:rPr>
              <a:t>DATA</a:t>
            </a:r>
            <a:endParaRPr sz="1200" b="1" i="0">
              <a:solidFill>
                <a:srgbClr val="F2B544"/>
              </a:solidFill>
              <a:latin typeface="Aptos"/>
            </a:endParaRPr>
          </a:p>
        </p:txBody>
      </p:sp>
      <p:sp>
        <p:nvSpPr>
          <p:cNvPr id="19" name="TextBox 18"/>
          <p:cNvSpPr txBox="1"/>
          <p:nvPr/>
        </p:nvSpPr>
        <p:spPr>
          <a:xfrm>
            <a:off x="2240280" y="4306824"/>
            <a:ext cx="4617720" cy="566928"/>
          </a:xfrm>
          <a:prstGeom prst="rect">
            <a:avLst/>
          </a:prstGeom>
          <a:noFill/>
        </p:spPr>
        <p:txBody>
          <a:bodyPr wrap="square" lIns="0" tIns="0" rIns="0" bIns="0" anchor="t">
            <a:spAutoFit/>
          </a:bodyPr>
          <a:lstStyle/>
          <a:p>
            <a:pPr algn="l">
              <a:spcBef>
                <a:spcPts val="0"/>
              </a:spcBef>
              <a:spcAft>
                <a:spcPts val="0"/>
              </a:spcAft>
            </a:pPr>
            <a:r>
              <a:rPr sz="1650" b="0" i="0">
                <a:solidFill>
                  <a:srgbClr val="0B1F33"/>
                </a:solidFill>
                <a:latin typeface="Aptos"/>
              </a:rPr>
              <a:t>Support auth, profile, list/detail, CRUD, QR identity and transfer lifecycle.</a:t>
            </a:r>
            <a:endParaRPr sz="1650" b="0" i="0">
              <a:solidFill>
                <a:srgbClr val="0B1F33"/>
              </a:solidFill>
              <a:latin typeface="Aptos"/>
            </a:endParaRPr>
          </a:p>
        </p:txBody>
      </p:sp>
      <p:sp>
        <p:nvSpPr>
          <p:cNvPr id="20" name="TextBox 19"/>
          <p:cNvSpPr txBox="1"/>
          <p:nvPr/>
        </p:nvSpPr>
        <p:spPr>
          <a:xfrm>
            <a:off x="8275320" y="1645920"/>
            <a:ext cx="2834640" cy="1097280"/>
          </a:xfrm>
          <a:prstGeom prst="rect">
            <a:avLst/>
          </a:prstGeom>
          <a:noFill/>
        </p:spPr>
        <p:txBody>
          <a:bodyPr wrap="square" lIns="0" tIns="0" rIns="0" bIns="0" anchor="t">
            <a:spAutoFit/>
          </a:bodyPr>
          <a:lstStyle/>
          <a:p>
            <a:pPr algn="ctr">
              <a:spcBef>
                <a:spcPts val="0"/>
              </a:spcBef>
              <a:spcAft>
                <a:spcPts val="0"/>
              </a:spcAft>
            </a:pPr>
            <a:r>
              <a:rPr sz="6400" b="1" i="0">
                <a:solidFill>
                  <a:srgbClr val="1E5EFF"/>
                </a:solidFill>
                <a:latin typeface="Aptos Display"/>
              </a:rPr>
              <a:t>29</a:t>
            </a:r>
            <a:endParaRPr sz="6400" b="1" i="0">
              <a:solidFill>
                <a:srgbClr val="1E5EFF"/>
              </a:solidFill>
              <a:latin typeface="Aptos Display"/>
            </a:endParaRPr>
          </a:p>
        </p:txBody>
      </p:sp>
      <p:sp>
        <p:nvSpPr>
          <p:cNvPr id="21" name="TextBox 20"/>
          <p:cNvSpPr txBox="1"/>
          <p:nvPr/>
        </p:nvSpPr>
        <p:spPr>
          <a:xfrm>
            <a:off x="8275320" y="2697480"/>
            <a:ext cx="2834640" cy="365760"/>
          </a:xfrm>
          <a:prstGeom prst="rect">
            <a:avLst/>
          </a:prstGeom>
          <a:noFill/>
        </p:spPr>
        <p:txBody>
          <a:bodyPr wrap="square" lIns="0" tIns="0" rIns="0" bIns="0" anchor="t">
            <a:spAutoFit/>
          </a:bodyPr>
          <a:lstStyle/>
          <a:p>
            <a:pPr algn="ctr">
              <a:spcBef>
                <a:spcPts val="0"/>
              </a:spcBef>
              <a:spcAft>
                <a:spcPts val="0"/>
              </a:spcAft>
            </a:pPr>
            <a:r>
              <a:rPr sz="2000" b="1" i="0">
                <a:solidFill>
                  <a:srgbClr val="0B1F33"/>
                </a:solidFill>
                <a:latin typeface="Aptos"/>
              </a:rPr>
              <a:t>primary screens</a:t>
            </a:r>
            <a:endParaRPr sz="2000" b="1" i="0">
              <a:solidFill>
                <a:srgbClr val="0B1F33"/>
              </a:solidFill>
              <a:latin typeface="Aptos"/>
            </a:endParaRPr>
          </a:p>
        </p:txBody>
      </p:sp>
      <p:sp>
        <p:nvSpPr>
          <p:cNvPr id="22" name="TextBox 21"/>
          <p:cNvSpPr txBox="1"/>
          <p:nvPr/>
        </p:nvSpPr>
        <p:spPr>
          <a:xfrm>
            <a:off x="8275320" y="3154680"/>
            <a:ext cx="2834640" cy="384048"/>
          </a:xfrm>
          <a:prstGeom prst="rect">
            <a:avLst/>
          </a:prstGeom>
          <a:noFill/>
        </p:spPr>
        <p:txBody>
          <a:bodyPr wrap="square" lIns="0" tIns="0" rIns="0" bIns="0" anchor="t">
            <a:spAutoFit/>
          </a:bodyPr>
          <a:lstStyle/>
          <a:p>
            <a:pPr algn="ctr">
              <a:spcBef>
                <a:spcPts val="0"/>
              </a:spcBef>
              <a:spcAft>
                <a:spcPts val="0"/>
              </a:spcAft>
            </a:pPr>
            <a:r>
              <a:rPr sz="1350" b="0" i="0">
                <a:solidFill>
                  <a:srgbClr val="5F6B76"/>
                </a:solidFill>
                <a:latin typeface="Aptos"/>
              </a:rPr>
              <a:t>verified in the source inventory</a:t>
            </a:r>
            <a:endParaRPr sz="1350" b="0" i="0">
              <a:solidFill>
                <a:srgbClr val="5F6B76"/>
              </a:solidFill>
              <a:latin typeface="Aptos"/>
            </a:endParaRPr>
          </a:p>
        </p:txBody>
      </p:sp>
      <p:cxnSp>
        <p:nvCxnSpPr>
          <p:cNvPr id="23" name="Connector 22"/>
          <p:cNvCxnSpPr/>
          <p:nvPr/>
        </p:nvCxnSpPr>
        <p:spPr>
          <a:xfrm>
            <a:off x="7909560" y="3794760"/>
            <a:ext cx="3566160" cy="0"/>
          </a:xfrm>
          <a:prstGeom prst="line">
            <a:avLst/>
          </a:prstGeom>
          <a:ln w="12700">
            <a:solidFill>
              <a:srgbClr val="D8D5CD"/>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38160" y="4142232"/>
            <a:ext cx="1234440" cy="310896"/>
          </a:xfrm>
          <a:prstGeom prst="roundRect">
            <a:avLst/>
          </a:prstGeom>
          <a:solidFill>
            <a:srgbClr val="DF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0" y="4142232"/>
            <a:ext cx="1051560" cy="310896"/>
          </a:xfrm>
          <a:prstGeom prst="rect">
            <a:avLst/>
          </a:prstGeom>
          <a:noFill/>
        </p:spPr>
        <p:txBody>
          <a:bodyPr wrap="square" lIns="0" tIns="0" rIns="0" bIns="0" anchor="ctr">
            <a:spAutoFit/>
          </a:bodyPr>
          <a:lstStyle/>
          <a:p>
            <a:pPr algn="ctr">
              <a:spcBef>
                <a:spcPts val="0"/>
              </a:spcBef>
              <a:spcAft>
                <a:spcPts val="0"/>
              </a:spcAft>
            </a:pPr>
            <a:r>
              <a:rPr sz="1100" b="1" i="0">
                <a:solidFill>
                  <a:srgbClr val="14B8A6"/>
                </a:solidFill>
                <a:latin typeface="Aptos"/>
              </a:rPr>
              <a:t>IN SCOPE</a:t>
            </a:r>
            <a:endParaRPr sz="1100" b="1" i="0">
              <a:solidFill>
                <a:srgbClr val="14B8A6"/>
              </a:solidFill>
              <a:latin typeface="Aptos"/>
            </a:endParaRPr>
          </a:p>
        </p:txBody>
      </p:sp>
      <p:sp>
        <p:nvSpPr>
          <p:cNvPr id="26" name="TextBox 25"/>
          <p:cNvSpPr txBox="1"/>
          <p:nvPr/>
        </p:nvSpPr>
        <p:spPr>
          <a:xfrm>
            <a:off x="8138160" y="4572000"/>
            <a:ext cx="3063240" cy="658368"/>
          </a:xfrm>
          <a:prstGeom prst="rect">
            <a:avLst/>
          </a:prstGeom>
          <a:noFill/>
        </p:spPr>
        <p:txBody>
          <a:bodyPr wrap="square" lIns="0" tIns="0" rIns="0" bIns="0" anchor="t">
            <a:spAutoFit/>
          </a:bodyPr>
          <a:lstStyle/>
          <a:p>
            <a:pPr algn="l">
              <a:spcBef>
                <a:spcPts val="0"/>
              </a:spcBef>
              <a:spcAft>
                <a:spcPts val="0"/>
              </a:spcAft>
            </a:pPr>
            <a:r>
              <a:rPr sz="1500" b="0" i="0">
                <a:solidFill>
                  <a:srgbClr val="0B1F33"/>
                </a:solidFill>
                <a:latin typeface="Aptos"/>
              </a:rPr>
              <a:t>Auth • catalogs • assets • QR • transfers • evidence • history</a:t>
            </a:r>
            <a:endParaRPr sz="1500" b="0" i="0">
              <a:solidFill>
                <a:srgbClr val="0B1F33"/>
              </a:solidFill>
              <a:latin typeface="Aptos"/>
            </a:endParaRPr>
          </a:p>
        </p:txBody>
      </p:sp>
      <p:sp>
        <p:nvSpPr>
          <p:cNvPr id="27" name="Rounded Rectangle 26"/>
          <p:cNvSpPr/>
          <p:nvPr/>
        </p:nvSpPr>
        <p:spPr>
          <a:xfrm>
            <a:off x="8138160" y="5394960"/>
            <a:ext cx="1234440" cy="310896"/>
          </a:xfrm>
          <a:prstGeom prst="roundRect">
            <a:avLst/>
          </a:prstGeom>
          <a:solidFill>
            <a:srgbClr val="FFF0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0" y="5394960"/>
            <a:ext cx="1051560" cy="310896"/>
          </a:xfrm>
          <a:prstGeom prst="rect">
            <a:avLst/>
          </a:prstGeom>
          <a:noFill/>
        </p:spPr>
        <p:txBody>
          <a:bodyPr wrap="square" lIns="0" tIns="0" rIns="0" bIns="0" anchor="ctr">
            <a:spAutoFit/>
          </a:bodyPr>
          <a:lstStyle/>
          <a:p>
            <a:pPr algn="ctr">
              <a:spcBef>
                <a:spcPts val="0"/>
              </a:spcBef>
              <a:spcAft>
                <a:spcPts val="0"/>
              </a:spcAft>
            </a:pPr>
            <a:r>
              <a:rPr sz="1100" b="1" i="0">
                <a:solidFill>
                  <a:srgbClr val="986A00"/>
                </a:solidFill>
                <a:latin typeface="Aptos"/>
              </a:rPr>
              <a:t>BOUNDARY</a:t>
            </a:r>
            <a:endParaRPr sz="1100" b="1" i="0">
              <a:solidFill>
                <a:srgbClr val="986A00"/>
              </a:solidFill>
              <a:latin typeface="Aptos"/>
            </a:endParaRPr>
          </a:p>
        </p:txBody>
      </p:sp>
      <p:sp>
        <p:nvSpPr>
          <p:cNvPr id="29" name="TextBox 28"/>
          <p:cNvSpPr txBox="1"/>
          <p:nvPr/>
        </p:nvSpPr>
        <p:spPr>
          <a:xfrm>
            <a:off x="9555480" y="5376672"/>
            <a:ext cx="1874519" cy="566928"/>
          </a:xfrm>
          <a:prstGeom prst="rect">
            <a:avLst/>
          </a:prstGeom>
          <a:noFill/>
        </p:spPr>
        <p:txBody>
          <a:bodyPr wrap="square" lIns="0" tIns="0" rIns="0" bIns="0" anchor="t">
            <a:spAutoFit/>
          </a:bodyPr>
          <a:lstStyle/>
          <a:p>
            <a:pPr algn="l">
              <a:spcBef>
                <a:spcPts val="0"/>
              </a:spcBef>
              <a:spcAft>
                <a:spcPts val="0"/>
              </a:spcAft>
            </a:pPr>
            <a:r>
              <a:rPr sz="1250" b="0" i="0">
                <a:solidFill>
                  <a:srgbClr val="0B1F33"/>
                </a:solidFill>
                <a:latin typeface="Aptos"/>
              </a:rPr>
              <a:t>No secrets, pricing or private production details</a:t>
            </a:r>
            <a:endParaRPr sz="1250" b="0" i="0">
              <a:solidFill>
                <a:srgbClr val="0B1F33"/>
              </a:solidFill>
              <a:latin typeface="Aptos"/>
            </a:endParaRPr>
          </a:p>
        </p:txBody>
      </p:sp>
      <p:sp>
        <p:nvSpPr>
          <p:cNvPr id="30" name="TextBox 29"/>
          <p:cNvSpPr txBox="1"/>
          <p:nvPr/>
        </p:nvSpPr>
        <p:spPr>
          <a:xfrm>
            <a:off x="658368" y="6519672"/>
            <a:ext cx="3840480" cy="146304"/>
          </a:xfrm>
          <a:prstGeom prst="rect">
            <a:avLst/>
          </a:prstGeom>
          <a:noFill/>
        </p:spPr>
        <p:txBody>
          <a:bodyPr wrap="square" lIns="0" tIns="0" rIns="0" bIns="0" anchor="t">
            <a:spAutoFit/>
          </a:bodyPr>
          <a:lstStyle/>
          <a:p>
            <a:pPr algn="l">
              <a:spcBef>
                <a:spcPts val="0"/>
              </a:spcBef>
              <a:spcAft>
                <a:spcPts val="0"/>
              </a:spcAft>
            </a:pPr>
            <a:r>
              <a:rPr sz="850" b="1" i="0">
                <a:solidFill>
                  <a:srgbClr val="7A858F"/>
                </a:solidFill>
                <a:latin typeface="Aptos"/>
              </a:rPr>
              <a:t>ETRELAY: RENTAL OPERATIONS</a:t>
            </a:r>
            <a:endParaRPr sz="850" b="1" i="0">
              <a:solidFill>
                <a:srgbClr val="7A858F"/>
              </a:solidFill>
              <a:latin typeface="Aptos"/>
            </a:endParaRPr>
          </a:p>
        </p:txBody>
      </p:sp>
      <p:sp>
        <p:nvSpPr>
          <p:cNvPr id="31" name="TextBox 30"/>
          <p:cNvSpPr txBox="1"/>
          <p:nvPr/>
        </p:nvSpPr>
        <p:spPr>
          <a:xfrm>
            <a:off x="7680960" y="6519672"/>
            <a:ext cx="3840480" cy="146304"/>
          </a:xfrm>
          <a:prstGeom prst="rect">
            <a:avLst/>
          </a:prstGeom>
          <a:noFill/>
        </p:spPr>
        <p:txBody>
          <a:bodyPr wrap="square" lIns="0" tIns="0" rIns="0" bIns="0" anchor="t">
            <a:spAutoFit/>
          </a:bodyPr>
          <a:lstStyle/>
          <a:p>
            <a:pPr algn="r">
              <a:spcBef>
                <a:spcPts val="0"/>
              </a:spcBef>
              <a:spcAft>
                <a:spcPts val="0"/>
              </a:spcAft>
            </a:pPr>
            <a:r>
              <a:rPr sz="850" b="0" i="0">
                <a:solidFill>
                  <a:srgbClr val="7A858F"/>
                </a:solidFill>
                <a:latin typeface="Aptos"/>
              </a:rPr>
              <a:t>TRAN KHANH BINH • 2231200127</a:t>
            </a:r>
            <a:endParaRPr sz="850" b="0" i="0">
              <a:solidFill>
                <a:srgbClr val="7A858F"/>
              </a:solidFill>
              <a:latin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7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7680960" cy="237744"/>
          </a:xfrm>
          <a:prstGeom prst="rect">
            <a:avLst/>
          </a:prstGeom>
          <a:noFill/>
        </p:spPr>
        <p:txBody>
          <a:bodyPr wrap="square" lIns="0" tIns="0" rIns="0" bIns="0" anchor="t">
            <a:spAutoFit/>
          </a:bodyPr>
          <a:lstStyle/>
          <a:p>
            <a:pPr algn="l">
              <a:spcBef>
                <a:spcPts val="0"/>
              </a:spcBef>
              <a:spcAft>
                <a:spcPts val="0"/>
              </a:spcAft>
            </a:pPr>
            <a:r>
              <a:rPr sz="1000" b="1" i="0">
                <a:solidFill>
                  <a:srgbClr val="1E5EFF"/>
                </a:solidFill>
                <a:latin typeface="Aptos Display"/>
              </a:rPr>
              <a:t>CSW430 • MOBILE APPLICATION DEVELOPMENT</a:t>
            </a:r>
            <a:endParaRPr sz="1000" b="1" i="0">
              <a:solidFill>
                <a:srgbClr val="1E5EFF"/>
              </a:solidFill>
              <a:latin typeface="Aptos Display"/>
            </a:endParaRPr>
          </a:p>
        </p:txBody>
      </p:sp>
      <p:sp>
        <p:nvSpPr>
          <p:cNvPr id="4" name="TextBox 3"/>
          <p:cNvSpPr txBox="1"/>
          <p:nvPr/>
        </p:nvSpPr>
        <p:spPr>
          <a:xfrm>
            <a:off x="658368" y="658368"/>
            <a:ext cx="9875520" cy="585216"/>
          </a:xfrm>
          <a:prstGeom prst="rect">
            <a:avLst/>
          </a:prstGeom>
          <a:noFill/>
        </p:spPr>
        <p:txBody>
          <a:bodyPr wrap="square" lIns="0" tIns="0" rIns="0" bIns="0" anchor="t">
            <a:spAutoFit/>
          </a:bodyPr>
          <a:lstStyle/>
          <a:p>
            <a:pPr algn="l">
              <a:spcBef>
                <a:spcPts val="0"/>
              </a:spcBef>
              <a:spcAft>
                <a:spcPts val="0"/>
              </a:spcAft>
            </a:pPr>
            <a:r>
              <a:rPr sz="2900" b="1" i="0">
                <a:solidFill>
                  <a:srgbClr val="0B1F33"/>
                </a:solidFill>
                <a:latin typeface="Aptos Display"/>
              </a:rPr>
              <a:t>Project plan</a:t>
            </a:r>
            <a:endParaRPr sz="2900" b="1" i="0">
              <a:solidFill>
                <a:srgbClr val="0B1F33"/>
              </a:solidFill>
              <a:latin typeface="Aptos Display"/>
            </a:endParaRPr>
          </a:p>
        </p:txBody>
      </p:sp>
      <p:sp>
        <p:nvSpPr>
          <p:cNvPr id="5" name="TextBox 4"/>
          <p:cNvSpPr txBox="1"/>
          <p:nvPr/>
        </p:nvSpPr>
        <p:spPr>
          <a:xfrm>
            <a:off x="676656" y="1252728"/>
            <a:ext cx="9966960" cy="347472"/>
          </a:xfrm>
          <a:prstGeom prst="rect">
            <a:avLst/>
          </a:prstGeom>
          <a:noFill/>
        </p:spPr>
        <p:txBody>
          <a:bodyPr wrap="square" lIns="0" tIns="0" rIns="0" bIns="0" anchor="t">
            <a:spAutoFit/>
          </a:bodyPr>
          <a:lstStyle/>
          <a:p>
            <a:pPr algn="l">
              <a:spcBef>
                <a:spcPts val="0"/>
              </a:spcBef>
              <a:spcAft>
                <a:spcPts val="0"/>
              </a:spcAft>
            </a:pPr>
            <a:r>
              <a:rPr sz="1300" b="0" i="0">
                <a:solidFill>
                  <a:srgbClr val="5F6B76"/>
                </a:solidFill>
                <a:latin typeface="Aptos"/>
              </a:rPr>
              <a:t>One student owns every phase: analysis, design, implementation, testing and presentation.</a:t>
            </a:r>
            <a:endParaRPr sz="1300" b="0" i="0">
              <a:solidFill>
                <a:srgbClr val="5F6B76"/>
              </a:solidFill>
              <a:latin typeface="Aptos"/>
            </a:endParaRPr>
          </a:p>
        </p:txBody>
      </p:sp>
      <p:sp>
        <p:nvSpPr>
          <p:cNvPr id="6" name="Rounded Rectangle 5"/>
          <p:cNvSpPr/>
          <p:nvPr/>
        </p:nvSpPr>
        <p:spPr>
          <a:xfrm>
            <a:off x="11064240" y="320040"/>
            <a:ext cx="502920" cy="384048"/>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20040"/>
            <a:ext cx="502920" cy="384048"/>
          </a:xfrm>
          <a:prstGeom prst="rect">
            <a:avLst/>
          </a:prstGeom>
          <a:noFill/>
        </p:spPr>
        <p:txBody>
          <a:bodyPr wrap="square" lIns="0" tIns="0" rIns="0" bIns="0" anchor="ctr">
            <a:spAutoFit/>
          </a:bodyPr>
          <a:lstStyle/>
          <a:p>
            <a:pPr algn="ctr">
              <a:spcBef>
                <a:spcPts val="0"/>
              </a:spcBef>
              <a:spcAft>
                <a:spcPts val="0"/>
              </a:spcAft>
            </a:pPr>
            <a:r>
              <a:rPr sz="1200" b="1" i="0">
                <a:solidFill>
                  <a:srgbClr val="FFFFFF"/>
                </a:solidFill>
                <a:latin typeface="Aptos"/>
              </a:rPr>
              <a:t>04</a:t>
            </a:r>
            <a:endParaRPr sz="1200" b="1" i="0">
              <a:solidFill>
                <a:srgbClr val="FFFFFF"/>
              </a:solidFill>
              <a:latin typeface="Aptos"/>
            </a:endParaRPr>
          </a:p>
        </p:txBody>
      </p:sp>
      <p:cxnSp>
        <p:nvCxnSpPr>
          <p:cNvPr id="8" name="Connector 7"/>
          <p:cNvCxnSpPr/>
          <p:nvPr/>
        </p:nvCxnSpPr>
        <p:spPr>
          <a:xfrm>
            <a:off x="960120" y="3017520"/>
            <a:ext cx="10012680" cy="0"/>
          </a:xfrm>
          <a:prstGeom prst="line">
            <a:avLst/>
          </a:prstGeom>
          <a:ln w="25400">
            <a:solidFill>
              <a:srgbClr val="B8C1C9"/>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749808" y="2807208"/>
            <a:ext cx="420624" cy="420624"/>
          </a:xfrm>
          <a:prstGeom prst="ellipse">
            <a:avLst/>
          </a:prstGeom>
          <a:solidFill>
            <a:srgbClr val="1E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38528"/>
            <a:ext cx="1828800" cy="274320"/>
          </a:xfrm>
          <a:prstGeom prst="rect">
            <a:avLst/>
          </a:prstGeom>
          <a:noFill/>
        </p:spPr>
        <p:txBody>
          <a:bodyPr wrap="square" lIns="0" tIns="0" rIns="0" bIns="0" anchor="t">
            <a:spAutoFit/>
          </a:bodyPr>
          <a:lstStyle/>
          <a:p>
            <a:pPr algn="ctr">
              <a:spcBef>
                <a:spcPts val="0"/>
              </a:spcBef>
              <a:spcAft>
                <a:spcPts val="0"/>
              </a:spcAft>
            </a:pPr>
            <a:r>
              <a:rPr sz="1300" b="1" i="0">
                <a:solidFill>
                  <a:srgbClr val="1E5EFF"/>
                </a:solidFill>
                <a:latin typeface="Aptos"/>
              </a:rPr>
              <a:t>ANALYZE</a:t>
            </a:r>
            <a:endParaRPr sz="1300" b="1" i="0">
              <a:solidFill>
                <a:srgbClr val="1E5EFF"/>
              </a:solidFill>
              <a:latin typeface="Aptos"/>
            </a:endParaRPr>
          </a:p>
        </p:txBody>
      </p:sp>
      <p:sp>
        <p:nvSpPr>
          <p:cNvPr id="11" name="TextBox 10"/>
          <p:cNvSpPr txBox="1"/>
          <p:nvPr/>
        </p:nvSpPr>
        <p:spPr>
          <a:xfrm>
            <a:off x="640080" y="2267712"/>
            <a:ext cx="1828800" cy="256032"/>
          </a:xfrm>
          <a:prstGeom prst="rect">
            <a:avLst/>
          </a:prstGeom>
          <a:noFill/>
        </p:spPr>
        <p:txBody>
          <a:bodyPr wrap="square" lIns="0" tIns="0" rIns="0" bIns="0" anchor="t">
            <a:spAutoFit/>
          </a:bodyPr>
          <a:lstStyle/>
          <a:p>
            <a:pPr algn="ctr">
              <a:spcBef>
                <a:spcPts val="0"/>
              </a:spcBef>
              <a:spcAft>
                <a:spcPts val="0"/>
              </a:spcAft>
            </a:pPr>
            <a:r>
              <a:rPr sz="1250" b="1" i="0">
                <a:solidFill>
                  <a:srgbClr val="0B1F33"/>
                </a:solidFill>
                <a:latin typeface="Aptos"/>
              </a:rPr>
              <a:t>12–16 Jul</a:t>
            </a:r>
            <a:endParaRPr sz="1250" b="1" i="0">
              <a:solidFill>
                <a:srgbClr val="0B1F33"/>
              </a:solidFill>
              <a:latin typeface="Aptos"/>
            </a:endParaRPr>
          </a:p>
        </p:txBody>
      </p:sp>
      <p:sp>
        <p:nvSpPr>
          <p:cNvPr id="12" name="TextBox 11"/>
          <p:cNvSpPr txBox="1"/>
          <p:nvPr/>
        </p:nvSpPr>
        <p:spPr>
          <a:xfrm>
            <a:off x="640080" y="3401568"/>
            <a:ext cx="1828800" cy="621792"/>
          </a:xfrm>
          <a:prstGeom prst="rect">
            <a:avLst/>
          </a:prstGeom>
          <a:noFill/>
        </p:spPr>
        <p:txBody>
          <a:bodyPr wrap="square" lIns="0" tIns="0" rIns="0" bIns="0" anchor="t">
            <a:spAutoFit/>
          </a:bodyPr>
          <a:lstStyle/>
          <a:p>
            <a:pPr algn="ctr">
              <a:spcBef>
                <a:spcPts val="0"/>
              </a:spcBef>
              <a:spcAft>
                <a:spcPts val="0"/>
              </a:spcAft>
            </a:pPr>
            <a:r>
              <a:rPr sz="1400" b="0" i="0">
                <a:solidFill>
                  <a:srgbClr val="5F6B76"/>
                </a:solidFill>
                <a:latin typeface="Aptos"/>
              </a:rPr>
              <a:t>Requirements
research</a:t>
            </a:r>
            <a:endParaRPr sz="1400" b="0" i="0">
              <a:solidFill>
                <a:srgbClr val="5F6B76"/>
              </a:solidFill>
              <a:latin typeface="Aptos"/>
            </a:endParaRPr>
          </a:p>
        </p:txBody>
      </p:sp>
      <p:sp>
        <p:nvSpPr>
          <p:cNvPr id="13" name="Oval 12"/>
          <p:cNvSpPr/>
          <p:nvPr/>
        </p:nvSpPr>
        <p:spPr>
          <a:xfrm>
            <a:off x="3264408" y="2807208"/>
            <a:ext cx="420624" cy="420624"/>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0320" y="1938528"/>
            <a:ext cx="1828800" cy="274320"/>
          </a:xfrm>
          <a:prstGeom prst="rect">
            <a:avLst/>
          </a:prstGeom>
          <a:noFill/>
        </p:spPr>
        <p:txBody>
          <a:bodyPr wrap="square" lIns="0" tIns="0" rIns="0" bIns="0" anchor="t">
            <a:spAutoFit/>
          </a:bodyPr>
          <a:lstStyle/>
          <a:p>
            <a:pPr algn="ctr">
              <a:spcBef>
                <a:spcPts val="0"/>
              </a:spcBef>
              <a:spcAft>
                <a:spcPts val="0"/>
              </a:spcAft>
            </a:pPr>
            <a:r>
              <a:rPr sz="1300" b="1" i="0">
                <a:solidFill>
                  <a:srgbClr val="14B8A6"/>
                </a:solidFill>
                <a:latin typeface="Aptos"/>
              </a:rPr>
              <a:t>DESIGN</a:t>
            </a:r>
            <a:endParaRPr sz="1300" b="1" i="0">
              <a:solidFill>
                <a:srgbClr val="14B8A6"/>
              </a:solidFill>
              <a:latin typeface="Aptos"/>
            </a:endParaRPr>
          </a:p>
        </p:txBody>
      </p:sp>
      <p:sp>
        <p:nvSpPr>
          <p:cNvPr id="15" name="TextBox 14"/>
          <p:cNvSpPr txBox="1"/>
          <p:nvPr/>
        </p:nvSpPr>
        <p:spPr>
          <a:xfrm>
            <a:off x="2560320" y="2267712"/>
            <a:ext cx="1828800" cy="256032"/>
          </a:xfrm>
          <a:prstGeom prst="rect">
            <a:avLst/>
          </a:prstGeom>
          <a:noFill/>
        </p:spPr>
        <p:txBody>
          <a:bodyPr wrap="square" lIns="0" tIns="0" rIns="0" bIns="0" anchor="t">
            <a:spAutoFit/>
          </a:bodyPr>
          <a:lstStyle/>
          <a:p>
            <a:pPr algn="ctr">
              <a:spcBef>
                <a:spcPts val="0"/>
              </a:spcBef>
              <a:spcAft>
                <a:spcPts val="0"/>
              </a:spcAft>
            </a:pPr>
            <a:r>
              <a:rPr sz="1250" b="1" i="0">
                <a:solidFill>
                  <a:srgbClr val="0B1F33"/>
                </a:solidFill>
                <a:latin typeface="Aptos"/>
              </a:rPr>
              <a:t>15–19 Jul</a:t>
            </a:r>
            <a:endParaRPr sz="1250" b="1" i="0">
              <a:solidFill>
                <a:srgbClr val="0B1F33"/>
              </a:solidFill>
              <a:latin typeface="Aptos"/>
            </a:endParaRPr>
          </a:p>
        </p:txBody>
      </p:sp>
      <p:sp>
        <p:nvSpPr>
          <p:cNvPr id="16" name="TextBox 15"/>
          <p:cNvSpPr txBox="1"/>
          <p:nvPr/>
        </p:nvSpPr>
        <p:spPr>
          <a:xfrm>
            <a:off x="2560320" y="3401568"/>
            <a:ext cx="1828800" cy="621792"/>
          </a:xfrm>
          <a:prstGeom prst="rect">
            <a:avLst/>
          </a:prstGeom>
          <a:noFill/>
        </p:spPr>
        <p:txBody>
          <a:bodyPr wrap="square" lIns="0" tIns="0" rIns="0" bIns="0" anchor="t">
            <a:spAutoFit/>
          </a:bodyPr>
          <a:lstStyle/>
          <a:p>
            <a:pPr algn="ctr">
              <a:spcBef>
                <a:spcPts val="0"/>
              </a:spcBef>
              <a:spcAft>
                <a:spcPts val="0"/>
              </a:spcAft>
            </a:pPr>
            <a:r>
              <a:rPr sz="1400" b="0" i="0">
                <a:solidFill>
                  <a:srgbClr val="5F6B76"/>
                </a:solidFill>
                <a:latin typeface="Aptos"/>
              </a:rPr>
              <a:t>UX + database</a:t>
            </a:r>
            <a:endParaRPr sz="1400" b="0" i="0">
              <a:solidFill>
                <a:srgbClr val="5F6B76"/>
              </a:solidFill>
              <a:latin typeface="Aptos"/>
            </a:endParaRPr>
          </a:p>
        </p:txBody>
      </p:sp>
      <p:sp>
        <p:nvSpPr>
          <p:cNvPr id="17" name="Oval 16"/>
          <p:cNvSpPr/>
          <p:nvPr/>
        </p:nvSpPr>
        <p:spPr>
          <a:xfrm>
            <a:off x="5779007" y="2807208"/>
            <a:ext cx="420624" cy="420624"/>
          </a:xfrm>
          <a:prstGeom prst="ellipse">
            <a:avLst/>
          </a:prstGeom>
          <a:solidFill>
            <a:srgbClr val="F2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4920" y="1938528"/>
            <a:ext cx="1828800" cy="274320"/>
          </a:xfrm>
          <a:prstGeom prst="rect">
            <a:avLst/>
          </a:prstGeom>
          <a:noFill/>
        </p:spPr>
        <p:txBody>
          <a:bodyPr wrap="square" lIns="0" tIns="0" rIns="0" bIns="0" anchor="t">
            <a:spAutoFit/>
          </a:bodyPr>
          <a:lstStyle/>
          <a:p>
            <a:pPr algn="ctr">
              <a:spcBef>
                <a:spcPts val="0"/>
              </a:spcBef>
              <a:spcAft>
                <a:spcPts val="0"/>
              </a:spcAft>
            </a:pPr>
            <a:r>
              <a:rPr sz="1300" b="1" i="0">
                <a:solidFill>
                  <a:srgbClr val="F2B544"/>
                </a:solidFill>
                <a:latin typeface="Aptos"/>
              </a:rPr>
              <a:t>BUILD</a:t>
            </a:r>
            <a:endParaRPr sz="1300" b="1" i="0">
              <a:solidFill>
                <a:srgbClr val="F2B544"/>
              </a:solidFill>
              <a:latin typeface="Aptos"/>
            </a:endParaRPr>
          </a:p>
        </p:txBody>
      </p:sp>
      <p:sp>
        <p:nvSpPr>
          <p:cNvPr id="19" name="TextBox 18"/>
          <p:cNvSpPr txBox="1"/>
          <p:nvPr/>
        </p:nvSpPr>
        <p:spPr>
          <a:xfrm>
            <a:off x="5074920" y="2267712"/>
            <a:ext cx="1828800" cy="256032"/>
          </a:xfrm>
          <a:prstGeom prst="rect">
            <a:avLst/>
          </a:prstGeom>
          <a:noFill/>
        </p:spPr>
        <p:txBody>
          <a:bodyPr wrap="square" lIns="0" tIns="0" rIns="0" bIns="0" anchor="t">
            <a:spAutoFit/>
          </a:bodyPr>
          <a:lstStyle/>
          <a:p>
            <a:pPr algn="ctr">
              <a:spcBef>
                <a:spcPts val="0"/>
              </a:spcBef>
              <a:spcAft>
                <a:spcPts val="0"/>
              </a:spcAft>
            </a:pPr>
            <a:r>
              <a:rPr sz="1250" b="1" i="0">
                <a:solidFill>
                  <a:srgbClr val="0B1F33"/>
                </a:solidFill>
                <a:latin typeface="Aptos"/>
              </a:rPr>
              <a:t>18 Jul–4 Aug</a:t>
            </a:r>
            <a:endParaRPr sz="1250" b="1" i="0">
              <a:solidFill>
                <a:srgbClr val="0B1F33"/>
              </a:solidFill>
              <a:latin typeface="Aptos"/>
            </a:endParaRPr>
          </a:p>
        </p:txBody>
      </p:sp>
      <p:sp>
        <p:nvSpPr>
          <p:cNvPr id="20" name="TextBox 19"/>
          <p:cNvSpPr txBox="1"/>
          <p:nvPr/>
        </p:nvSpPr>
        <p:spPr>
          <a:xfrm>
            <a:off x="5074920" y="3401568"/>
            <a:ext cx="1828800" cy="621792"/>
          </a:xfrm>
          <a:prstGeom prst="rect">
            <a:avLst/>
          </a:prstGeom>
          <a:noFill/>
        </p:spPr>
        <p:txBody>
          <a:bodyPr wrap="square" lIns="0" tIns="0" rIns="0" bIns="0" anchor="t">
            <a:spAutoFit/>
          </a:bodyPr>
          <a:lstStyle/>
          <a:p>
            <a:pPr algn="ctr">
              <a:spcBef>
                <a:spcPts val="0"/>
              </a:spcBef>
              <a:spcAft>
                <a:spcPts val="0"/>
              </a:spcAft>
            </a:pPr>
            <a:r>
              <a:rPr sz="1400" b="0" i="0">
                <a:solidFill>
                  <a:srgbClr val="5F6B76"/>
                </a:solidFill>
                <a:latin typeface="Aptos"/>
              </a:rPr>
              <a:t>Flutter + Node REST API</a:t>
            </a:r>
            <a:endParaRPr sz="1400" b="0" i="0">
              <a:solidFill>
                <a:srgbClr val="5F6B76"/>
              </a:solidFill>
              <a:latin typeface="Aptos"/>
            </a:endParaRPr>
          </a:p>
        </p:txBody>
      </p:sp>
      <p:sp>
        <p:nvSpPr>
          <p:cNvPr id="21" name="Oval 20"/>
          <p:cNvSpPr/>
          <p:nvPr/>
        </p:nvSpPr>
        <p:spPr>
          <a:xfrm>
            <a:off x="8293608" y="2807208"/>
            <a:ext cx="420624" cy="420624"/>
          </a:xfrm>
          <a:prstGeom prst="ellipse">
            <a:avLst/>
          </a:prstGeom>
          <a:solidFill>
            <a:srgbClr val="EF6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0" y="1938528"/>
            <a:ext cx="1828800" cy="274320"/>
          </a:xfrm>
          <a:prstGeom prst="rect">
            <a:avLst/>
          </a:prstGeom>
          <a:noFill/>
        </p:spPr>
        <p:txBody>
          <a:bodyPr wrap="square" lIns="0" tIns="0" rIns="0" bIns="0" anchor="t">
            <a:spAutoFit/>
          </a:bodyPr>
          <a:lstStyle/>
          <a:p>
            <a:pPr algn="ctr">
              <a:spcBef>
                <a:spcPts val="0"/>
              </a:spcBef>
              <a:spcAft>
                <a:spcPts val="0"/>
              </a:spcAft>
            </a:pPr>
            <a:r>
              <a:rPr sz="1300" b="1" i="0">
                <a:solidFill>
                  <a:srgbClr val="EF6A5B"/>
                </a:solidFill>
                <a:latin typeface="Aptos"/>
              </a:rPr>
              <a:t>TEST</a:t>
            </a:r>
            <a:endParaRPr sz="1300" b="1" i="0">
              <a:solidFill>
                <a:srgbClr val="EF6A5B"/>
              </a:solidFill>
              <a:latin typeface="Aptos"/>
            </a:endParaRPr>
          </a:p>
        </p:txBody>
      </p:sp>
      <p:sp>
        <p:nvSpPr>
          <p:cNvPr id="23" name="TextBox 22"/>
          <p:cNvSpPr txBox="1"/>
          <p:nvPr/>
        </p:nvSpPr>
        <p:spPr>
          <a:xfrm>
            <a:off x="7589520" y="2267712"/>
            <a:ext cx="1828800" cy="256032"/>
          </a:xfrm>
          <a:prstGeom prst="rect">
            <a:avLst/>
          </a:prstGeom>
          <a:noFill/>
        </p:spPr>
        <p:txBody>
          <a:bodyPr wrap="square" lIns="0" tIns="0" rIns="0" bIns="0" anchor="t">
            <a:spAutoFit/>
          </a:bodyPr>
          <a:lstStyle/>
          <a:p>
            <a:pPr algn="ctr">
              <a:spcBef>
                <a:spcPts val="0"/>
              </a:spcBef>
              <a:spcAft>
                <a:spcPts val="0"/>
              </a:spcAft>
            </a:pPr>
            <a:r>
              <a:rPr sz="1250" b="1" i="0">
                <a:solidFill>
                  <a:srgbClr val="0B1F33"/>
                </a:solidFill>
                <a:latin typeface="Aptos"/>
              </a:rPr>
              <a:t>30 Jul–9 Aug</a:t>
            </a:r>
            <a:endParaRPr sz="1250" b="1" i="0">
              <a:solidFill>
                <a:srgbClr val="0B1F33"/>
              </a:solidFill>
              <a:latin typeface="Aptos"/>
            </a:endParaRPr>
          </a:p>
        </p:txBody>
      </p:sp>
      <p:sp>
        <p:nvSpPr>
          <p:cNvPr id="24" name="TextBox 23"/>
          <p:cNvSpPr txBox="1"/>
          <p:nvPr/>
        </p:nvSpPr>
        <p:spPr>
          <a:xfrm>
            <a:off x="7589520" y="3401568"/>
            <a:ext cx="1828800" cy="621792"/>
          </a:xfrm>
          <a:prstGeom prst="rect">
            <a:avLst/>
          </a:prstGeom>
          <a:noFill/>
        </p:spPr>
        <p:txBody>
          <a:bodyPr wrap="square" lIns="0" tIns="0" rIns="0" bIns="0" anchor="t">
            <a:spAutoFit/>
          </a:bodyPr>
          <a:lstStyle/>
          <a:p>
            <a:pPr algn="ctr">
              <a:spcBef>
                <a:spcPts val="0"/>
              </a:spcBef>
              <a:spcAft>
                <a:spcPts val="0"/>
              </a:spcAft>
            </a:pPr>
            <a:r>
              <a:rPr sz="1400" b="0" i="0">
                <a:solidFill>
                  <a:srgbClr val="5F6B76"/>
                </a:solidFill>
                <a:latin typeface="Aptos"/>
              </a:rPr>
              <a:t>Flutter + REST API tests</a:t>
            </a:r>
            <a:endParaRPr sz="1400" b="0" i="0">
              <a:solidFill>
                <a:srgbClr val="5F6B76"/>
              </a:solidFill>
              <a:latin typeface="Aptos"/>
            </a:endParaRPr>
          </a:p>
        </p:txBody>
      </p:sp>
      <p:sp>
        <p:nvSpPr>
          <p:cNvPr id="25" name="Oval 24"/>
          <p:cNvSpPr/>
          <p:nvPr/>
        </p:nvSpPr>
        <p:spPr>
          <a:xfrm>
            <a:off x="10762488" y="2807208"/>
            <a:ext cx="420624" cy="420624"/>
          </a:xfrm>
          <a:prstGeom prst="ellipse">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92640" y="1938528"/>
            <a:ext cx="1828800" cy="274320"/>
          </a:xfrm>
          <a:prstGeom prst="rect">
            <a:avLst/>
          </a:prstGeom>
          <a:noFill/>
        </p:spPr>
        <p:txBody>
          <a:bodyPr wrap="square" lIns="0" tIns="0" rIns="0" bIns="0" anchor="t">
            <a:spAutoFit/>
          </a:bodyPr>
          <a:lstStyle/>
          <a:p>
            <a:pPr algn="ctr">
              <a:spcBef>
                <a:spcPts val="0"/>
              </a:spcBef>
              <a:spcAft>
                <a:spcPts val="0"/>
              </a:spcAft>
            </a:pPr>
            <a:r>
              <a:rPr sz="1300" b="1" i="0">
                <a:solidFill>
                  <a:srgbClr val="0B1F33"/>
                </a:solidFill>
                <a:latin typeface="Aptos"/>
              </a:rPr>
              <a:t>DOCUMENT</a:t>
            </a:r>
            <a:endParaRPr sz="1300" b="1" i="0">
              <a:solidFill>
                <a:srgbClr val="0B1F33"/>
              </a:solidFill>
              <a:latin typeface="Aptos"/>
            </a:endParaRPr>
          </a:p>
        </p:txBody>
      </p:sp>
      <p:sp>
        <p:nvSpPr>
          <p:cNvPr id="27" name="TextBox 26"/>
          <p:cNvSpPr txBox="1"/>
          <p:nvPr/>
        </p:nvSpPr>
        <p:spPr>
          <a:xfrm>
            <a:off x="9692640" y="2267712"/>
            <a:ext cx="1828800" cy="256032"/>
          </a:xfrm>
          <a:prstGeom prst="rect">
            <a:avLst/>
          </a:prstGeom>
          <a:noFill/>
        </p:spPr>
        <p:txBody>
          <a:bodyPr wrap="square" lIns="0" tIns="0" rIns="0" bIns="0" anchor="t">
            <a:spAutoFit/>
          </a:bodyPr>
          <a:lstStyle/>
          <a:p>
            <a:pPr algn="ctr">
              <a:spcBef>
                <a:spcPts val="0"/>
              </a:spcBef>
              <a:spcAft>
                <a:spcPts val="0"/>
              </a:spcAft>
            </a:pPr>
            <a:r>
              <a:rPr sz="1250" b="1" i="0">
                <a:solidFill>
                  <a:srgbClr val="0B1F33"/>
                </a:solidFill>
                <a:latin typeface="Aptos"/>
              </a:rPr>
              <a:t>5–12 Aug</a:t>
            </a:r>
            <a:endParaRPr sz="1250" b="1" i="0">
              <a:solidFill>
                <a:srgbClr val="0B1F33"/>
              </a:solidFill>
              <a:latin typeface="Aptos"/>
            </a:endParaRPr>
          </a:p>
        </p:txBody>
      </p:sp>
      <p:sp>
        <p:nvSpPr>
          <p:cNvPr id="28" name="TextBox 27"/>
          <p:cNvSpPr txBox="1"/>
          <p:nvPr/>
        </p:nvSpPr>
        <p:spPr>
          <a:xfrm>
            <a:off x="9692640" y="3401568"/>
            <a:ext cx="1828800" cy="621792"/>
          </a:xfrm>
          <a:prstGeom prst="rect">
            <a:avLst/>
          </a:prstGeom>
          <a:noFill/>
        </p:spPr>
        <p:txBody>
          <a:bodyPr wrap="square" lIns="0" tIns="0" rIns="0" bIns="0" anchor="t">
            <a:spAutoFit/>
          </a:bodyPr>
          <a:lstStyle/>
          <a:p>
            <a:pPr algn="ctr">
              <a:spcBef>
                <a:spcPts val="0"/>
              </a:spcBef>
              <a:spcAft>
                <a:spcPts val="0"/>
              </a:spcAft>
            </a:pPr>
            <a:r>
              <a:rPr sz="1400" b="0" i="0">
                <a:solidFill>
                  <a:srgbClr val="5F6B76"/>
                </a:solidFill>
                <a:latin typeface="Aptos"/>
              </a:rPr>
              <a:t>Report + slides</a:t>
            </a:r>
            <a:endParaRPr sz="1400" b="0" i="0">
              <a:solidFill>
                <a:srgbClr val="5F6B76"/>
              </a:solidFill>
              <a:latin typeface="Aptos"/>
            </a:endParaRPr>
          </a:p>
        </p:txBody>
      </p:sp>
      <p:sp>
        <p:nvSpPr>
          <p:cNvPr id="29" name="Rounded Rectangle 28"/>
          <p:cNvSpPr/>
          <p:nvPr/>
        </p:nvSpPr>
        <p:spPr>
          <a:xfrm>
            <a:off x="914400" y="4681728"/>
            <a:ext cx="10378440" cy="1005840"/>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88720" y="4919472"/>
            <a:ext cx="2423160" cy="274320"/>
          </a:xfrm>
          <a:prstGeom prst="rect">
            <a:avLst/>
          </a:prstGeom>
          <a:noFill/>
        </p:spPr>
        <p:txBody>
          <a:bodyPr wrap="square" lIns="0" tIns="0" rIns="0" bIns="0" anchor="t">
            <a:spAutoFit/>
          </a:bodyPr>
          <a:lstStyle/>
          <a:p>
            <a:pPr algn="l">
              <a:spcBef>
                <a:spcPts val="0"/>
              </a:spcBef>
              <a:spcAft>
                <a:spcPts val="0"/>
              </a:spcAft>
            </a:pPr>
            <a:r>
              <a:rPr sz="1200" b="1" i="0">
                <a:solidFill>
                  <a:srgbClr val="14B8A6"/>
                </a:solidFill>
                <a:latin typeface="Aptos"/>
              </a:rPr>
              <a:t>INDIVIDUAL DELIVERY MODEL</a:t>
            </a:r>
            <a:endParaRPr sz="1200" b="1" i="0">
              <a:solidFill>
                <a:srgbClr val="14B8A6"/>
              </a:solidFill>
              <a:latin typeface="Aptos"/>
            </a:endParaRPr>
          </a:p>
        </p:txBody>
      </p:sp>
      <p:sp>
        <p:nvSpPr>
          <p:cNvPr id="31" name="TextBox 30"/>
          <p:cNvSpPr txBox="1"/>
          <p:nvPr/>
        </p:nvSpPr>
        <p:spPr>
          <a:xfrm>
            <a:off x="3703320" y="4818888"/>
            <a:ext cx="7040880" cy="530352"/>
          </a:xfrm>
          <a:prstGeom prst="rect">
            <a:avLst/>
          </a:prstGeom>
          <a:noFill/>
        </p:spPr>
        <p:txBody>
          <a:bodyPr wrap="square" lIns="0" tIns="0" rIns="0" bIns="0" anchor="t">
            <a:spAutoFit/>
          </a:bodyPr>
          <a:lstStyle/>
          <a:p>
            <a:pPr algn="l">
              <a:spcBef>
                <a:spcPts val="0"/>
              </a:spcBef>
              <a:spcAft>
                <a:spcPts val="0"/>
              </a:spcAft>
            </a:pPr>
            <a:r>
              <a:rPr sz="1800" b="0" i="0">
                <a:solidFill>
                  <a:srgbClr val="FFFFFF"/>
                </a:solidFill>
                <a:latin typeface="Aptos"/>
              </a:rPr>
              <a:t>No fictional team members. The same person can explain every design and implementation decision.</a:t>
            </a:r>
            <a:endParaRPr sz="1800" b="0" i="0">
              <a:solidFill>
                <a:srgbClr val="FFFFFF"/>
              </a:solidFill>
              <a:latin typeface="Aptos"/>
            </a:endParaRPr>
          </a:p>
        </p:txBody>
      </p:sp>
      <p:sp>
        <p:nvSpPr>
          <p:cNvPr id="32" name="TextBox 31"/>
          <p:cNvSpPr txBox="1"/>
          <p:nvPr/>
        </p:nvSpPr>
        <p:spPr>
          <a:xfrm>
            <a:off x="658368" y="6519672"/>
            <a:ext cx="3840480" cy="146304"/>
          </a:xfrm>
          <a:prstGeom prst="rect">
            <a:avLst/>
          </a:prstGeom>
          <a:noFill/>
        </p:spPr>
        <p:txBody>
          <a:bodyPr wrap="square" lIns="0" tIns="0" rIns="0" bIns="0" anchor="t">
            <a:spAutoFit/>
          </a:bodyPr>
          <a:lstStyle/>
          <a:p>
            <a:pPr algn="l">
              <a:spcBef>
                <a:spcPts val="0"/>
              </a:spcBef>
              <a:spcAft>
                <a:spcPts val="0"/>
              </a:spcAft>
            </a:pPr>
            <a:r>
              <a:rPr sz="850" b="1" i="0">
                <a:solidFill>
                  <a:srgbClr val="7A858F"/>
                </a:solidFill>
                <a:latin typeface="Aptos"/>
              </a:rPr>
              <a:t>ETRELAY: RENTAL OPERATIONS</a:t>
            </a:r>
            <a:endParaRPr sz="850" b="1" i="0">
              <a:solidFill>
                <a:srgbClr val="7A858F"/>
              </a:solidFill>
              <a:latin typeface="Aptos"/>
            </a:endParaRPr>
          </a:p>
        </p:txBody>
      </p:sp>
      <p:sp>
        <p:nvSpPr>
          <p:cNvPr id="33" name="TextBox 32"/>
          <p:cNvSpPr txBox="1"/>
          <p:nvPr/>
        </p:nvSpPr>
        <p:spPr>
          <a:xfrm>
            <a:off x="7680960" y="6519672"/>
            <a:ext cx="3840480" cy="146304"/>
          </a:xfrm>
          <a:prstGeom prst="rect">
            <a:avLst/>
          </a:prstGeom>
          <a:noFill/>
        </p:spPr>
        <p:txBody>
          <a:bodyPr wrap="square" lIns="0" tIns="0" rIns="0" bIns="0" anchor="t">
            <a:spAutoFit/>
          </a:bodyPr>
          <a:lstStyle/>
          <a:p>
            <a:pPr algn="r">
              <a:spcBef>
                <a:spcPts val="0"/>
              </a:spcBef>
              <a:spcAft>
                <a:spcPts val="0"/>
              </a:spcAft>
            </a:pPr>
            <a:r>
              <a:rPr sz="850" b="0" i="0">
                <a:solidFill>
                  <a:srgbClr val="7A858F"/>
                </a:solidFill>
                <a:latin typeface="Aptos"/>
              </a:rPr>
              <a:t>TRAN KHANH BINH • 2231200127</a:t>
            </a:r>
            <a:endParaRPr sz="850" b="0" i="0">
              <a:solidFill>
                <a:srgbClr val="7A858F"/>
              </a:solidFill>
              <a:latin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7680960" cy="237744"/>
          </a:xfrm>
          <a:prstGeom prst="rect">
            <a:avLst/>
          </a:prstGeom>
          <a:noFill/>
        </p:spPr>
        <p:txBody>
          <a:bodyPr wrap="square" lIns="0" tIns="0" rIns="0" bIns="0" anchor="t">
            <a:spAutoFit/>
          </a:bodyPr>
          <a:lstStyle/>
          <a:p>
            <a:pPr algn="l">
              <a:spcBef>
                <a:spcPts val="0"/>
              </a:spcBef>
              <a:spcAft>
                <a:spcPts val="0"/>
              </a:spcAft>
            </a:pPr>
            <a:r>
              <a:rPr sz="1000" b="1" i="0">
                <a:solidFill>
                  <a:srgbClr val="14B8A6"/>
                </a:solidFill>
                <a:latin typeface="Aptos Display"/>
              </a:rPr>
              <a:t>CSW430 • MOBILE APPLICATION DEVELOPMENT</a:t>
            </a:r>
            <a:endParaRPr sz="1000" b="1" i="0">
              <a:solidFill>
                <a:srgbClr val="14B8A6"/>
              </a:solidFill>
              <a:latin typeface="Aptos Display"/>
            </a:endParaRPr>
          </a:p>
        </p:txBody>
      </p:sp>
      <p:sp>
        <p:nvSpPr>
          <p:cNvPr id="4" name="TextBox 3"/>
          <p:cNvSpPr txBox="1"/>
          <p:nvPr/>
        </p:nvSpPr>
        <p:spPr>
          <a:xfrm>
            <a:off x="658368" y="658368"/>
            <a:ext cx="9875520" cy="585216"/>
          </a:xfrm>
          <a:prstGeom prst="rect">
            <a:avLst/>
          </a:prstGeom>
          <a:noFill/>
        </p:spPr>
        <p:txBody>
          <a:bodyPr wrap="square" lIns="0" tIns="0" rIns="0" bIns="0" anchor="t">
            <a:spAutoFit/>
          </a:bodyPr>
          <a:lstStyle/>
          <a:p>
            <a:pPr algn="l">
              <a:spcBef>
                <a:spcPts val="0"/>
              </a:spcBef>
              <a:spcAft>
                <a:spcPts val="0"/>
              </a:spcAft>
            </a:pPr>
            <a:r>
              <a:rPr sz="2900" b="1" i="0">
                <a:solidFill>
                  <a:srgbClr val="FFFFFF"/>
                </a:solidFill>
                <a:latin typeface="Aptos Display"/>
              </a:rPr>
              <a:t>Main feature system</a:t>
            </a:r>
            <a:endParaRPr sz="2900" b="1" i="0">
              <a:solidFill>
                <a:srgbClr val="FFFFFF"/>
              </a:solidFill>
              <a:latin typeface="Aptos Display"/>
            </a:endParaRPr>
          </a:p>
        </p:txBody>
      </p:sp>
      <p:sp>
        <p:nvSpPr>
          <p:cNvPr id="5" name="TextBox 4"/>
          <p:cNvSpPr txBox="1"/>
          <p:nvPr/>
        </p:nvSpPr>
        <p:spPr>
          <a:xfrm>
            <a:off x="676656" y="1252728"/>
            <a:ext cx="9966960" cy="347472"/>
          </a:xfrm>
          <a:prstGeom prst="rect">
            <a:avLst/>
          </a:prstGeom>
          <a:noFill/>
        </p:spPr>
        <p:txBody>
          <a:bodyPr wrap="square" lIns="0" tIns="0" rIns="0" bIns="0" anchor="t">
            <a:spAutoFit/>
          </a:bodyPr>
          <a:lstStyle/>
          <a:p>
            <a:pPr algn="l">
              <a:spcBef>
                <a:spcPts val="0"/>
              </a:spcBef>
              <a:spcAft>
                <a:spcPts val="0"/>
              </a:spcAft>
            </a:pPr>
            <a:r>
              <a:rPr sz="1300" b="0" i="0">
                <a:solidFill>
                  <a:srgbClr val="B9C8D6"/>
                </a:solidFill>
                <a:latin typeface="Aptos"/>
              </a:rPr>
              <a:t>The transfer lifecycle is the spine; catalogs, assets, evidence and access support it.</a:t>
            </a:r>
            <a:endParaRPr sz="1300" b="0" i="0">
              <a:solidFill>
                <a:srgbClr val="B9C8D6"/>
              </a:solidFill>
              <a:latin typeface="Aptos"/>
            </a:endParaRPr>
          </a:p>
        </p:txBody>
      </p:sp>
      <p:sp>
        <p:nvSpPr>
          <p:cNvPr id="6" name="Rounded Rectangle 5"/>
          <p:cNvSpPr/>
          <p:nvPr/>
        </p:nvSpPr>
        <p:spPr>
          <a:xfrm>
            <a:off x="11064240" y="320040"/>
            <a:ext cx="502920" cy="38404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20040"/>
            <a:ext cx="502920" cy="384048"/>
          </a:xfrm>
          <a:prstGeom prst="rect">
            <a:avLst/>
          </a:prstGeom>
          <a:noFill/>
        </p:spPr>
        <p:txBody>
          <a:bodyPr wrap="square" lIns="0" tIns="0" rIns="0" bIns="0" anchor="ctr">
            <a:spAutoFit/>
          </a:bodyPr>
          <a:lstStyle/>
          <a:p>
            <a:pPr algn="ctr">
              <a:spcBef>
                <a:spcPts val="0"/>
              </a:spcBef>
              <a:spcAft>
                <a:spcPts val="0"/>
              </a:spcAft>
            </a:pPr>
            <a:r>
              <a:rPr sz="1200" b="1" i="0">
                <a:solidFill>
                  <a:srgbClr val="FFFFFF"/>
                </a:solidFill>
                <a:latin typeface="Aptos"/>
              </a:rPr>
              <a:t>05</a:t>
            </a:r>
            <a:endParaRPr sz="1200" b="1" i="0">
              <a:solidFill>
                <a:srgbClr val="FFFFFF"/>
              </a:solidFill>
              <a:latin typeface="Aptos"/>
            </a:endParaRPr>
          </a:p>
        </p:txBody>
      </p:sp>
      <p:sp>
        <p:nvSpPr>
          <p:cNvPr id="8" name="Rounded Rectangle 7"/>
          <p:cNvSpPr/>
          <p:nvPr/>
        </p:nvSpPr>
        <p:spPr>
          <a:xfrm>
            <a:off x="914400" y="2240280"/>
            <a:ext cx="10332720" cy="1371600"/>
          </a:xfrm>
          <a:prstGeom prst="roundRect">
            <a:avLst/>
          </a:prstGeom>
          <a:solidFill>
            <a:srgbClr val="102A43"/>
          </a:solidFill>
          <a:ln w="12700">
            <a:solidFill>
              <a:srgbClr val="294A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34440" y="2596896"/>
            <a:ext cx="640080" cy="640080"/>
          </a:xfrm>
          <a:prstGeom prst="ellipse">
            <a:avLst/>
          </a:prstGeom>
          <a:solidFill>
            <a:srgbClr val="1E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4440" y="2596896"/>
            <a:ext cx="640080" cy="640080"/>
          </a:xfrm>
          <a:prstGeom prst="rect">
            <a:avLst/>
          </a:prstGeom>
          <a:noFill/>
        </p:spPr>
        <p:txBody>
          <a:bodyPr wrap="square" lIns="0" tIns="0" rIns="0" bIns="0" anchor="ctr">
            <a:spAutoFit/>
          </a:bodyPr>
          <a:lstStyle/>
          <a:p>
            <a:pPr algn="ctr">
              <a:spcBef>
                <a:spcPts val="0"/>
              </a:spcBef>
              <a:spcAft>
                <a:spcPts val="0"/>
              </a:spcAft>
            </a:pPr>
            <a:r>
              <a:rPr sz="1600" b="1" i="0">
                <a:solidFill>
                  <a:srgbClr val="FFFFFF"/>
                </a:solidFill>
                <a:latin typeface="Aptos"/>
              </a:rPr>
              <a:t>1</a:t>
            </a:r>
            <a:endParaRPr sz="1600" b="1" i="0">
              <a:solidFill>
                <a:srgbClr val="FFFFFF"/>
              </a:solidFill>
              <a:latin typeface="Aptos"/>
            </a:endParaRPr>
          </a:p>
        </p:txBody>
      </p:sp>
      <p:sp>
        <p:nvSpPr>
          <p:cNvPr id="11" name="TextBox 10"/>
          <p:cNvSpPr txBox="1"/>
          <p:nvPr/>
        </p:nvSpPr>
        <p:spPr>
          <a:xfrm>
            <a:off x="2057400" y="2697480"/>
            <a:ext cx="1417320" cy="310896"/>
          </a:xfrm>
          <a:prstGeom prst="rect">
            <a:avLst/>
          </a:prstGeom>
          <a:noFill/>
        </p:spPr>
        <p:txBody>
          <a:bodyPr wrap="square" lIns="0" tIns="0" rIns="0" bIns="0" anchor="t">
            <a:spAutoFit/>
          </a:bodyPr>
          <a:lstStyle/>
          <a:p>
            <a:pPr algn="l">
              <a:spcBef>
                <a:spcPts val="0"/>
              </a:spcBef>
              <a:spcAft>
                <a:spcPts val="0"/>
              </a:spcAft>
            </a:pPr>
            <a:r>
              <a:rPr sz="1500" b="1" i="0">
                <a:solidFill>
                  <a:srgbClr val="FFFFFF"/>
                </a:solidFill>
                <a:latin typeface="Aptos"/>
              </a:rPr>
              <a:t>PREPARE</a:t>
            </a:r>
            <a:endParaRPr sz="1500" b="1" i="0">
              <a:solidFill>
                <a:srgbClr val="FFFFFF"/>
              </a:solidFill>
              <a:latin typeface="Aptos"/>
            </a:endParaRPr>
          </a:p>
        </p:txBody>
      </p:sp>
      <p:cxnSp>
        <p:nvCxnSpPr>
          <p:cNvPr id="12" name="Connector 11"/>
          <p:cNvCxnSpPr/>
          <p:nvPr/>
        </p:nvCxnSpPr>
        <p:spPr>
          <a:xfrm>
            <a:off x="3200400" y="2907792"/>
            <a:ext cx="457200" cy="0"/>
          </a:xfrm>
          <a:prstGeom prst="line">
            <a:avLst/>
          </a:prstGeom>
          <a:ln w="25400">
            <a:solidFill>
              <a:srgbClr val="547189"/>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49039" y="2596896"/>
            <a:ext cx="640080" cy="64008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39" y="2596896"/>
            <a:ext cx="640080" cy="640080"/>
          </a:xfrm>
          <a:prstGeom prst="rect">
            <a:avLst/>
          </a:prstGeom>
          <a:noFill/>
        </p:spPr>
        <p:txBody>
          <a:bodyPr wrap="square" lIns="0" tIns="0" rIns="0" bIns="0" anchor="ctr">
            <a:spAutoFit/>
          </a:bodyPr>
          <a:lstStyle/>
          <a:p>
            <a:pPr algn="ctr">
              <a:spcBef>
                <a:spcPts val="0"/>
              </a:spcBef>
              <a:spcAft>
                <a:spcPts val="0"/>
              </a:spcAft>
            </a:pPr>
            <a:r>
              <a:rPr sz="1600" b="1" i="0">
                <a:solidFill>
                  <a:srgbClr val="FFFFFF"/>
                </a:solidFill>
                <a:latin typeface="Aptos"/>
              </a:rPr>
              <a:t>2</a:t>
            </a:r>
            <a:endParaRPr sz="1600" b="1" i="0">
              <a:solidFill>
                <a:srgbClr val="FFFFFF"/>
              </a:solidFill>
              <a:latin typeface="Aptos"/>
            </a:endParaRPr>
          </a:p>
        </p:txBody>
      </p:sp>
      <p:sp>
        <p:nvSpPr>
          <p:cNvPr id="15" name="TextBox 14"/>
          <p:cNvSpPr txBox="1"/>
          <p:nvPr/>
        </p:nvSpPr>
        <p:spPr>
          <a:xfrm>
            <a:off x="4572000" y="2697480"/>
            <a:ext cx="1417320" cy="310896"/>
          </a:xfrm>
          <a:prstGeom prst="rect">
            <a:avLst/>
          </a:prstGeom>
          <a:noFill/>
        </p:spPr>
        <p:txBody>
          <a:bodyPr wrap="square" lIns="0" tIns="0" rIns="0" bIns="0" anchor="t">
            <a:spAutoFit/>
          </a:bodyPr>
          <a:lstStyle/>
          <a:p>
            <a:pPr algn="l">
              <a:spcBef>
                <a:spcPts val="0"/>
              </a:spcBef>
              <a:spcAft>
                <a:spcPts val="0"/>
              </a:spcAft>
            </a:pPr>
            <a:r>
              <a:rPr sz="1500" b="1" i="0">
                <a:solidFill>
                  <a:srgbClr val="FFFFFF"/>
                </a:solidFill>
                <a:latin typeface="Aptos"/>
              </a:rPr>
              <a:t>DISPATCH</a:t>
            </a:r>
            <a:endParaRPr sz="1500" b="1" i="0">
              <a:solidFill>
                <a:srgbClr val="FFFFFF"/>
              </a:solidFill>
              <a:latin typeface="Aptos"/>
            </a:endParaRPr>
          </a:p>
        </p:txBody>
      </p:sp>
      <p:cxnSp>
        <p:nvCxnSpPr>
          <p:cNvPr id="16" name="Connector 15"/>
          <p:cNvCxnSpPr/>
          <p:nvPr/>
        </p:nvCxnSpPr>
        <p:spPr>
          <a:xfrm>
            <a:off x="5715000" y="2907792"/>
            <a:ext cx="457200" cy="0"/>
          </a:xfrm>
          <a:prstGeom prst="line">
            <a:avLst/>
          </a:prstGeom>
          <a:ln w="25400">
            <a:solidFill>
              <a:srgbClr val="547189"/>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263640" y="2596896"/>
            <a:ext cx="640080" cy="640080"/>
          </a:xfrm>
          <a:prstGeom prst="ellipse">
            <a:avLst/>
          </a:prstGeom>
          <a:solidFill>
            <a:srgbClr val="F2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2596896"/>
            <a:ext cx="640080" cy="640080"/>
          </a:xfrm>
          <a:prstGeom prst="rect">
            <a:avLst/>
          </a:prstGeom>
          <a:noFill/>
        </p:spPr>
        <p:txBody>
          <a:bodyPr wrap="square" lIns="0" tIns="0" rIns="0" bIns="0" anchor="ctr">
            <a:spAutoFit/>
          </a:bodyPr>
          <a:lstStyle/>
          <a:p>
            <a:pPr algn="ctr">
              <a:spcBef>
                <a:spcPts val="0"/>
              </a:spcBef>
              <a:spcAft>
                <a:spcPts val="0"/>
              </a:spcAft>
            </a:pPr>
            <a:r>
              <a:rPr sz="1600" b="1" i="0">
                <a:solidFill>
                  <a:srgbClr val="FFFFFF"/>
                </a:solidFill>
                <a:latin typeface="Aptos"/>
              </a:rPr>
              <a:t>3</a:t>
            </a:r>
            <a:endParaRPr sz="1600" b="1" i="0">
              <a:solidFill>
                <a:srgbClr val="FFFFFF"/>
              </a:solidFill>
              <a:latin typeface="Aptos"/>
            </a:endParaRPr>
          </a:p>
        </p:txBody>
      </p:sp>
      <p:sp>
        <p:nvSpPr>
          <p:cNvPr id="19" name="TextBox 18"/>
          <p:cNvSpPr txBox="1"/>
          <p:nvPr/>
        </p:nvSpPr>
        <p:spPr>
          <a:xfrm>
            <a:off x="7086600" y="2697480"/>
            <a:ext cx="1417320" cy="310896"/>
          </a:xfrm>
          <a:prstGeom prst="rect">
            <a:avLst/>
          </a:prstGeom>
          <a:noFill/>
        </p:spPr>
        <p:txBody>
          <a:bodyPr wrap="square" lIns="0" tIns="0" rIns="0" bIns="0" anchor="t">
            <a:spAutoFit/>
          </a:bodyPr>
          <a:lstStyle/>
          <a:p>
            <a:pPr algn="l">
              <a:spcBef>
                <a:spcPts val="0"/>
              </a:spcBef>
              <a:spcAft>
                <a:spcPts val="0"/>
              </a:spcAft>
            </a:pPr>
            <a:r>
              <a:rPr sz="1500" b="1" i="0">
                <a:solidFill>
                  <a:srgbClr val="FFFFFF"/>
                </a:solidFill>
                <a:latin typeface="Aptos"/>
              </a:rPr>
              <a:t>RETURN</a:t>
            </a:r>
            <a:endParaRPr sz="1500" b="1" i="0">
              <a:solidFill>
                <a:srgbClr val="FFFFFF"/>
              </a:solidFill>
              <a:latin typeface="Aptos"/>
            </a:endParaRPr>
          </a:p>
        </p:txBody>
      </p:sp>
      <p:cxnSp>
        <p:nvCxnSpPr>
          <p:cNvPr id="20" name="Connector 19"/>
          <p:cNvCxnSpPr/>
          <p:nvPr/>
        </p:nvCxnSpPr>
        <p:spPr>
          <a:xfrm>
            <a:off x="8229600" y="2907792"/>
            <a:ext cx="457200" cy="0"/>
          </a:xfrm>
          <a:prstGeom prst="line">
            <a:avLst/>
          </a:prstGeom>
          <a:ln w="25400">
            <a:solidFill>
              <a:srgbClr val="547189"/>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8778240" y="2596896"/>
            <a:ext cx="640080" cy="640080"/>
          </a:xfrm>
          <a:prstGeom prst="ellipse">
            <a:avLst/>
          </a:prstGeom>
          <a:solidFill>
            <a:srgbClr val="EF6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0" y="2596896"/>
            <a:ext cx="640080" cy="640080"/>
          </a:xfrm>
          <a:prstGeom prst="rect">
            <a:avLst/>
          </a:prstGeom>
          <a:noFill/>
        </p:spPr>
        <p:txBody>
          <a:bodyPr wrap="square" lIns="0" tIns="0" rIns="0" bIns="0" anchor="ctr">
            <a:spAutoFit/>
          </a:bodyPr>
          <a:lstStyle/>
          <a:p>
            <a:pPr algn="ctr">
              <a:spcBef>
                <a:spcPts val="0"/>
              </a:spcBef>
              <a:spcAft>
                <a:spcPts val="0"/>
              </a:spcAft>
            </a:pPr>
            <a:r>
              <a:rPr sz="1600" b="1" i="0">
                <a:solidFill>
                  <a:srgbClr val="FFFFFF"/>
                </a:solidFill>
                <a:latin typeface="Aptos"/>
              </a:rPr>
              <a:t>4</a:t>
            </a:r>
            <a:endParaRPr sz="1600" b="1" i="0">
              <a:solidFill>
                <a:srgbClr val="FFFFFF"/>
              </a:solidFill>
              <a:latin typeface="Aptos"/>
            </a:endParaRPr>
          </a:p>
        </p:txBody>
      </p:sp>
      <p:sp>
        <p:nvSpPr>
          <p:cNvPr id="23" name="TextBox 22"/>
          <p:cNvSpPr txBox="1"/>
          <p:nvPr/>
        </p:nvSpPr>
        <p:spPr>
          <a:xfrm>
            <a:off x="9601200" y="2697480"/>
            <a:ext cx="1417320" cy="310896"/>
          </a:xfrm>
          <a:prstGeom prst="rect">
            <a:avLst/>
          </a:prstGeom>
          <a:noFill/>
        </p:spPr>
        <p:txBody>
          <a:bodyPr wrap="square" lIns="0" tIns="0" rIns="0" bIns="0" anchor="t">
            <a:spAutoFit/>
          </a:bodyPr>
          <a:lstStyle/>
          <a:p>
            <a:pPr algn="l">
              <a:spcBef>
                <a:spcPts val="0"/>
              </a:spcBef>
              <a:spcAft>
                <a:spcPts val="0"/>
              </a:spcAft>
            </a:pPr>
            <a:r>
              <a:rPr sz="1500" b="1" i="0">
                <a:solidFill>
                  <a:srgbClr val="FFFFFF"/>
                </a:solidFill>
                <a:latin typeface="Aptos"/>
              </a:rPr>
              <a:t>HISTORY</a:t>
            </a:r>
            <a:endParaRPr sz="1500" b="1" i="0">
              <a:solidFill>
                <a:srgbClr val="FFFFFF"/>
              </a:solidFill>
              <a:latin typeface="Aptos"/>
            </a:endParaRPr>
          </a:p>
        </p:txBody>
      </p:sp>
      <p:sp>
        <p:nvSpPr>
          <p:cNvPr id="24" name="Rounded Rectangle 23"/>
          <p:cNvSpPr/>
          <p:nvPr/>
        </p:nvSpPr>
        <p:spPr>
          <a:xfrm>
            <a:off x="914400" y="4233672"/>
            <a:ext cx="2487168" cy="310896"/>
          </a:xfrm>
          <a:prstGeom prst="roundRect">
            <a:avLst/>
          </a:prstGeom>
          <a:solidFill>
            <a:srgbClr val="E8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233672"/>
            <a:ext cx="2304288" cy="310896"/>
          </a:xfrm>
          <a:prstGeom prst="rect">
            <a:avLst/>
          </a:prstGeom>
          <a:noFill/>
        </p:spPr>
        <p:txBody>
          <a:bodyPr wrap="square" lIns="0" tIns="0" rIns="0" bIns="0" anchor="ctr">
            <a:spAutoFit/>
          </a:bodyPr>
          <a:lstStyle/>
          <a:p>
            <a:pPr algn="ctr">
              <a:spcBef>
                <a:spcPts val="0"/>
              </a:spcBef>
              <a:spcAft>
                <a:spcPts val="0"/>
              </a:spcAft>
            </a:pPr>
            <a:r>
              <a:rPr sz="1050" b="1" i="0">
                <a:solidFill>
                  <a:srgbClr val="1E5EFF"/>
                </a:solidFill>
                <a:latin typeface="Aptos"/>
              </a:rPr>
              <a:t>AUTH + COMPANY</a:t>
            </a:r>
            <a:endParaRPr sz="1050" b="1" i="0">
              <a:solidFill>
                <a:srgbClr val="1E5EFF"/>
              </a:solidFill>
              <a:latin typeface="Aptos"/>
            </a:endParaRPr>
          </a:p>
        </p:txBody>
      </p:sp>
      <p:sp>
        <p:nvSpPr>
          <p:cNvPr id="26" name="Rounded Rectangle 25"/>
          <p:cNvSpPr/>
          <p:nvPr/>
        </p:nvSpPr>
        <p:spPr>
          <a:xfrm>
            <a:off x="3273552" y="4233672"/>
            <a:ext cx="2487168" cy="310896"/>
          </a:xfrm>
          <a:prstGeom prst="roundRect">
            <a:avLst/>
          </a:prstGeom>
          <a:solidFill>
            <a:srgbClr val="DF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64992" y="4233672"/>
            <a:ext cx="2304288" cy="310896"/>
          </a:xfrm>
          <a:prstGeom prst="rect">
            <a:avLst/>
          </a:prstGeom>
          <a:noFill/>
        </p:spPr>
        <p:txBody>
          <a:bodyPr wrap="square" lIns="0" tIns="0" rIns="0" bIns="0" anchor="ctr">
            <a:spAutoFit/>
          </a:bodyPr>
          <a:lstStyle/>
          <a:p>
            <a:pPr algn="ctr">
              <a:spcBef>
                <a:spcPts val="0"/>
              </a:spcBef>
              <a:spcAft>
                <a:spcPts val="0"/>
              </a:spcAft>
            </a:pPr>
            <a:r>
              <a:rPr sz="1050" b="1" i="0">
                <a:solidFill>
                  <a:srgbClr val="14B8A6"/>
                </a:solidFill>
                <a:latin typeface="Aptos"/>
              </a:rPr>
              <a:t>CUSTOMERS + LOCATIONS</a:t>
            </a:r>
            <a:endParaRPr sz="1050" b="1" i="0">
              <a:solidFill>
                <a:srgbClr val="14B8A6"/>
              </a:solidFill>
              <a:latin typeface="Aptos"/>
            </a:endParaRPr>
          </a:p>
        </p:txBody>
      </p:sp>
      <p:sp>
        <p:nvSpPr>
          <p:cNvPr id="28" name="Rounded Rectangle 27"/>
          <p:cNvSpPr/>
          <p:nvPr/>
        </p:nvSpPr>
        <p:spPr>
          <a:xfrm>
            <a:off x="5989320" y="4233672"/>
            <a:ext cx="2487168" cy="310896"/>
          </a:xfrm>
          <a:prstGeom prst="roundRect">
            <a:avLst/>
          </a:prstGeom>
          <a:solidFill>
            <a:srgbClr val="FFF0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80759" y="4233672"/>
            <a:ext cx="2304288" cy="310896"/>
          </a:xfrm>
          <a:prstGeom prst="rect">
            <a:avLst/>
          </a:prstGeom>
          <a:noFill/>
        </p:spPr>
        <p:txBody>
          <a:bodyPr wrap="square" lIns="0" tIns="0" rIns="0" bIns="0" anchor="ctr">
            <a:spAutoFit/>
          </a:bodyPr>
          <a:lstStyle/>
          <a:p>
            <a:pPr algn="ctr">
              <a:spcBef>
                <a:spcPts val="0"/>
              </a:spcBef>
              <a:spcAft>
                <a:spcPts val="0"/>
              </a:spcAft>
            </a:pPr>
            <a:r>
              <a:rPr sz="1050" b="1" i="0">
                <a:solidFill>
                  <a:srgbClr val="986A00"/>
                </a:solidFill>
                <a:latin typeface="Aptos"/>
              </a:rPr>
              <a:t>SERIALIZED + BULK ASSETS</a:t>
            </a:r>
            <a:endParaRPr sz="1050" b="1" i="0">
              <a:solidFill>
                <a:srgbClr val="986A00"/>
              </a:solidFill>
              <a:latin typeface="Aptos"/>
            </a:endParaRPr>
          </a:p>
        </p:txBody>
      </p:sp>
      <p:sp>
        <p:nvSpPr>
          <p:cNvPr id="30" name="Rounded Rectangle 29"/>
          <p:cNvSpPr/>
          <p:nvPr/>
        </p:nvSpPr>
        <p:spPr>
          <a:xfrm>
            <a:off x="8796528" y="4233672"/>
            <a:ext cx="2487168" cy="310896"/>
          </a:xfrm>
          <a:prstGeom prst="roundRect">
            <a:avLst/>
          </a:prstGeom>
          <a:solidFill>
            <a:srgbClr val="FFE6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87967" y="4233672"/>
            <a:ext cx="2304288" cy="310896"/>
          </a:xfrm>
          <a:prstGeom prst="rect">
            <a:avLst/>
          </a:prstGeom>
          <a:noFill/>
        </p:spPr>
        <p:txBody>
          <a:bodyPr wrap="square" lIns="0" tIns="0" rIns="0" bIns="0" anchor="ctr">
            <a:spAutoFit/>
          </a:bodyPr>
          <a:lstStyle/>
          <a:p>
            <a:pPr algn="ctr">
              <a:spcBef>
                <a:spcPts val="0"/>
              </a:spcBef>
              <a:spcAft>
                <a:spcPts val="0"/>
              </a:spcAft>
            </a:pPr>
            <a:r>
              <a:rPr sz="1050" b="1" i="0">
                <a:solidFill>
                  <a:srgbClr val="EF6A5B"/>
                </a:solidFill>
                <a:latin typeface="Aptos"/>
              </a:rPr>
              <a:t>QR + PRIVATE EVIDENCE</a:t>
            </a:r>
            <a:endParaRPr sz="1050" b="1" i="0">
              <a:solidFill>
                <a:srgbClr val="EF6A5B"/>
              </a:solidFill>
              <a:latin typeface="Aptos"/>
            </a:endParaRPr>
          </a:p>
        </p:txBody>
      </p:sp>
      <p:sp>
        <p:nvSpPr>
          <p:cNvPr id="32" name="TextBox 31"/>
          <p:cNvSpPr txBox="1"/>
          <p:nvPr/>
        </p:nvSpPr>
        <p:spPr>
          <a:xfrm>
            <a:off x="914400" y="4983480"/>
            <a:ext cx="10332720" cy="530352"/>
          </a:xfrm>
          <a:prstGeom prst="rect">
            <a:avLst/>
          </a:prstGeom>
          <a:noFill/>
        </p:spPr>
        <p:txBody>
          <a:bodyPr wrap="square" lIns="0" tIns="0" rIns="0" bIns="0" anchor="t">
            <a:spAutoFit/>
          </a:bodyPr>
          <a:lstStyle/>
          <a:p>
            <a:pPr algn="ctr">
              <a:spcBef>
                <a:spcPts val="0"/>
              </a:spcBef>
              <a:spcAft>
                <a:spcPts val="0"/>
              </a:spcAft>
            </a:pPr>
            <a:r>
              <a:rPr sz="1800" b="0" i="0">
                <a:solidFill>
                  <a:srgbClr val="C5D3DE"/>
                </a:solidFill>
                <a:latin typeface="Aptos"/>
              </a:rPr>
              <a:t>Adaptive phone + large-screen layouts • loading / empty / error / recovery states</a:t>
            </a:r>
            <a:endParaRPr sz="1800" b="0" i="0">
              <a:solidFill>
                <a:srgbClr val="C5D3DE"/>
              </a:solidFill>
              <a:latin typeface="Aptos"/>
            </a:endParaRPr>
          </a:p>
        </p:txBody>
      </p:sp>
      <p:sp>
        <p:nvSpPr>
          <p:cNvPr id="33" name="TextBox 32"/>
          <p:cNvSpPr txBox="1"/>
          <p:nvPr/>
        </p:nvSpPr>
        <p:spPr>
          <a:xfrm>
            <a:off x="658368" y="6519672"/>
            <a:ext cx="3840480" cy="146304"/>
          </a:xfrm>
          <a:prstGeom prst="rect">
            <a:avLst/>
          </a:prstGeom>
          <a:noFill/>
        </p:spPr>
        <p:txBody>
          <a:bodyPr wrap="square" lIns="0" tIns="0" rIns="0" bIns="0" anchor="t">
            <a:spAutoFit/>
          </a:bodyPr>
          <a:lstStyle/>
          <a:p>
            <a:pPr algn="l">
              <a:spcBef>
                <a:spcPts val="0"/>
              </a:spcBef>
              <a:spcAft>
                <a:spcPts val="0"/>
              </a:spcAft>
            </a:pPr>
            <a:r>
              <a:rPr sz="850" b="1" i="0">
                <a:solidFill>
                  <a:srgbClr val="A8BBCB"/>
                </a:solidFill>
                <a:latin typeface="Aptos"/>
              </a:rPr>
              <a:t>ETRELAY: RENTAL OPERATIONS</a:t>
            </a:r>
            <a:endParaRPr sz="850" b="1" i="0">
              <a:solidFill>
                <a:srgbClr val="A8BBCB"/>
              </a:solidFill>
              <a:latin typeface="Aptos"/>
            </a:endParaRPr>
          </a:p>
        </p:txBody>
      </p:sp>
      <p:sp>
        <p:nvSpPr>
          <p:cNvPr id="34" name="TextBox 33"/>
          <p:cNvSpPr txBox="1"/>
          <p:nvPr/>
        </p:nvSpPr>
        <p:spPr>
          <a:xfrm>
            <a:off x="7680960" y="6519672"/>
            <a:ext cx="3840480" cy="146304"/>
          </a:xfrm>
          <a:prstGeom prst="rect">
            <a:avLst/>
          </a:prstGeom>
          <a:noFill/>
        </p:spPr>
        <p:txBody>
          <a:bodyPr wrap="square" lIns="0" tIns="0" rIns="0" bIns="0" anchor="t">
            <a:spAutoFit/>
          </a:bodyPr>
          <a:lstStyle/>
          <a:p>
            <a:pPr algn="r">
              <a:spcBef>
                <a:spcPts val="0"/>
              </a:spcBef>
              <a:spcAft>
                <a:spcPts val="0"/>
              </a:spcAft>
            </a:pPr>
            <a:r>
              <a:rPr sz="850" b="0" i="0">
                <a:solidFill>
                  <a:srgbClr val="A8BBCB"/>
                </a:solidFill>
                <a:latin typeface="Aptos"/>
              </a:rPr>
              <a:t>TRAN KHANH BINH • 2231200127</a:t>
            </a:r>
            <a:endParaRPr sz="850" b="0" i="0">
              <a:solidFill>
                <a:srgbClr val="A8BBCB"/>
              </a:solidFill>
              <a:latin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7680960" cy="237744"/>
          </a:xfrm>
          <a:prstGeom prst="rect">
            <a:avLst/>
          </a:prstGeom>
          <a:noFill/>
        </p:spPr>
        <p:txBody>
          <a:bodyPr wrap="square" lIns="0" tIns="0" rIns="0" bIns="0" anchor="t">
            <a:spAutoFit/>
          </a:bodyPr>
          <a:lstStyle/>
          <a:p>
            <a:pPr algn="l">
              <a:spcBef>
                <a:spcPts val="0"/>
              </a:spcBef>
              <a:spcAft>
                <a:spcPts val="0"/>
              </a:spcAft>
            </a:pPr>
            <a:r>
              <a:rPr sz="1000" b="1" i="0">
                <a:solidFill>
                  <a:srgbClr val="1E5EFF"/>
                </a:solidFill>
                <a:latin typeface="Aptos Display"/>
              </a:rPr>
              <a:t>CSW430 • MOBILE APPLICATION DEVELOPMENT</a:t>
            </a:r>
            <a:endParaRPr sz="1000" b="1" i="0">
              <a:solidFill>
                <a:srgbClr val="1E5EFF"/>
              </a:solidFill>
              <a:latin typeface="Aptos Display"/>
            </a:endParaRPr>
          </a:p>
        </p:txBody>
      </p:sp>
      <p:sp>
        <p:nvSpPr>
          <p:cNvPr id="4" name="TextBox 3"/>
          <p:cNvSpPr txBox="1"/>
          <p:nvPr/>
        </p:nvSpPr>
        <p:spPr>
          <a:xfrm>
            <a:off x="658368" y="658368"/>
            <a:ext cx="9875520" cy="585216"/>
          </a:xfrm>
          <a:prstGeom prst="rect">
            <a:avLst/>
          </a:prstGeom>
          <a:noFill/>
        </p:spPr>
        <p:txBody>
          <a:bodyPr wrap="square" lIns="0" tIns="0" rIns="0" bIns="0" anchor="t">
            <a:spAutoFit/>
          </a:bodyPr>
          <a:lstStyle/>
          <a:p>
            <a:pPr algn="l">
              <a:spcBef>
                <a:spcPts val="0"/>
              </a:spcBef>
              <a:spcAft>
                <a:spcPts val="0"/>
              </a:spcAft>
            </a:pPr>
            <a:r>
              <a:rPr sz="2900" b="1" i="0">
                <a:solidFill>
                  <a:srgbClr val="0B1F33"/>
                </a:solidFill>
                <a:latin typeface="Aptos Display"/>
              </a:rPr>
              <a:t>Technology and architecture</a:t>
            </a:r>
            <a:endParaRPr sz="2900" b="1" i="0">
              <a:solidFill>
                <a:srgbClr val="0B1F33"/>
              </a:solidFill>
              <a:latin typeface="Aptos Display"/>
            </a:endParaRPr>
          </a:p>
        </p:txBody>
      </p:sp>
      <p:sp>
        <p:nvSpPr>
          <p:cNvPr id="5" name="TextBox 4"/>
          <p:cNvSpPr txBox="1"/>
          <p:nvPr/>
        </p:nvSpPr>
        <p:spPr>
          <a:xfrm>
            <a:off x="676656" y="1252728"/>
            <a:ext cx="9966960" cy="347472"/>
          </a:xfrm>
          <a:prstGeom prst="rect">
            <a:avLst/>
          </a:prstGeom>
          <a:noFill/>
        </p:spPr>
        <p:txBody>
          <a:bodyPr wrap="square" lIns="0" tIns="0" rIns="0" bIns="0" anchor="t">
            <a:spAutoFit/>
          </a:bodyPr>
          <a:lstStyle/>
          <a:p>
            <a:pPr algn="l">
              <a:spcBef>
                <a:spcPts val="0"/>
              </a:spcBef>
              <a:spcAft>
                <a:spcPts val="0"/>
              </a:spcAft>
            </a:pPr>
            <a:r>
              <a:rPr sz="1300" b="0" i="0">
                <a:solidFill>
                  <a:srgbClr val="5F6B76"/>
                </a:solidFill>
                <a:latin typeface="Aptos"/>
              </a:rPr>
              <a:t>Flutter, a self-developed REST API, and a local relational database.</a:t>
            </a:r>
            <a:endParaRPr sz="1300" b="0" i="0">
              <a:solidFill>
                <a:srgbClr val="5F6B76"/>
              </a:solidFill>
              <a:latin typeface="Aptos"/>
            </a:endParaRPr>
          </a:p>
        </p:txBody>
      </p:sp>
      <p:sp>
        <p:nvSpPr>
          <p:cNvPr id="6" name="Rounded Rectangle 5"/>
          <p:cNvSpPr/>
          <p:nvPr/>
        </p:nvSpPr>
        <p:spPr>
          <a:xfrm>
            <a:off x="11064240" y="320040"/>
            <a:ext cx="502920" cy="384048"/>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20040"/>
            <a:ext cx="502920" cy="384048"/>
          </a:xfrm>
          <a:prstGeom prst="rect">
            <a:avLst/>
          </a:prstGeom>
          <a:noFill/>
        </p:spPr>
        <p:txBody>
          <a:bodyPr wrap="square" lIns="0" tIns="0" rIns="0" bIns="0" anchor="ctr">
            <a:spAutoFit/>
          </a:bodyPr>
          <a:lstStyle/>
          <a:p>
            <a:pPr algn="ctr">
              <a:spcBef>
                <a:spcPts val="0"/>
              </a:spcBef>
              <a:spcAft>
                <a:spcPts val="0"/>
              </a:spcAft>
            </a:pPr>
            <a:r>
              <a:rPr sz="1200" b="1" i="0">
                <a:solidFill>
                  <a:srgbClr val="FFFFFF"/>
                </a:solidFill>
                <a:latin typeface="Aptos"/>
              </a:rPr>
              <a:t>06</a:t>
            </a:r>
            <a:endParaRPr sz="1200" b="1" i="0">
              <a:solidFill>
                <a:srgbClr val="FFFFFF"/>
              </a:solidFill>
              <a:latin typeface="Aptos"/>
            </a:endParaRPr>
          </a:p>
        </p:txBody>
      </p:sp>
      <p:sp>
        <p:nvSpPr>
          <p:cNvPr id="8" name="Rounded Rectangle 7"/>
          <p:cNvSpPr/>
          <p:nvPr/>
        </p:nvSpPr>
        <p:spPr>
          <a:xfrm>
            <a:off x="658368" y="1609344"/>
            <a:ext cx="7360920" cy="4407408"/>
          </a:xfrm>
          <a:prstGeom prst="roundRect">
            <a:avLst/>
          </a:prstGeom>
          <a:solidFill>
            <a:srgbClr val="FFFFFF"/>
          </a:solidFill>
          <a:ln w="1016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architecture.png"/>
          <p:cNvPicPr>
            <a:picLocks noChangeAspect="1"/>
          </p:cNvPicPr>
          <p:nvPr/>
        </p:nvPicPr>
        <p:blipFill>
          <a:blip r:embed="rId1"/>
          <a:stretch>
            <a:fillRect/>
          </a:stretch>
        </p:blipFill>
        <p:spPr>
          <a:xfrm>
            <a:off x="822960" y="2031674"/>
            <a:ext cx="7031736" cy="3562746"/>
          </a:xfrm>
          <a:prstGeom prst="rect">
            <a:avLst/>
          </a:prstGeom>
        </p:spPr>
      </p:pic>
      <p:sp>
        <p:nvSpPr>
          <p:cNvPr id="10" name="Rounded Rectangle 9"/>
          <p:cNvSpPr/>
          <p:nvPr/>
        </p:nvSpPr>
        <p:spPr>
          <a:xfrm>
            <a:off x="8321040" y="1664208"/>
            <a:ext cx="3200400" cy="786384"/>
          </a:xfrm>
          <a:prstGeom prst="roundRect">
            <a:avLst/>
          </a:prstGeom>
          <a:solidFill>
            <a:srgbClr val="E8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1783080"/>
            <a:ext cx="1389888" cy="228600"/>
          </a:xfrm>
          <a:prstGeom prst="rect">
            <a:avLst/>
          </a:prstGeom>
          <a:noFill/>
        </p:spPr>
        <p:txBody>
          <a:bodyPr wrap="square" lIns="0" tIns="0" rIns="0" bIns="0" anchor="t">
            <a:spAutoFit/>
          </a:bodyPr>
          <a:lstStyle/>
          <a:p>
            <a:pPr algn="l">
              <a:spcBef>
                <a:spcPts val="0"/>
              </a:spcBef>
              <a:spcAft>
                <a:spcPts val="0"/>
              </a:spcAft>
            </a:pPr>
            <a:r>
              <a:rPr sz="1100" b="1" i="0">
                <a:solidFill>
                  <a:srgbClr val="1E5EFF"/>
                </a:solidFill>
                <a:latin typeface="Aptos"/>
              </a:rPr>
              <a:t>MOBILE</a:t>
            </a:r>
            <a:endParaRPr sz="1100" b="1" i="0">
              <a:solidFill>
                <a:srgbClr val="1E5EFF"/>
              </a:solidFill>
              <a:latin typeface="Aptos"/>
            </a:endParaRPr>
          </a:p>
        </p:txBody>
      </p:sp>
      <p:sp>
        <p:nvSpPr>
          <p:cNvPr id="12" name="TextBox 11"/>
          <p:cNvSpPr txBox="1"/>
          <p:nvPr/>
        </p:nvSpPr>
        <p:spPr>
          <a:xfrm>
            <a:off x="9875520" y="1783080"/>
            <a:ext cx="1417320" cy="438912"/>
          </a:xfrm>
          <a:prstGeom prst="rect">
            <a:avLst/>
          </a:prstGeom>
          <a:noFill/>
        </p:spPr>
        <p:txBody>
          <a:bodyPr wrap="square" lIns="0" tIns="0" rIns="0" bIns="0" anchor="t">
            <a:spAutoFit/>
          </a:bodyPr>
          <a:lstStyle/>
          <a:p>
            <a:pPr algn="r">
              <a:spcBef>
                <a:spcPts val="0"/>
              </a:spcBef>
              <a:spcAft>
                <a:spcPts val="0"/>
              </a:spcAft>
            </a:pPr>
            <a:r>
              <a:rPr sz="1200" b="0" i="0">
                <a:solidFill>
                  <a:srgbClr val="0B1F33"/>
                </a:solidFill>
                <a:latin typeface="Aptos"/>
              </a:rPr>
              <a:t>Flutter • Dart • Riverpod</a:t>
            </a:r>
            <a:endParaRPr sz="1200" b="0" i="0">
              <a:solidFill>
                <a:srgbClr val="0B1F33"/>
              </a:solidFill>
              <a:latin typeface="Aptos"/>
            </a:endParaRPr>
          </a:p>
        </p:txBody>
      </p:sp>
      <p:sp>
        <p:nvSpPr>
          <p:cNvPr id="13" name="Rounded Rectangle 12"/>
          <p:cNvSpPr/>
          <p:nvPr/>
        </p:nvSpPr>
        <p:spPr>
          <a:xfrm>
            <a:off x="8321040" y="2578608"/>
            <a:ext cx="3200400" cy="786384"/>
          </a:xfrm>
          <a:prstGeom prst="roundRect">
            <a:avLst/>
          </a:prstGeom>
          <a:solidFill>
            <a:srgbClr val="DF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2697480"/>
            <a:ext cx="1389888" cy="228600"/>
          </a:xfrm>
          <a:prstGeom prst="rect">
            <a:avLst/>
          </a:prstGeom>
          <a:noFill/>
        </p:spPr>
        <p:txBody>
          <a:bodyPr wrap="square" lIns="0" tIns="0" rIns="0" bIns="0" anchor="t">
            <a:spAutoFit/>
          </a:bodyPr>
          <a:lstStyle/>
          <a:p>
            <a:pPr algn="l">
              <a:spcBef>
                <a:spcPts val="0"/>
              </a:spcBef>
              <a:spcAft>
                <a:spcPts val="0"/>
              </a:spcAft>
            </a:pPr>
            <a:r>
              <a:rPr sz="1100" b="1" i="0">
                <a:solidFill>
                  <a:srgbClr val="14B8A6"/>
                </a:solidFill>
                <a:latin typeface="Aptos"/>
              </a:rPr>
              <a:t>BACKEND / API</a:t>
            </a:r>
            <a:endParaRPr sz="1100" b="1" i="0">
              <a:solidFill>
                <a:srgbClr val="14B8A6"/>
              </a:solidFill>
              <a:latin typeface="Aptos"/>
            </a:endParaRPr>
          </a:p>
        </p:txBody>
      </p:sp>
      <p:sp>
        <p:nvSpPr>
          <p:cNvPr id="15" name="TextBox 14"/>
          <p:cNvSpPr txBox="1"/>
          <p:nvPr/>
        </p:nvSpPr>
        <p:spPr>
          <a:xfrm>
            <a:off x="9875520" y="2697480"/>
            <a:ext cx="1417320" cy="438912"/>
          </a:xfrm>
          <a:prstGeom prst="rect">
            <a:avLst/>
          </a:prstGeom>
          <a:noFill/>
        </p:spPr>
        <p:txBody>
          <a:bodyPr wrap="square" lIns="0" tIns="0" rIns="0" bIns="0" anchor="t">
            <a:spAutoFit/>
          </a:bodyPr>
          <a:lstStyle/>
          <a:p>
            <a:pPr algn="r">
              <a:spcBef>
                <a:spcPts val="0"/>
              </a:spcBef>
              <a:spcAft>
                <a:spcPts val="0"/>
              </a:spcAft>
            </a:pPr>
            <a:r>
              <a:rPr sz="1200" b="0" i="0">
                <a:solidFill>
                  <a:srgbClr val="0B1F33"/>
                </a:solidFill>
                <a:latin typeface="Aptos"/>
              </a:rPr>
              <a:t>Node.js • Express • Zod</a:t>
            </a:r>
            <a:endParaRPr sz="1200" b="0" i="0">
              <a:solidFill>
                <a:srgbClr val="0B1F33"/>
              </a:solidFill>
              <a:latin typeface="Aptos"/>
            </a:endParaRPr>
          </a:p>
        </p:txBody>
      </p:sp>
      <p:sp>
        <p:nvSpPr>
          <p:cNvPr id="16" name="Rounded Rectangle 15"/>
          <p:cNvSpPr/>
          <p:nvPr/>
        </p:nvSpPr>
        <p:spPr>
          <a:xfrm>
            <a:off x="8321040" y="3493008"/>
            <a:ext cx="3200400" cy="786384"/>
          </a:xfrm>
          <a:prstGeom prst="roundRect">
            <a:avLst/>
          </a:prstGeom>
          <a:solidFill>
            <a:srgbClr val="FFF0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49640" y="3611880"/>
            <a:ext cx="1389888" cy="228600"/>
          </a:xfrm>
          <a:prstGeom prst="rect">
            <a:avLst/>
          </a:prstGeom>
          <a:noFill/>
        </p:spPr>
        <p:txBody>
          <a:bodyPr wrap="square" lIns="0" tIns="0" rIns="0" bIns="0" anchor="t">
            <a:spAutoFit/>
          </a:bodyPr>
          <a:lstStyle/>
          <a:p>
            <a:pPr algn="l">
              <a:spcBef>
                <a:spcPts val="0"/>
              </a:spcBef>
              <a:spcAft>
                <a:spcPts val="0"/>
              </a:spcAft>
            </a:pPr>
            <a:r>
              <a:rPr sz="1100" b="1" i="0">
                <a:solidFill>
                  <a:srgbClr val="F2B544"/>
                </a:solidFill>
                <a:latin typeface="Aptos"/>
              </a:rPr>
              <a:t>DATABASE</a:t>
            </a:r>
            <a:endParaRPr sz="1100" b="1" i="0">
              <a:solidFill>
                <a:srgbClr val="F2B544"/>
              </a:solidFill>
              <a:latin typeface="Aptos"/>
            </a:endParaRPr>
          </a:p>
        </p:txBody>
      </p:sp>
      <p:sp>
        <p:nvSpPr>
          <p:cNvPr id="18" name="TextBox 17"/>
          <p:cNvSpPr txBox="1"/>
          <p:nvPr/>
        </p:nvSpPr>
        <p:spPr>
          <a:xfrm>
            <a:off x="9875520" y="3611880"/>
            <a:ext cx="1417320" cy="438912"/>
          </a:xfrm>
          <a:prstGeom prst="rect">
            <a:avLst/>
          </a:prstGeom>
          <a:noFill/>
        </p:spPr>
        <p:txBody>
          <a:bodyPr wrap="square" lIns="0" tIns="0" rIns="0" bIns="0" anchor="t">
            <a:spAutoFit/>
          </a:bodyPr>
          <a:lstStyle/>
          <a:p>
            <a:pPr algn="r">
              <a:spcBef>
                <a:spcPts val="0"/>
              </a:spcBef>
              <a:spcAft>
                <a:spcPts val="0"/>
              </a:spcAft>
            </a:pPr>
            <a:r>
              <a:rPr sz="1200" b="0" i="0">
                <a:solidFill>
                  <a:srgbClr val="0B1F33"/>
                </a:solidFill>
                <a:latin typeface="Aptos"/>
              </a:rPr>
              <a:t>PostgreSQL • pg • indexes</a:t>
            </a:r>
            <a:endParaRPr sz="1200" b="0" i="0">
              <a:solidFill>
                <a:srgbClr val="0B1F33"/>
              </a:solidFill>
              <a:latin typeface="Aptos"/>
            </a:endParaRPr>
          </a:p>
        </p:txBody>
      </p:sp>
      <p:sp>
        <p:nvSpPr>
          <p:cNvPr id="19" name="Rounded Rectangle 18"/>
          <p:cNvSpPr/>
          <p:nvPr/>
        </p:nvSpPr>
        <p:spPr>
          <a:xfrm>
            <a:off x="8321040" y="4407408"/>
            <a:ext cx="3200400" cy="786384"/>
          </a:xfrm>
          <a:prstGeom prst="roundRect">
            <a:avLst/>
          </a:prstGeom>
          <a:solidFill>
            <a:srgbClr val="FFE6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49640" y="4526280"/>
            <a:ext cx="1389888" cy="228600"/>
          </a:xfrm>
          <a:prstGeom prst="rect">
            <a:avLst/>
          </a:prstGeom>
          <a:noFill/>
        </p:spPr>
        <p:txBody>
          <a:bodyPr wrap="square" lIns="0" tIns="0" rIns="0" bIns="0" anchor="t">
            <a:spAutoFit/>
          </a:bodyPr>
          <a:lstStyle/>
          <a:p>
            <a:pPr algn="l">
              <a:spcBef>
                <a:spcPts val="0"/>
              </a:spcBef>
              <a:spcAft>
                <a:spcPts val="0"/>
              </a:spcAft>
            </a:pPr>
            <a:r>
              <a:rPr sz="1100" b="1" i="0">
                <a:solidFill>
                  <a:srgbClr val="EF6A5B"/>
                </a:solidFill>
                <a:latin typeface="Aptos"/>
              </a:rPr>
              <a:t>PRIVATE MEDIA</a:t>
            </a:r>
            <a:endParaRPr sz="1100" b="1" i="0">
              <a:solidFill>
                <a:srgbClr val="EF6A5B"/>
              </a:solidFill>
              <a:latin typeface="Aptos"/>
            </a:endParaRPr>
          </a:p>
        </p:txBody>
      </p:sp>
      <p:sp>
        <p:nvSpPr>
          <p:cNvPr id="21" name="TextBox 20"/>
          <p:cNvSpPr txBox="1"/>
          <p:nvPr/>
        </p:nvSpPr>
        <p:spPr>
          <a:xfrm>
            <a:off x="9875520" y="4526280"/>
            <a:ext cx="1417320" cy="438912"/>
          </a:xfrm>
          <a:prstGeom prst="rect">
            <a:avLst/>
          </a:prstGeom>
          <a:noFill/>
        </p:spPr>
        <p:txBody>
          <a:bodyPr wrap="square" lIns="0" tIns="0" rIns="0" bIns="0" anchor="t">
            <a:spAutoFit/>
          </a:bodyPr>
          <a:lstStyle/>
          <a:p>
            <a:pPr algn="r">
              <a:spcBef>
                <a:spcPts val="0"/>
              </a:spcBef>
              <a:spcAft>
                <a:spcPts val="0"/>
              </a:spcAft>
            </a:pPr>
            <a:r>
              <a:rPr sz="1200" b="0" i="0">
                <a:solidFill>
                  <a:srgbClr val="0B1F33"/>
                </a:solidFill>
                <a:latin typeface="Aptos"/>
              </a:rPr>
              <a:t>Local JWT authentication</a:t>
            </a:r>
            <a:endParaRPr sz="1200" b="0" i="0">
              <a:solidFill>
                <a:srgbClr val="0B1F33"/>
              </a:solidFill>
              <a:latin typeface="Aptos"/>
            </a:endParaRPr>
          </a:p>
        </p:txBody>
      </p:sp>
      <p:sp>
        <p:nvSpPr>
          <p:cNvPr id="22" name="Rounded Rectangle 21"/>
          <p:cNvSpPr/>
          <p:nvPr/>
        </p:nvSpPr>
        <p:spPr>
          <a:xfrm>
            <a:off x="8321040" y="5468112"/>
            <a:ext cx="3200400" cy="566928"/>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0" y="5559552"/>
            <a:ext cx="2834640" cy="365760"/>
          </a:xfrm>
          <a:prstGeom prst="rect">
            <a:avLst/>
          </a:prstGeom>
          <a:noFill/>
        </p:spPr>
        <p:txBody>
          <a:bodyPr wrap="square" lIns="0" tIns="0" rIns="0" bIns="0" anchor="t">
            <a:spAutoFit/>
          </a:bodyPr>
          <a:lstStyle/>
          <a:p>
            <a:pPr algn="ctr">
              <a:spcBef>
                <a:spcPts val="0"/>
              </a:spcBef>
              <a:spcAft>
                <a:spcPts val="0"/>
              </a:spcAft>
            </a:pPr>
            <a:r>
              <a:rPr sz="1130" b="1" i="0">
                <a:solidFill>
                  <a:srgbClr val="FFFFFF"/>
                </a:solidFill>
                <a:latin typeface="Aptos"/>
              </a:rPr>
              <a:t>Flutter → Node.js + Express REST API → local PostgreSQL. Local JWT provides identity only.</a:t>
            </a:r>
            <a:endParaRPr sz="1130" b="1" i="0">
              <a:solidFill>
                <a:srgbClr val="FFFFFF"/>
              </a:solidFill>
              <a:latin typeface="Aptos"/>
            </a:endParaRPr>
          </a:p>
        </p:txBody>
      </p:sp>
      <p:sp>
        <p:nvSpPr>
          <p:cNvPr id="24" name="TextBox 23"/>
          <p:cNvSpPr txBox="1"/>
          <p:nvPr/>
        </p:nvSpPr>
        <p:spPr>
          <a:xfrm>
            <a:off x="658368" y="6519672"/>
            <a:ext cx="3840480" cy="146304"/>
          </a:xfrm>
          <a:prstGeom prst="rect">
            <a:avLst/>
          </a:prstGeom>
          <a:noFill/>
        </p:spPr>
        <p:txBody>
          <a:bodyPr wrap="square" lIns="0" tIns="0" rIns="0" bIns="0" anchor="t">
            <a:spAutoFit/>
          </a:bodyPr>
          <a:lstStyle/>
          <a:p>
            <a:pPr algn="l">
              <a:spcBef>
                <a:spcPts val="0"/>
              </a:spcBef>
              <a:spcAft>
                <a:spcPts val="0"/>
              </a:spcAft>
            </a:pPr>
            <a:r>
              <a:rPr sz="850" b="1" i="0">
                <a:solidFill>
                  <a:srgbClr val="7A858F"/>
                </a:solidFill>
                <a:latin typeface="Aptos"/>
              </a:rPr>
              <a:t>ETRELAY: RENTAL OPERATIONS</a:t>
            </a:r>
            <a:endParaRPr sz="850" b="1" i="0">
              <a:solidFill>
                <a:srgbClr val="7A858F"/>
              </a:solidFill>
              <a:latin typeface="Aptos"/>
            </a:endParaRPr>
          </a:p>
        </p:txBody>
      </p:sp>
      <p:sp>
        <p:nvSpPr>
          <p:cNvPr id="25" name="TextBox 24"/>
          <p:cNvSpPr txBox="1"/>
          <p:nvPr/>
        </p:nvSpPr>
        <p:spPr>
          <a:xfrm>
            <a:off x="7680960" y="6519672"/>
            <a:ext cx="3840480" cy="146304"/>
          </a:xfrm>
          <a:prstGeom prst="rect">
            <a:avLst/>
          </a:prstGeom>
          <a:noFill/>
        </p:spPr>
        <p:txBody>
          <a:bodyPr wrap="square" lIns="0" tIns="0" rIns="0" bIns="0" anchor="t">
            <a:spAutoFit/>
          </a:bodyPr>
          <a:lstStyle/>
          <a:p>
            <a:pPr algn="r">
              <a:spcBef>
                <a:spcPts val="0"/>
              </a:spcBef>
              <a:spcAft>
                <a:spcPts val="0"/>
              </a:spcAft>
            </a:pPr>
            <a:r>
              <a:rPr sz="850" b="0" i="0">
                <a:solidFill>
                  <a:srgbClr val="7A858F"/>
                </a:solidFill>
                <a:latin typeface="Aptos"/>
              </a:rPr>
              <a:t>TRAN KHANH BINH • 2231200127</a:t>
            </a:r>
            <a:endParaRPr sz="850" b="0" i="0">
              <a:solidFill>
                <a:srgbClr val="7A858F"/>
              </a:solidFill>
              <a:latin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7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7680960" cy="237744"/>
          </a:xfrm>
          <a:prstGeom prst="rect">
            <a:avLst/>
          </a:prstGeom>
          <a:noFill/>
        </p:spPr>
        <p:txBody>
          <a:bodyPr wrap="square" lIns="0" tIns="0" rIns="0" bIns="0" anchor="t">
            <a:spAutoFit/>
          </a:bodyPr>
          <a:lstStyle/>
          <a:p>
            <a:pPr algn="l">
              <a:spcBef>
                <a:spcPts val="0"/>
              </a:spcBef>
              <a:spcAft>
                <a:spcPts val="0"/>
              </a:spcAft>
            </a:pPr>
            <a:r>
              <a:rPr sz="1000" b="1" i="0">
                <a:solidFill>
                  <a:srgbClr val="1E5EFF"/>
                </a:solidFill>
                <a:latin typeface="Aptos Display"/>
              </a:rPr>
              <a:t>CSW430 • MOBILE APPLICATION DEVELOPMENT</a:t>
            </a:r>
            <a:endParaRPr sz="1000" b="1" i="0">
              <a:solidFill>
                <a:srgbClr val="1E5EFF"/>
              </a:solidFill>
              <a:latin typeface="Aptos Display"/>
            </a:endParaRPr>
          </a:p>
        </p:txBody>
      </p:sp>
      <p:sp>
        <p:nvSpPr>
          <p:cNvPr id="4" name="TextBox 3"/>
          <p:cNvSpPr txBox="1"/>
          <p:nvPr/>
        </p:nvSpPr>
        <p:spPr>
          <a:xfrm>
            <a:off x="658368" y="658368"/>
            <a:ext cx="9875520" cy="585216"/>
          </a:xfrm>
          <a:prstGeom prst="rect">
            <a:avLst/>
          </a:prstGeom>
          <a:noFill/>
        </p:spPr>
        <p:txBody>
          <a:bodyPr wrap="square" lIns="0" tIns="0" rIns="0" bIns="0" anchor="t">
            <a:spAutoFit/>
          </a:bodyPr>
          <a:lstStyle/>
          <a:p>
            <a:pPr algn="l">
              <a:spcBef>
                <a:spcPts val="0"/>
              </a:spcBef>
              <a:spcAft>
                <a:spcPts val="0"/>
              </a:spcAft>
            </a:pPr>
            <a:r>
              <a:rPr sz="2900" b="1" i="0">
                <a:solidFill>
                  <a:srgbClr val="0B1F33"/>
                </a:solidFill>
                <a:latin typeface="Aptos Display"/>
              </a:rPr>
              <a:t>Analysis: users and authorization</a:t>
            </a:r>
            <a:endParaRPr sz="2900" b="1" i="0">
              <a:solidFill>
                <a:srgbClr val="0B1F33"/>
              </a:solidFill>
              <a:latin typeface="Aptos Display"/>
            </a:endParaRPr>
          </a:p>
        </p:txBody>
      </p:sp>
      <p:sp>
        <p:nvSpPr>
          <p:cNvPr id="5" name="TextBox 4"/>
          <p:cNvSpPr txBox="1"/>
          <p:nvPr/>
        </p:nvSpPr>
        <p:spPr>
          <a:xfrm>
            <a:off x="676656" y="1252728"/>
            <a:ext cx="9966960" cy="347472"/>
          </a:xfrm>
          <a:prstGeom prst="rect">
            <a:avLst/>
          </a:prstGeom>
          <a:noFill/>
        </p:spPr>
        <p:txBody>
          <a:bodyPr wrap="square" lIns="0" tIns="0" rIns="0" bIns="0" anchor="t">
            <a:spAutoFit/>
          </a:bodyPr>
          <a:lstStyle/>
          <a:p>
            <a:pPr algn="l">
              <a:spcBef>
                <a:spcPts val="0"/>
              </a:spcBef>
              <a:spcAft>
                <a:spcPts val="0"/>
              </a:spcAft>
            </a:pPr>
            <a:r>
              <a:rPr sz="1300" b="0" i="0">
                <a:solidFill>
                  <a:srgbClr val="5F6B76"/>
                </a:solidFill>
                <a:latin typeface="Aptos"/>
              </a:rPr>
              <a:t>Flutter controls visibility; backend authorization remains authoritative.</a:t>
            </a:r>
            <a:endParaRPr sz="1300" b="0" i="0">
              <a:solidFill>
                <a:srgbClr val="5F6B76"/>
              </a:solidFill>
              <a:latin typeface="Aptos"/>
            </a:endParaRPr>
          </a:p>
        </p:txBody>
      </p:sp>
      <p:sp>
        <p:nvSpPr>
          <p:cNvPr id="6" name="Rounded Rectangle 5"/>
          <p:cNvSpPr/>
          <p:nvPr/>
        </p:nvSpPr>
        <p:spPr>
          <a:xfrm>
            <a:off x="11064240" y="320040"/>
            <a:ext cx="502920" cy="384048"/>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20040"/>
            <a:ext cx="502920" cy="384048"/>
          </a:xfrm>
          <a:prstGeom prst="rect">
            <a:avLst/>
          </a:prstGeom>
          <a:noFill/>
        </p:spPr>
        <p:txBody>
          <a:bodyPr wrap="square" lIns="0" tIns="0" rIns="0" bIns="0" anchor="ctr">
            <a:spAutoFit/>
          </a:bodyPr>
          <a:lstStyle/>
          <a:p>
            <a:pPr algn="ctr">
              <a:spcBef>
                <a:spcPts val="0"/>
              </a:spcBef>
              <a:spcAft>
                <a:spcPts val="0"/>
              </a:spcAft>
            </a:pPr>
            <a:r>
              <a:rPr sz="1200" b="1" i="0">
                <a:solidFill>
                  <a:srgbClr val="FFFFFF"/>
                </a:solidFill>
                <a:latin typeface="Aptos"/>
              </a:rPr>
              <a:t>07</a:t>
            </a:r>
            <a:endParaRPr sz="1200" b="1" i="0">
              <a:solidFill>
                <a:srgbClr val="FFFFFF"/>
              </a:solidFill>
              <a:latin typeface="Aptos"/>
            </a:endParaRPr>
          </a:p>
        </p:txBody>
      </p:sp>
      <p:sp>
        <p:nvSpPr>
          <p:cNvPr id="8" name="Rounded Rectangle 7"/>
          <p:cNvSpPr/>
          <p:nvPr/>
        </p:nvSpPr>
        <p:spPr>
          <a:xfrm>
            <a:off x="731520" y="1691640"/>
            <a:ext cx="5074920" cy="4251960"/>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8992" y="1993392"/>
            <a:ext cx="658368" cy="658368"/>
          </a:xfrm>
          <a:prstGeom prst="ellipse">
            <a:avLst/>
          </a:prstGeom>
          <a:solidFill>
            <a:srgbClr val="F2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1993392"/>
            <a:ext cx="658368" cy="658368"/>
          </a:xfrm>
          <a:prstGeom prst="rect">
            <a:avLst/>
          </a:prstGeom>
          <a:noFill/>
        </p:spPr>
        <p:txBody>
          <a:bodyPr wrap="square" lIns="0" tIns="0" rIns="0" bIns="0" anchor="ctr">
            <a:spAutoFit/>
          </a:bodyPr>
          <a:lstStyle/>
          <a:p>
            <a:pPr algn="ctr">
              <a:spcBef>
                <a:spcPts val="0"/>
              </a:spcBef>
              <a:spcAft>
                <a:spcPts val="0"/>
              </a:spcAft>
            </a:pPr>
            <a:r>
              <a:rPr sz="2000" b="1" i="0">
                <a:solidFill>
                  <a:srgbClr val="0B1F33"/>
                </a:solidFill>
                <a:latin typeface="Aptos"/>
              </a:rPr>
              <a:t>O</a:t>
            </a:r>
            <a:endParaRPr sz="2000" b="1" i="0">
              <a:solidFill>
                <a:srgbClr val="0B1F33"/>
              </a:solidFill>
              <a:latin typeface="Aptos"/>
            </a:endParaRPr>
          </a:p>
        </p:txBody>
      </p:sp>
      <p:sp>
        <p:nvSpPr>
          <p:cNvPr id="11" name="TextBox 10"/>
          <p:cNvSpPr txBox="1"/>
          <p:nvPr/>
        </p:nvSpPr>
        <p:spPr>
          <a:xfrm>
            <a:off x="1920240" y="1975104"/>
            <a:ext cx="2194560" cy="365760"/>
          </a:xfrm>
          <a:prstGeom prst="rect">
            <a:avLst/>
          </a:prstGeom>
          <a:noFill/>
        </p:spPr>
        <p:txBody>
          <a:bodyPr wrap="square" lIns="0" tIns="0" rIns="0" bIns="0" anchor="t">
            <a:spAutoFit/>
          </a:bodyPr>
          <a:lstStyle/>
          <a:p>
            <a:pPr algn="l">
              <a:spcBef>
                <a:spcPts val="0"/>
              </a:spcBef>
              <a:spcAft>
                <a:spcPts val="0"/>
              </a:spcAft>
            </a:pPr>
            <a:r>
              <a:rPr sz="2400" b="1" i="0">
                <a:solidFill>
                  <a:srgbClr val="0B1F33"/>
                </a:solidFill>
                <a:latin typeface="Aptos Display"/>
              </a:rPr>
              <a:t>OWNER</a:t>
            </a:r>
            <a:endParaRPr sz="2400" b="1" i="0">
              <a:solidFill>
                <a:srgbClr val="0B1F33"/>
              </a:solidFill>
              <a:latin typeface="Aptos Display"/>
            </a:endParaRPr>
          </a:p>
        </p:txBody>
      </p:sp>
      <p:sp>
        <p:nvSpPr>
          <p:cNvPr id="12" name="TextBox 11"/>
          <p:cNvSpPr txBox="1"/>
          <p:nvPr/>
        </p:nvSpPr>
        <p:spPr>
          <a:xfrm>
            <a:off x="1078992" y="2788920"/>
            <a:ext cx="4160520" cy="2057400"/>
          </a:xfrm>
          <a:prstGeom prst="rect">
            <a:avLst/>
          </a:prstGeom>
          <a:noFill/>
        </p:spPr>
        <p:txBody>
          <a:bodyPr wrap="square" lIns="0" tIns="0" rIns="0" bIns="0">
            <a:spAutoFit/>
          </a:bodyPr>
          <a:lstStyle/>
          <a:p>
            <a:pPr>
              <a:spcAft>
                <a:spcPts val="1200"/>
              </a:spcAft>
              <a:defRPr sz="1700">
                <a:solidFill>
                  <a:srgbClr val="5F6B76"/>
                </a:solidFill>
                <a:latin typeface="Aptos"/>
              </a:defRPr>
            </a:pPr>
            <a:r>
              <a:t>•  Manage company settings and invitations</a:t>
            </a:r>
          </a:p>
          <a:p>
            <a:pPr>
              <a:spcAft>
                <a:spcPts val="1200"/>
              </a:spcAft>
              <a:defRPr sz="1700">
                <a:solidFill>
                  <a:srgbClr val="5F6B76"/>
                </a:solidFill>
                <a:latin typeface="Aptos"/>
              </a:defRPr>
            </a:pPr>
            <a:r>
              <a:t>•  Perform all operational workflows</a:t>
            </a:r>
          </a:p>
          <a:p>
            <a:pPr>
              <a:spcAft>
                <a:spcPts val="1200"/>
              </a:spcAft>
              <a:defRPr sz="1700">
                <a:solidFill>
                  <a:srgbClr val="5F6B76"/>
                </a:solidFill>
                <a:latin typeface="Aptos"/>
              </a:defRPr>
            </a:pPr>
            <a:r>
              <a:t>•  Control team membership and access</a:t>
            </a:r>
          </a:p>
        </p:txBody>
      </p:sp>
      <p:sp>
        <p:nvSpPr>
          <p:cNvPr id="13" name="Rounded Rectangle 12"/>
          <p:cNvSpPr/>
          <p:nvPr/>
        </p:nvSpPr>
        <p:spPr>
          <a:xfrm>
            <a:off x="1078992" y="5285232"/>
            <a:ext cx="2880360" cy="310896"/>
          </a:xfrm>
          <a:prstGeom prst="roundRect">
            <a:avLst/>
          </a:prstGeom>
          <a:solidFill>
            <a:srgbClr val="FFF0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0432" y="5285232"/>
            <a:ext cx="2697479" cy="310896"/>
          </a:xfrm>
          <a:prstGeom prst="rect">
            <a:avLst/>
          </a:prstGeom>
          <a:noFill/>
        </p:spPr>
        <p:txBody>
          <a:bodyPr wrap="square" lIns="0" tIns="0" rIns="0" bIns="0" anchor="ctr">
            <a:spAutoFit/>
          </a:bodyPr>
          <a:lstStyle/>
          <a:p>
            <a:pPr algn="ctr">
              <a:spcBef>
                <a:spcPts val="0"/>
              </a:spcBef>
              <a:spcAft>
                <a:spcPts val="0"/>
              </a:spcAft>
            </a:pPr>
            <a:r>
              <a:rPr sz="1100" b="1" i="0">
                <a:solidFill>
                  <a:srgbClr val="986A00"/>
                </a:solidFill>
                <a:latin typeface="Aptos"/>
              </a:rPr>
              <a:t>COMPANY ADMIN + OPERATOR</a:t>
            </a:r>
            <a:endParaRPr sz="1100" b="1" i="0">
              <a:solidFill>
                <a:srgbClr val="986A00"/>
              </a:solidFill>
              <a:latin typeface="Aptos"/>
            </a:endParaRPr>
          </a:p>
        </p:txBody>
      </p:sp>
      <p:sp>
        <p:nvSpPr>
          <p:cNvPr id="15" name="Rounded Rectangle 14"/>
          <p:cNvSpPr/>
          <p:nvPr/>
        </p:nvSpPr>
        <p:spPr>
          <a:xfrm>
            <a:off x="6355080" y="1691640"/>
            <a:ext cx="5074920" cy="4251960"/>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02552" y="1993392"/>
            <a:ext cx="658368" cy="65836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02552" y="1993392"/>
            <a:ext cx="658368" cy="658368"/>
          </a:xfrm>
          <a:prstGeom prst="rect">
            <a:avLst/>
          </a:prstGeom>
          <a:noFill/>
        </p:spPr>
        <p:txBody>
          <a:bodyPr wrap="square" lIns="0" tIns="0" rIns="0" bIns="0" anchor="ctr">
            <a:spAutoFit/>
          </a:bodyPr>
          <a:lstStyle/>
          <a:p>
            <a:pPr algn="ctr">
              <a:spcBef>
                <a:spcPts val="0"/>
              </a:spcBef>
              <a:spcAft>
                <a:spcPts val="0"/>
              </a:spcAft>
            </a:pPr>
            <a:r>
              <a:rPr sz="2000" b="1" i="0">
                <a:solidFill>
                  <a:srgbClr val="FFFFFF"/>
                </a:solidFill>
                <a:latin typeface="Aptos"/>
              </a:rPr>
              <a:t>S</a:t>
            </a:r>
            <a:endParaRPr sz="2000" b="1" i="0">
              <a:solidFill>
                <a:srgbClr val="FFFFFF"/>
              </a:solidFill>
              <a:latin typeface="Aptos"/>
            </a:endParaRPr>
          </a:p>
        </p:txBody>
      </p:sp>
      <p:sp>
        <p:nvSpPr>
          <p:cNvPr id="18" name="TextBox 17"/>
          <p:cNvSpPr txBox="1"/>
          <p:nvPr/>
        </p:nvSpPr>
        <p:spPr>
          <a:xfrm>
            <a:off x="7543800" y="1975104"/>
            <a:ext cx="2194560" cy="365760"/>
          </a:xfrm>
          <a:prstGeom prst="rect">
            <a:avLst/>
          </a:prstGeom>
          <a:noFill/>
        </p:spPr>
        <p:txBody>
          <a:bodyPr wrap="square" lIns="0" tIns="0" rIns="0" bIns="0" anchor="t">
            <a:spAutoFit/>
          </a:bodyPr>
          <a:lstStyle/>
          <a:p>
            <a:pPr algn="l">
              <a:spcBef>
                <a:spcPts val="0"/>
              </a:spcBef>
              <a:spcAft>
                <a:spcPts val="0"/>
              </a:spcAft>
            </a:pPr>
            <a:r>
              <a:rPr sz="2400" b="1" i="0">
                <a:solidFill>
                  <a:srgbClr val="0B1F33"/>
                </a:solidFill>
                <a:latin typeface="Aptos Display"/>
              </a:rPr>
              <a:t>STAFF</a:t>
            </a:r>
            <a:endParaRPr sz="2400" b="1" i="0">
              <a:solidFill>
                <a:srgbClr val="0B1F33"/>
              </a:solidFill>
              <a:latin typeface="Aptos Display"/>
            </a:endParaRPr>
          </a:p>
        </p:txBody>
      </p:sp>
      <p:sp>
        <p:nvSpPr>
          <p:cNvPr id="19" name="TextBox 18"/>
          <p:cNvSpPr txBox="1"/>
          <p:nvPr/>
        </p:nvSpPr>
        <p:spPr>
          <a:xfrm>
            <a:off x="6702552" y="2788920"/>
            <a:ext cx="4160520" cy="2057400"/>
          </a:xfrm>
          <a:prstGeom prst="rect">
            <a:avLst/>
          </a:prstGeom>
          <a:noFill/>
        </p:spPr>
        <p:txBody>
          <a:bodyPr wrap="square" lIns="0" tIns="0" rIns="0" bIns="0">
            <a:spAutoFit/>
          </a:bodyPr>
          <a:lstStyle/>
          <a:p>
            <a:pPr>
              <a:spcAft>
                <a:spcPts val="1200"/>
              </a:spcAft>
              <a:defRPr sz="1700">
                <a:solidFill>
                  <a:srgbClr val="5F6B76"/>
                </a:solidFill>
                <a:latin typeface="Aptos"/>
              </a:defRPr>
            </a:pPr>
            <a:r>
              <a:t>•  View permitted company records</a:t>
            </a:r>
          </a:p>
          <a:p>
            <a:pPr>
              <a:spcAft>
                <a:spcPts val="1200"/>
              </a:spcAft>
              <a:defRPr sz="1700">
                <a:solidFill>
                  <a:srgbClr val="5F6B76"/>
                </a:solidFill>
                <a:latin typeface="Aptos"/>
              </a:defRPr>
            </a:pPr>
            <a:r>
              <a:t>•  Prepare, dispatch and return assigned transfers</a:t>
            </a:r>
          </a:p>
          <a:p>
            <a:pPr>
              <a:spcAft>
                <a:spcPts val="1200"/>
              </a:spcAft>
              <a:defRPr sz="1700">
                <a:solidFill>
                  <a:srgbClr val="5F6B76"/>
                </a:solidFill>
                <a:latin typeface="Aptos"/>
              </a:defRPr>
            </a:pPr>
            <a:r>
              <a:t>•  Scan QR and add operational evidence</a:t>
            </a:r>
          </a:p>
        </p:txBody>
      </p:sp>
      <p:sp>
        <p:nvSpPr>
          <p:cNvPr id="20" name="Rounded Rectangle 19"/>
          <p:cNvSpPr/>
          <p:nvPr/>
        </p:nvSpPr>
        <p:spPr>
          <a:xfrm>
            <a:off x="6702552" y="5285232"/>
            <a:ext cx="2423160" cy="310896"/>
          </a:xfrm>
          <a:prstGeom prst="roundRect">
            <a:avLst/>
          </a:prstGeom>
          <a:solidFill>
            <a:srgbClr val="DF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93992" y="5285232"/>
            <a:ext cx="2240279" cy="310896"/>
          </a:xfrm>
          <a:prstGeom prst="rect">
            <a:avLst/>
          </a:prstGeom>
          <a:noFill/>
        </p:spPr>
        <p:txBody>
          <a:bodyPr wrap="square" lIns="0" tIns="0" rIns="0" bIns="0" anchor="ctr">
            <a:spAutoFit/>
          </a:bodyPr>
          <a:lstStyle/>
          <a:p>
            <a:pPr algn="ctr">
              <a:spcBef>
                <a:spcPts val="0"/>
              </a:spcBef>
              <a:spcAft>
                <a:spcPts val="0"/>
              </a:spcAft>
            </a:pPr>
            <a:r>
              <a:rPr sz="1100" b="1" i="0">
                <a:solidFill>
                  <a:srgbClr val="14B8A6"/>
                </a:solidFill>
                <a:latin typeface="Aptos"/>
              </a:rPr>
              <a:t>AUTHORIZED OPERATOR</a:t>
            </a:r>
            <a:endParaRPr sz="1100" b="1" i="0">
              <a:solidFill>
                <a:srgbClr val="14B8A6"/>
              </a:solidFill>
              <a:latin typeface="Aptos"/>
            </a:endParaRPr>
          </a:p>
        </p:txBody>
      </p:sp>
      <p:sp>
        <p:nvSpPr>
          <p:cNvPr id="22" name="TextBox 21"/>
          <p:cNvSpPr txBox="1"/>
          <p:nvPr/>
        </p:nvSpPr>
        <p:spPr>
          <a:xfrm>
            <a:off x="658368" y="6519672"/>
            <a:ext cx="3840480" cy="146304"/>
          </a:xfrm>
          <a:prstGeom prst="rect">
            <a:avLst/>
          </a:prstGeom>
          <a:noFill/>
        </p:spPr>
        <p:txBody>
          <a:bodyPr wrap="square" lIns="0" tIns="0" rIns="0" bIns="0" anchor="t">
            <a:spAutoFit/>
          </a:bodyPr>
          <a:lstStyle/>
          <a:p>
            <a:pPr algn="l">
              <a:spcBef>
                <a:spcPts val="0"/>
              </a:spcBef>
              <a:spcAft>
                <a:spcPts val="0"/>
              </a:spcAft>
            </a:pPr>
            <a:r>
              <a:rPr sz="850" b="1" i="0">
                <a:solidFill>
                  <a:srgbClr val="7A858F"/>
                </a:solidFill>
                <a:latin typeface="Aptos"/>
              </a:rPr>
              <a:t>ETRELAY: RENTAL OPERATIONS</a:t>
            </a:r>
            <a:endParaRPr sz="850" b="1" i="0">
              <a:solidFill>
                <a:srgbClr val="7A858F"/>
              </a:solidFill>
              <a:latin typeface="Aptos"/>
            </a:endParaRPr>
          </a:p>
        </p:txBody>
      </p:sp>
      <p:sp>
        <p:nvSpPr>
          <p:cNvPr id="23" name="TextBox 22"/>
          <p:cNvSpPr txBox="1"/>
          <p:nvPr/>
        </p:nvSpPr>
        <p:spPr>
          <a:xfrm>
            <a:off x="7680960" y="6519672"/>
            <a:ext cx="3840480" cy="146304"/>
          </a:xfrm>
          <a:prstGeom prst="rect">
            <a:avLst/>
          </a:prstGeom>
          <a:noFill/>
        </p:spPr>
        <p:txBody>
          <a:bodyPr wrap="square" lIns="0" tIns="0" rIns="0" bIns="0" anchor="t">
            <a:spAutoFit/>
          </a:bodyPr>
          <a:lstStyle/>
          <a:p>
            <a:pPr algn="r">
              <a:spcBef>
                <a:spcPts val="0"/>
              </a:spcBef>
              <a:spcAft>
                <a:spcPts val="0"/>
              </a:spcAft>
            </a:pPr>
            <a:r>
              <a:rPr sz="850" b="0" i="0">
                <a:solidFill>
                  <a:srgbClr val="7A858F"/>
                </a:solidFill>
                <a:latin typeface="Aptos"/>
              </a:rPr>
              <a:t>TRAN KHANH BINH • 2231200127</a:t>
            </a:r>
            <a:endParaRPr sz="850" b="0" i="0">
              <a:solidFill>
                <a:srgbClr val="7A858F"/>
              </a:solidFill>
              <a:latin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7680960" cy="237744"/>
          </a:xfrm>
          <a:prstGeom prst="rect">
            <a:avLst/>
          </a:prstGeom>
          <a:noFill/>
        </p:spPr>
        <p:txBody>
          <a:bodyPr wrap="square" lIns="0" tIns="0" rIns="0" bIns="0" anchor="t">
            <a:spAutoFit/>
          </a:bodyPr>
          <a:lstStyle/>
          <a:p>
            <a:pPr algn="l">
              <a:spcBef>
                <a:spcPts val="0"/>
              </a:spcBef>
              <a:spcAft>
                <a:spcPts val="0"/>
              </a:spcAft>
            </a:pPr>
            <a:r>
              <a:rPr sz="1000" b="1" i="0">
                <a:solidFill>
                  <a:srgbClr val="1E5EFF"/>
                </a:solidFill>
                <a:latin typeface="Aptos Display"/>
              </a:rPr>
              <a:t>CSW430 • MOBILE APPLICATION DEVELOPMENT</a:t>
            </a:r>
            <a:endParaRPr sz="1000" b="1" i="0">
              <a:solidFill>
                <a:srgbClr val="1E5EFF"/>
              </a:solidFill>
              <a:latin typeface="Aptos Display"/>
            </a:endParaRPr>
          </a:p>
        </p:txBody>
      </p:sp>
      <p:sp>
        <p:nvSpPr>
          <p:cNvPr id="4" name="TextBox 3"/>
          <p:cNvSpPr txBox="1"/>
          <p:nvPr/>
        </p:nvSpPr>
        <p:spPr>
          <a:xfrm>
            <a:off x="658368" y="658368"/>
            <a:ext cx="9875520" cy="585216"/>
          </a:xfrm>
          <a:prstGeom prst="rect">
            <a:avLst/>
          </a:prstGeom>
          <a:noFill/>
        </p:spPr>
        <p:txBody>
          <a:bodyPr wrap="square" lIns="0" tIns="0" rIns="0" bIns="0" anchor="t">
            <a:spAutoFit/>
          </a:bodyPr>
          <a:lstStyle/>
          <a:p>
            <a:pPr algn="l">
              <a:spcBef>
                <a:spcPts val="0"/>
              </a:spcBef>
              <a:spcAft>
                <a:spcPts val="0"/>
              </a:spcAft>
            </a:pPr>
            <a:r>
              <a:rPr sz="2900" b="1" i="0">
                <a:solidFill>
                  <a:srgbClr val="0B1F33"/>
                </a:solidFill>
                <a:latin typeface="Aptos Display"/>
              </a:rPr>
              <a:t>Database and API contract</a:t>
            </a:r>
            <a:endParaRPr sz="2900" b="1" i="0">
              <a:solidFill>
                <a:srgbClr val="0B1F33"/>
              </a:solidFill>
              <a:latin typeface="Aptos Display"/>
            </a:endParaRPr>
          </a:p>
        </p:txBody>
      </p:sp>
      <p:sp>
        <p:nvSpPr>
          <p:cNvPr id="5" name="TextBox 4"/>
          <p:cNvSpPr txBox="1"/>
          <p:nvPr/>
        </p:nvSpPr>
        <p:spPr>
          <a:xfrm>
            <a:off x="676656" y="1252728"/>
            <a:ext cx="9966960" cy="347472"/>
          </a:xfrm>
          <a:prstGeom prst="rect">
            <a:avLst/>
          </a:prstGeom>
          <a:noFill/>
        </p:spPr>
        <p:txBody>
          <a:bodyPr wrap="square" lIns="0" tIns="0" rIns="0" bIns="0" anchor="t">
            <a:spAutoFit/>
          </a:bodyPr>
          <a:lstStyle/>
          <a:p>
            <a:pPr algn="l">
              <a:spcBef>
                <a:spcPts val="0"/>
              </a:spcBef>
              <a:spcAft>
                <a:spcPts val="0"/>
              </a:spcAft>
            </a:pPr>
            <a:r>
              <a:rPr sz="1300" b="0" i="0">
                <a:solidFill>
                  <a:srgbClr val="5F6B76"/>
                </a:solidFill>
                <a:latin typeface="Aptos"/>
              </a:rPr>
              <a:t>Nine explicit Node.js + Express REST endpoints returning JSON.</a:t>
            </a:r>
            <a:endParaRPr sz="1300" b="0" i="0">
              <a:solidFill>
                <a:srgbClr val="5F6B76"/>
              </a:solidFill>
              <a:latin typeface="Aptos"/>
            </a:endParaRPr>
          </a:p>
        </p:txBody>
      </p:sp>
      <p:sp>
        <p:nvSpPr>
          <p:cNvPr id="6" name="Rounded Rectangle 5"/>
          <p:cNvSpPr/>
          <p:nvPr/>
        </p:nvSpPr>
        <p:spPr>
          <a:xfrm>
            <a:off x="11064240" y="320040"/>
            <a:ext cx="502920" cy="384048"/>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20040"/>
            <a:ext cx="502920" cy="384048"/>
          </a:xfrm>
          <a:prstGeom prst="rect">
            <a:avLst/>
          </a:prstGeom>
          <a:noFill/>
        </p:spPr>
        <p:txBody>
          <a:bodyPr wrap="square" lIns="0" tIns="0" rIns="0" bIns="0" anchor="ctr">
            <a:spAutoFit/>
          </a:bodyPr>
          <a:lstStyle/>
          <a:p>
            <a:pPr algn="ctr">
              <a:spcBef>
                <a:spcPts val="0"/>
              </a:spcBef>
              <a:spcAft>
                <a:spcPts val="0"/>
              </a:spcAft>
            </a:pPr>
            <a:r>
              <a:rPr sz="1200" b="1" i="0">
                <a:solidFill>
                  <a:srgbClr val="FFFFFF"/>
                </a:solidFill>
                <a:latin typeface="Aptos"/>
              </a:rPr>
              <a:t>08</a:t>
            </a:r>
            <a:endParaRPr sz="1200" b="1" i="0">
              <a:solidFill>
                <a:srgbClr val="FFFFFF"/>
              </a:solidFill>
              <a:latin typeface="Aptos"/>
            </a:endParaRPr>
          </a:p>
        </p:txBody>
      </p:sp>
      <p:sp>
        <p:nvSpPr>
          <p:cNvPr id="8" name="Rounded Rectangle 7"/>
          <p:cNvSpPr/>
          <p:nvPr/>
        </p:nvSpPr>
        <p:spPr>
          <a:xfrm>
            <a:off x="658368" y="1581912"/>
            <a:ext cx="5989320" cy="4480560"/>
          </a:xfrm>
          <a:prstGeom prst="roundRect">
            <a:avLst/>
          </a:prstGeom>
          <a:solidFill>
            <a:srgbClr val="FFFFFF"/>
          </a:solidFill>
          <a:ln w="1016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domain_model.png"/>
          <p:cNvPicPr>
            <a:picLocks noChangeAspect="1"/>
          </p:cNvPicPr>
          <p:nvPr/>
        </p:nvPicPr>
        <p:blipFill>
          <a:blip r:embed="rId1"/>
          <a:stretch>
            <a:fillRect/>
          </a:stretch>
        </p:blipFill>
        <p:spPr>
          <a:xfrm>
            <a:off x="804672" y="2341046"/>
            <a:ext cx="5696711" cy="2962290"/>
          </a:xfrm>
          <a:prstGeom prst="rect">
            <a:avLst/>
          </a:prstGeom>
        </p:spPr>
      </p:pic>
      <p:sp>
        <p:nvSpPr>
          <p:cNvPr id="10" name="TextBox 9"/>
          <p:cNvSpPr txBox="1"/>
          <p:nvPr/>
        </p:nvSpPr>
        <p:spPr>
          <a:xfrm>
            <a:off x="6995160" y="1600200"/>
            <a:ext cx="2286000" cy="274320"/>
          </a:xfrm>
          <a:prstGeom prst="rect">
            <a:avLst/>
          </a:prstGeom>
          <a:noFill/>
        </p:spPr>
        <p:txBody>
          <a:bodyPr wrap="square" lIns="0" tIns="0" rIns="0" bIns="0" anchor="t">
            <a:spAutoFit/>
          </a:bodyPr>
          <a:lstStyle/>
          <a:p>
            <a:pPr algn="l">
              <a:spcBef>
                <a:spcPts val="0"/>
              </a:spcBef>
              <a:spcAft>
                <a:spcPts val="0"/>
              </a:spcAft>
            </a:pPr>
            <a:r>
              <a:rPr sz="1100" b="1" i="0">
                <a:solidFill>
                  <a:srgbClr val="1E5EFF"/>
                </a:solidFill>
                <a:latin typeface="Aptos"/>
              </a:rPr>
              <a:t>COURSE API MINIMUM</a:t>
            </a:r>
            <a:endParaRPr sz="1100" b="1" i="0">
              <a:solidFill>
                <a:srgbClr val="1E5EFF"/>
              </a:solidFill>
              <a:latin typeface="Aptos"/>
            </a:endParaRPr>
          </a:p>
        </p:txBody>
      </p:sp>
      <p:sp>
        <p:nvSpPr>
          <p:cNvPr id="11" name="Rounded Rectangle 10"/>
          <p:cNvSpPr/>
          <p:nvPr/>
        </p:nvSpPr>
        <p:spPr>
          <a:xfrm>
            <a:off x="6995160" y="2011680"/>
            <a:ext cx="1993392" cy="475488"/>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104888" y="2103120"/>
            <a:ext cx="292608" cy="292608"/>
          </a:xfrm>
          <a:prstGeom prst="ellipse">
            <a:avLst/>
          </a:prstGeom>
          <a:solidFill>
            <a:srgbClr val="1E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04888" y="2103120"/>
            <a:ext cx="292608" cy="292608"/>
          </a:xfrm>
          <a:prstGeom prst="rect">
            <a:avLst/>
          </a:prstGeom>
          <a:noFill/>
        </p:spPr>
        <p:txBody>
          <a:bodyPr wrap="square" lIns="0" tIns="0" rIns="0" bIns="0" anchor="ctr">
            <a:spAutoFit/>
          </a:bodyPr>
          <a:lstStyle/>
          <a:p>
            <a:pPr algn="ctr">
              <a:spcBef>
                <a:spcPts val="0"/>
              </a:spcBef>
              <a:spcAft>
                <a:spcPts val="0"/>
              </a:spcAft>
            </a:pPr>
            <a:r>
              <a:rPr sz="950" b="1" i="0">
                <a:solidFill>
                  <a:srgbClr val="FFFFFF"/>
                </a:solidFill>
                <a:latin typeface="Aptos"/>
              </a:rPr>
              <a:t>1</a:t>
            </a:r>
            <a:endParaRPr sz="950" b="1" i="0">
              <a:solidFill>
                <a:srgbClr val="FFFFFF"/>
              </a:solidFill>
              <a:latin typeface="Aptos"/>
            </a:endParaRPr>
          </a:p>
        </p:txBody>
      </p:sp>
      <p:sp>
        <p:nvSpPr>
          <p:cNvPr id="14" name="TextBox 13"/>
          <p:cNvSpPr txBox="1"/>
          <p:nvPr/>
        </p:nvSpPr>
        <p:spPr>
          <a:xfrm>
            <a:off x="7507224" y="2112264"/>
            <a:ext cx="1298448" cy="256032"/>
          </a:xfrm>
          <a:prstGeom prst="rect">
            <a:avLst/>
          </a:prstGeom>
          <a:noFill/>
        </p:spPr>
        <p:txBody>
          <a:bodyPr wrap="square" lIns="0" tIns="0" rIns="0" bIns="0" anchor="t">
            <a:spAutoFit/>
          </a:bodyPr>
          <a:lstStyle/>
          <a:p>
            <a:pPr algn="l">
              <a:spcBef>
                <a:spcPts val="0"/>
              </a:spcBef>
              <a:spcAft>
                <a:spcPts val="0"/>
              </a:spcAft>
            </a:pPr>
            <a:r>
              <a:rPr sz="1250" b="1" i="0">
                <a:solidFill>
                  <a:srgbClr val="0B1F33"/>
                </a:solidFill>
                <a:latin typeface="Aptos"/>
              </a:rPr>
              <a:t>Login</a:t>
            </a:r>
            <a:endParaRPr sz="1250" b="1" i="0">
              <a:solidFill>
                <a:srgbClr val="0B1F33"/>
              </a:solidFill>
              <a:latin typeface="Aptos"/>
            </a:endParaRPr>
          </a:p>
        </p:txBody>
      </p:sp>
      <p:sp>
        <p:nvSpPr>
          <p:cNvPr id="15" name="Rounded Rectangle 14"/>
          <p:cNvSpPr/>
          <p:nvPr/>
        </p:nvSpPr>
        <p:spPr>
          <a:xfrm>
            <a:off x="6995160" y="2642616"/>
            <a:ext cx="1993392" cy="475488"/>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04888" y="2734056"/>
            <a:ext cx="292608" cy="292608"/>
          </a:xfrm>
          <a:prstGeom prst="ellipse">
            <a:avLst/>
          </a:prstGeom>
          <a:solidFill>
            <a:srgbClr val="1E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04888" y="2734056"/>
            <a:ext cx="292608" cy="292608"/>
          </a:xfrm>
          <a:prstGeom prst="rect">
            <a:avLst/>
          </a:prstGeom>
          <a:noFill/>
        </p:spPr>
        <p:txBody>
          <a:bodyPr wrap="square" lIns="0" tIns="0" rIns="0" bIns="0" anchor="ctr">
            <a:spAutoFit/>
          </a:bodyPr>
          <a:lstStyle/>
          <a:p>
            <a:pPr algn="ctr">
              <a:spcBef>
                <a:spcPts val="0"/>
              </a:spcBef>
              <a:spcAft>
                <a:spcPts val="0"/>
              </a:spcAft>
            </a:pPr>
            <a:r>
              <a:rPr sz="950" b="1" i="0">
                <a:solidFill>
                  <a:srgbClr val="FFFFFF"/>
                </a:solidFill>
                <a:latin typeface="Aptos"/>
              </a:rPr>
              <a:t>2</a:t>
            </a:r>
            <a:endParaRPr sz="950" b="1" i="0">
              <a:solidFill>
                <a:srgbClr val="FFFFFF"/>
              </a:solidFill>
              <a:latin typeface="Aptos"/>
            </a:endParaRPr>
          </a:p>
        </p:txBody>
      </p:sp>
      <p:sp>
        <p:nvSpPr>
          <p:cNvPr id="18" name="TextBox 17"/>
          <p:cNvSpPr txBox="1"/>
          <p:nvPr/>
        </p:nvSpPr>
        <p:spPr>
          <a:xfrm>
            <a:off x="7507224" y="2743200"/>
            <a:ext cx="1298448" cy="256032"/>
          </a:xfrm>
          <a:prstGeom prst="rect">
            <a:avLst/>
          </a:prstGeom>
          <a:noFill/>
        </p:spPr>
        <p:txBody>
          <a:bodyPr wrap="square" lIns="0" tIns="0" rIns="0" bIns="0" anchor="t">
            <a:spAutoFit/>
          </a:bodyPr>
          <a:lstStyle/>
          <a:p>
            <a:pPr algn="l">
              <a:spcBef>
                <a:spcPts val="0"/>
              </a:spcBef>
              <a:spcAft>
                <a:spcPts val="0"/>
              </a:spcAft>
            </a:pPr>
            <a:r>
              <a:rPr sz="1250" b="1" i="0">
                <a:solidFill>
                  <a:srgbClr val="0B1F33"/>
                </a:solidFill>
                <a:latin typeface="Aptos"/>
              </a:rPr>
              <a:t>Register</a:t>
            </a:r>
            <a:endParaRPr sz="1250" b="1" i="0">
              <a:solidFill>
                <a:srgbClr val="0B1F33"/>
              </a:solidFill>
              <a:latin typeface="Aptos"/>
            </a:endParaRPr>
          </a:p>
        </p:txBody>
      </p:sp>
      <p:sp>
        <p:nvSpPr>
          <p:cNvPr id="19" name="Rounded Rectangle 18"/>
          <p:cNvSpPr/>
          <p:nvPr/>
        </p:nvSpPr>
        <p:spPr>
          <a:xfrm>
            <a:off x="6995160" y="3273552"/>
            <a:ext cx="1993392" cy="475488"/>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04888" y="3364992"/>
            <a:ext cx="292608" cy="292608"/>
          </a:xfrm>
          <a:prstGeom prst="ellipse">
            <a:avLst/>
          </a:prstGeom>
          <a:solidFill>
            <a:srgbClr val="1E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04888" y="3364992"/>
            <a:ext cx="292608" cy="292608"/>
          </a:xfrm>
          <a:prstGeom prst="rect">
            <a:avLst/>
          </a:prstGeom>
          <a:noFill/>
        </p:spPr>
        <p:txBody>
          <a:bodyPr wrap="square" lIns="0" tIns="0" rIns="0" bIns="0" anchor="ctr">
            <a:spAutoFit/>
          </a:bodyPr>
          <a:lstStyle/>
          <a:p>
            <a:pPr algn="ctr">
              <a:spcBef>
                <a:spcPts val="0"/>
              </a:spcBef>
              <a:spcAft>
                <a:spcPts val="0"/>
              </a:spcAft>
            </a:pPr>
            <a:r>
              <a:rPr sz="950" b="1" i="0">
                <a:solidFill>
                  <a:srgbClr val="FFFFFF"/>
                </a:solidFill>
                <a:latin typeface="Aptos"/>
              </a:rPr>
              <a:t>3</a:t>
            </a:r>
            <a:endParaRPr sz="950" b="1" i="0">
              <a:solidFill>
                <a:srgbClr val="FFFFFF"/>
              </a:solidFill>
              <a:latin typeface="Aptos"/>
            </a:endParaRPr>
          </a:p>
        </p:txBody>
      </p:sp>
      <p:sp>
        <p:nvSpPr>
          <p:cNvPr id="22" name="TextBox 21"/>
          <p:cNvSpPr txBox="1"/>
          <p:nvPr/>
        </p:nvSpPr>
        <p:spPr>
          <a:xfrm>
            <a:off x="7507224" y="3374136"/>
            <a:ext cx="1298448" cy="256032"/>
          </a:xfrm>
          <a:prstGeom prst="rect">
            <a:avLst/>
          </a:prstGeom>
          <a:noFill/>
        </p:spPr>
        <p:txBody>
          <a:bodyPr wrap="square" lIns="0" tIns="0" rIns="0" bIns="0" anchor="t">
            <a:spAutoFit/>
          </a:bodyPr>
          <a:lstStyle/>
          <a:p>
            <a:pPr algn="l">
              <a:spcBef>
                <a:spcPts val="0"/>
              </a:spcBef>
              <a:spcAft>
                <a:spcPts val="0"/>
              </a:spcAft>
            </a:pPr>
            <a:r>
              <a:rPr sz="1250" b="1" i="0">
                <a:solidFill>
                  <a:srgbClr val="0B1F33"/>
                </a:solidFill>
                <a:latin typeface="Aptos"/>
              </a:rPr>
              <a:t>Get profile</a:t>
            </a:r>
            <a:endParaRPr sz="1250" b="1" i="0">
              <a:solidFill>
                <a:srgbClr val="0B1F33"/>
              </a:solidFill>
              <a:latin typeface="Aptos"/>
            </a:endParaRPr>
          </a:p>
        </p:txBody>
      </p:sp>
      <p:sp>
        <p:nvSpPr>
          <p:cNvPr id="23" name="Rounded Rectangle 22"/>
          <p:cNvSpPr/>
          <p:nvPr/>
        </p:nvSpPr>
        <p:spPr>
          <a:xfrm>
            <a:off x="6995160" y="3904487"/>
            <a:ext cx="1993392" cy="475488"/>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04888" y="3995927"/>
            <a:ext cx="292608" cy="292608"/>
          </a:xfrm>
          <a:prstGeom prst="ellipse">
            <a:avLst/>
          </a:prstGeom>
          <a:solidFill>
            <a:srgbClr val="1E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04888" y="3995927"/>
            <a:ext cx="292608" cy="292608"/>
          </a:xfrm>
          <a:prstGeom prst="rect">
            <a:avLst/>
          </a:prstGeom>
          <a:noFill/>
        </p:spPr>
        <p:txBody>
          <a:bodyPr wrap="square" lIns="0" tIns="0" rIns="0" bIns="0" anchor="ctr">
            <a:spAutoFit/>
          </a:bodyPr>
          <a:lstStyle/>
          <a:p>
            <a:pPr algn="ctr">
              <a:spcBef>
                <a:spcPts val="0"/>
              </a:spcBef>
              <a:spcAft>
                <a:spcPts val="0"/>
              </a:spcAft>
            </a:pPr>
            <a:r>
              <a:rPr sz="950" b="1" i="0">
                <a:solidFill>
                  <a:srgbClr val="FFFFFF"/>
                </a:solidFill>
                <a:latin typeface="Aptos"/>
              </a:rPr>
              <a:t>4</a:t>
            </a:r>
            <a:endParaRPr sz="950" b="1" i="0">
              <a:solidFill>
                <a:srgbClr val="FFFFFF"/>
              </a:solidFill>
              <a:latin typeface="Aptos"/>
            </a:endParaRPr>
          </a:p>
        </p:txBody>
      </p:sp>
      <p:sp>
        <p:nvSpPr>
          <p:cNvPr id="26" name="TextBox 25"/>
          <p:cNvSpPr txBox="1"/>
          <p:nvPr/>
        </p:nvSpPr>
        <p:spPr>
          <a:xfrm>
            <a:off x="7507224" y="4005072"/>
            <a:ext cx="1298448" cy="256032"/>
          </a:xfrm>
          <a:prstGeom prst="rect">
            <a:avLst/>
          </a:prstGeom>
          <a:noFill/>
        </p:spPr>
        <p:txBody>
          <a:bodyPr wrap="square" lIns="0" tIns="0" rIns="0" bIns="0" anchor="t">
            <a:spAutoFit/>
          </a:bodyPr>
          <a:lstStyle/>
          <a:p>
            <a:pPr algn="l">
              <a:spcBef>
                <a:spcPts val="0"/>
              </a:spcBef>
              <a:spcAft>
                <a:spcPts val="0"/>
              </a:spcAft>
            </a:pPr>
            <a:r>
              <a:rPr sz="1250" b="1" i="0">
                <a:solidFill>
                  <a:srgbClr val="0B1F33"/>
                </a:solidFill>
                <a:latin typeface="Aptos"/>
              </a:rPr>
              <a:t>Update profile</a:t>
            </a:r>
            <a:endParaRPr sz="1250" b="1" i="0">
              <a:solidFill>
                <a:srgbClr val="0B1F33"/>
              </a:solidFill>
              <a:latin typeface="Aptos"/>
            </a:endParaRPr>
          </a:p>
        </p:txBody>
      </p:sp>
      <p:sp>
        <p:nvSpPr>
          <p:cNvPr id="27" name="Rounded Rectangle 26"/>
          <p:cNvSpPr/>
          <p:nvPr/>
        </p:nvSpPr>
        <p:spPr>
          <a:xfrm>
            <a:off x="6995160" y="4535424"/>
            <a:ext cx="1993392" cy="475488"/>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104888" y="4626864"/>
            <a:ext cx="292608" cy="29260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04888" y="4626864"/>
            <a:ext cx="292608" cy="292608"/>
          </a:xfrm>
          <a:prstGeom prst="rect">
            <a:avLst/>
          </a:prstGeom>
          <a:noFill/>
        </p:spPr>
        <p:txBody>
          <a:bodyPr wrap="square" lIns="0" tIns="0" rIns="0" bIns="0" anchor="ctr">
            <a:spAutoFit/>
          </a:bodyPr>
          <a:lstStyle/>
          <a:p>
            <a:pPr algn="ctr">
              <a:spcBef>
                <a:spcPts val="0"/>
              </a:spcBef>
              <a:spcAft>
                <a:spcPts val="0"/>
              </a:spcAft>
            </a:pPr>
            <a:r>
              <a:rPr sz="950" b="1" i="0">
                <a:solidFill>
                  <a:srgbClr val="FFFFFF"/>
                </a:solidFill>
                <a:latin typeface="Aptos"/>
              </a:rPr>
              <a:t>5</a:t>
            </a:r>
            <a:endParaRPr sz="950" b="1" i="0">
              <a:solidFill>
                <a:srgbClr val="FFFFFF"/>
              </a:solidFill>
              <a:latin typeface="Aptos"/>
            </a:endParaRPr>
          </a:p>
        </p:txBody>
      </p:sp>
      <p:sp>
        <p:nvSpPr>
          <p:cNvPr id="30" name="TextBox 29"/>
          <p:cNvSpPr txBox="1"/>
          <p:nvPr/>
        </p:nvSpPr>
        <p:spPr>
          <a:xfrm>
            <a:off x="7507224" y="4636008"/>
            <a:ext cx="1298448" cy="256032"/>
          </a:xfrm>
          <a:prstGeom prst="rect">
            <a:avLst/>
          </a:prstGeom>
          <a:noFill/>
        </p:spPr>
        <p:txBody>
          <a:bodyPr wrap="square" lIns="0" tIns="0" rIns="0" bIns="0" anchor="t">
            <a:spAutoFit/>
          </a:bodyPr>
          <a:lstStyle/>
          <a:p>
            <a:pPr algn="l">
              <a:spcBef>
                <a:spcPts val="0"/>
              </a:spcBef>
              <a:spcAft>
                <a:spcPts val="0"/>
              </a:spcAft>
            </a:pPr>
            <a:r>
              <a:rPr sz="1250" b="1" i="0">
                <a:solidFill>
                  <a:srgbClr val="0B1F33"/>
                </a:solidFill>
                <a:latin typeface="Aptos"/>
              </a:rPr>
              <a:t>Get list</a:t>
            </a:r>
            <a:endParaRPr sz="1250" b="1" i="0">
              <a:solidFill>
                <a:srgbClr val="0B1F33"/>
              </a:solidFill>
              <a:latin typeface="Aptos"/>
            </a:endParaRPr>
          </a:p>
        </p:txBody>
      </p:sp>
      <p:sp>
        <p:nvSpPr>
          <p:cNvPr id="31" name="Rounded Rectangle 30"/>
          <p:cNvSpPr/>
          <p:nvPr/>
        </p:nvSpPr>
        <p:spPr>
          <a:xfrm>
            <a:off x="9235440" y="2011680"/>
            <a:ext cx="1993392" cy="475488"/>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345168" y="2103120"/>
            <a:ext cx="292608" cy="29260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45168" y="2103120"/>
            <a:ext cx="292608" cy="292608"/>
          </a:xfrm>
          <a:prstGeom prst="rect">
            <a:avLst/>
          </a:prstGeom>
          <a:noFill/>
        </p:spPr>
        <p:txBody>
          <a:bodyPr wrap="square" lIns="0" tIns="0" rIns="0" bIns="0" anchor="ctr">
            <a:spAutoFit/>
          </a:bodyPr>
          <a:lstStyle/>
          <a:p>
            <a:pPr algn="ctr">
              <a:spcBef>
                <a:spcPts val="0"/>
              </a:spcBef>
              <a:spcAft>
                <a:spcPts val="0"/>
              </a:spcAft>
            </a:pPr>
            <a:r>
              <a:rPr sz="950" b="1" i="0">
                <a:solidFill>
                  <a:srgbClr val="FFFFFF"/>
                </a:solidFill>
                <a:latin typeface="Aptos"/>
              </a:rPr>
              <a:t>6</a:t>
            </a:r>
            <a:endParaRPr sz="950" b="1" i="0">
              <a:solidFill>
                <a:srgbClr val="FFFFFF"/>
              </a:solidFill>
              <a:latin typeface="Aptos"/>
            </a:endParaRPr>
          </a:p>
        </p:txBody>
      </p:sp>
      <p:sp>
        <p:nvSpPr>
          <p:cNvPr id="34" name="TextBox 33"/>
          <p:cNvSpPr txBox="1"/>
          <p:nvPr/>
        </p:nvSpPr>
        <p:spPr>
          <a:xfrm>
            <a:off x="9747504" y="2112264"/>
            <a:ext cx="1298448" cy="256032"/>
          </a:xfrm>
          <a:prstGeom prst="rect">
            <a:avLst/>
          </a:prstGeom>
          <a:noFill/>
        </p:spPr>
        <p:txBody>
          <a:bodyPr wrap="square" lIns="0" tIns="0" rIns="0" bIns="0" anchor="t">
            <a:spAutoFit/>
          </a:bodyPr>
          <a:lstStyle/>
          <a:p>
            <a:pPr algn="l">
              <a:spcBef>
                <a:spcPts val="0"/>
              </a:spcBef>
              <a:spcAft>
                <a:spcPts val="0"/>
              </a:spcAft>
            </a:pPr>
            <a:r>
              <a:rPr sz="1250" b="1" i="0">
                <a:solidFill>
                  <a:srgbClr val="0B1F33"/>
                </a:solidFill>
                <a:latin typeface="Aptos"/>
              </a:rPr>
              <a:t>Get detail</a:t>
            </a:r>
            <a:endParaRPr sz="1250" b="1" i="0">
              <a:solidFill>
                <a:srgbClr val="0B1F33"/>
              </a:solidFill>
              <a:latin typeface="Aptos"/>
            </a:endParaRPr>
          </a:p>
        </p:txBody>
      </p:sp>
      <p:sp>
        <p:nvSpPr>
          <p:cNvPr id="35" name="Rounded Rectangle 34"/>
          <p:cNvSpPr/>
          <p:nvPr/>
        </p:nvSpPr>
        <p:spPr>
          <a:xfrm>
            <a:off x="9235440" y="2642616"/>
            <a:ext cx="1993392" cy="475488"/>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345168" y="2734056"/>
            <a:ext cx="292608" cy="29260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45168" y="2734056"/>
            <a:ext cx="292608" cy="292608"/>
          </a:xfrm>
          <a:prstGeom prst="rect">
            <a:avLst/>
          </a:prstGeom>
          <a:noFill/>
        </p:spPr>
        <p:txBody>
          <a:bodyPr wrap="square" lIns="0" tIns="0" rIns="0" bIns="0" anchor="ctr">
            <a:spAutoFit/>
          </a:bodyPr>
          <a:lstStyle/>
          <a:p>
            <a:pPr algn="ctr">
              <a:spcBef>
                <a:spcPts val="0"/>
              </a:spcBef>
              <a:spcAft>
                <a:spcPts val="0"/>
              </a:spcAft>
            </a:pPr>
            <a:r>
              <a:rPr sz="950" b="1" i="0">
                <a:solidFill>
                  <a:srgbClr val="FFFFFF"/>
                </a:solidFill>
                <a:latin typeface="Aptos"/>
              </a:rPr>
              <a:t>7</a:t>
            </a:r>
            <a:endParaRPr sz="950" b="1" i="0">
              <a:solidFill>
                <a:srgbClr val="FFFFFF"/>
              </a:solidFill>
              <a:latin typeface="Aptos"/>
            </a:endParaRPr>
          </a:p>
        </p:txBody>
      </p:sp>
      <p:sp>
        <p:nvSpPr>
          <p:cNvPr id="38" name="TextBox 37"/>
          <p:cNvSpPr txBox="1"/>
          <p:nvPr/>
        </p:nvSpPr>
        <p:spPr>
          <a:xfrm>
            <a:off x="9747504" y="2743200"/>
            <a:ext cx="1298448" cy="256032"/>
          </a:xfrm>
          <a:prstGeom prst="rect">
            <a:avLst/>
          </a:prstGeom>
          <a:noFill/>
        </p:spPr>
        <p:txBody>
          <a:bodyPr wrap="square" lIns="0" tIns="0" rIns="0" bIns="0" anchor="t">
            <a:spAutoFit/>
          </a:bodyPr>
          <a:lstStyle/>
          <a:p>
            <a:pPr algn="l">
              <a:spcBef>
                <a:spcPts val="0"/>
              </a:spcBef>
              <a:spcAft>
                <a:spcPts val="0"/>
              </a:spcAft>
            </a:pPr>
            <a:r>
              <a:rPr sz="1250" b="1" i="0">
                <a:solidFill>
                  <a:srgbClr val="0B1F33"/>
                </a:solidFill>
                <a:latin typeface="Aptos"/>
              </a:rPr>
              <a:t>Create</a:t>
            </a:r>
            <a:endParaRPr sz="1250" b="1" i="0">
              <a:solidFill>
                <a:srgbClr val="0B1F33"/>
              </a:solidFill>
              <a:latin typeface="Aptos"/>
            </a:endParaRPr>
          </a:p>
        </p:txBody>
      </p:sp>
      <p:sp>
        <p:nvSpPr>
          <p:cNvPr id="39" name="Rounded Rectangle 38"/>
          <p:cNvSpPr/>
          <p:nvPr/>
        </p:nvSpPr>
        <p:spPr>
          <a:xfrm>
            <a:off x="9235440" y="3273552"/>
            <a:ext cx="1993392" cy="475488"/>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345168" y="3364992"/>
            <a:ext cx="292608" cy="29260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45168" y="3364992"/>
            <a:ext cx="292608" cy="292608"/>
          </a:xfrm>
          <a:prstGeom prst="rect">
            <a:avLst/>
          </a:prstGeom>
          <a:noFill/>
        </p:spPr>
        <p:txBody>
          <a:bodyPr wrap="square" lIns="0" tIns="0" rIns="0" bIns="0" anchor="ctr">
            <a:spAutoFit/>
          </a:bodyPr>
          <a:lstStyle/>
          <a:p>
            <a:pPr algn="ctr">
              <a:spcBef>
                <a:spcPts val="0"/>
              </a:spcBef>
              <a:spcAft>
                <a:spcPts val="0"/>
              </a:spcAft>
            </a:pPr>
            <a:r>
              <a:rPr sz="950" b="1" i="0">
                <a:solidFill>
                  <a:srgbClr val="FFFFFF"/>
                </a:solidFill>
                <a:latin typeface="Aptos"/>
              </a:rPr>
              <a:t>8</a:t>
            </a:r>
            <a:endParaRPr sz="950" b="1" i="0">
              <a:solidFill>
                <a:srgbClr val="FFFFFF"/>
              </a:solidFill>
              <a:latin typeface="Aptos"/>
            </a:endParaRPr>
          </a:p>
        </p:txBody>
      </p:sp>
      <p:sp>
        <p:nvSpPr>
          <p:cNvPr id="42" name="TextBox 41"/>
          <p:cNvSpPr txBox="1"/>
          <p:nvPr/>
        </p:nvSpPr>
        <p:spPr>
          <a:xfrm>
            <a:off x="9747504" y="3374136"/>
            <a:ext cx="1298448" cy="256032"/>
          </a:xfrm>
          <a:prstGeom prst="rect">
            <a:avLst/>
          </a:prstGeom>
          <a:noFill/>
        </p:spPr>
        <p:txBody>
          <a:bodyPr wrap="square" lIns="0" tIns="0" rIns="0" bIns="0" anchor="t">
            <a:spAutoFit/>
          </a:bodyPr>
          <a:lstStyle/>
          <a:p>
            <a:pPr algn="l">
              <a:spcBef>
                <a:spcPts val="0"/>
              </a:spcBef>
              <a:spcAft>
                <a:spcPts val="0"/>
              </a:spcAft>
            </a:pPr>
            <a:r>
              <a:rPr sz="1250" b="1" i="0">
                <a:solidFill>
                  <a:srgbClr val="0B1F33"/>
                </a:solidFill>
                <a:latin typeface="Aptos"/>
              </a:rPr>
              <a:t>Update</a:t>
            </a:r>
            <a:endParaRPr sz="1250" b="1" i="0">
              <a:solidFill>
                <a:srgbClr val="0B1F33"/>
              </a:solidFill>
              <a:latin typeface="Aptos"/>
            </a:endParaRPr>
          </a:p>
        </p:txBody>
      </p:sp>
      <p:sp>
        <p:nvSpPr>
          <p:cNvPr id="43" name="Rounded Rectangle 42"/>
          <p:cNvSpPr/>
          <p:nvPr/>
        </p:nvSpPr>
        <p:spPr>
          <a:xfrm>
            <a:off x="9235440" y="3904487"/>
            <a:ext cx="1993392" cy="475488"/>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345168" y="3995927"/>
            <a:ext cx="292608" cy="29260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45168" y="3995927"/>
            <a:ext cx="292608" cy="292608"/>
          </a:xfrm>
          <a:prstGeom prst="rect">
            <a:avLst/>
          </a:prstGeom>
          <a:noFill/>
        </p:spPr>
        <p:txBody>
          <a:bodyPr wrap="square" lIns="0" tIns="0" rIns="0" bIns="0" anchor="ctr">
            <a:spAutoFit/>
          </a:bodyPr>
          <a:lstStyle/>
          <a:p>
            <a:pPr algn="ctr">
              <a:spcBef>
                <a:spcPts val="0"/>
              </a:spcBef>
              <a:spcAft>
                <a:spcPts val="0"/>
              </a:spcAft>
            </a:pPr>
            <a:r>
              <a:rPr sz="950" b="1" i="0">
                <a:solidFill>
                  <a:srgbClr val="FFFFFF"/>
                </a:solidFill>
                <a:latin typeface="Aptos"/>
              </a:rPr>
              <a:t>9</a:t>
            </a:r>
            <a:endParaRPr sz="950" b="1" i="0">
              <a:solidFill>
                <a:srgbClr val="FFFFFF"/>
              </a:solidFill>
              <a:latin typeface="Aptos"/>
            </a:endParaRPr>
          </a:p>
        </p:txBody>
      </p:sp>
      <p:sp>
        <p:nvSpPr>
          <p:cNvPr id="46" name="TextBox 45"/>
          <p:cNvSpPr txBox="1"/>
          <p:nvPr/>
        </p:nvSpPr>
        <p:spPr>
          <a:xfrm>
            <a:off x="9747504" y="4005072"/>
            <a:ext cx="1298448" cy="256032"/>
          </a:xfrm>
          <a:prstGeom prst="rect">
            <a:avLst/>
          </a:prstGeom>
          <a:noFill/>
        </p:spPr>
        <p:txBody>
          <a:bodyPr wrap="square" lIns="0" tIns="0" rIns="0" bIns="0" anchor="t">
            <a:spAutoFit/>
          </a:bodyPr>
          <a:lstStyle/>
          <a:p>
            <a:pPr algn="l">
              <a:spcBef>
                <a:spcPts val="0"/>
              </a:spcBef>
              <a:spcAft>
                <a:spcPts val="0"/>
              </a:spcAft>
            </a:pPr>
            <a:r>
              <a:rPr sz="1250" b="1" i="0">
                <a:solidFill>
                  <a:srgbClr val="0B1F33"/>
                </a:solidFill>
                <a:latin typeface="Aptos"/>
              </a:rPr>
              <a:t>Delete</a:t>
            </a:r>
            <a:endParaRPr sz="1250" b="1" i="0">
              <a:solidFill>
                <a:srgbClr val="0B1F33"/>
              </a:solidFill>
              <a:latin typeface="Aptos"/>
            </a:endParaRPr>
          </a:p>
        </p:txBody>
      </p:sp>
      <p:sp>
        <p:nvSpPr>
          <p:cNvPr id="47" name="Rounded Rectangle 46"/>
          <p:cNvSpPr/>
          <p:nvPr/>
        </p:nvSpPr>
        <p:spPr>
          <a:xfrm>
            <a:off x="6995160" y="5321808"/>
            <a:ext cx="4224528" cy="640080"/>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196328" y="5495544"/>
            <a:ext cx="3822191" cy="274320"/>
          </a:xfrm>
          <a:prstGeom prst="rect">
            <a:avLst/>
          </a:prstGeom>
          <a:noFill/>
        </p:spPr>
        <p:txBody>
          <a:bodyPr wrap="square" lIns="0" tIns="0" rIns="0" bIns="0" anchor="t">
            <a:spAutoFit/>
          </a:bodyPr>
          <a:lstStyle/>
          <a:p>
            <a:pPr algn="ctr">
              <a:spcBef>
                <a:spcPts val="0"/>
              </a:spcBef>
              <a:spcAft>
                <a:spcPts val="0"/>
              </a:spcAft>
            </a:pPr>
            <a:r>
              <a:rPr sz="1350" b="0" i="0">
                <a:solidFill>
                  <a:srgbClr val="D5E1EB"/>
                </a:solidFill>
                <a:latin typeface="Consolas" panose="020B0609020204030204"/>
              </a:rPr>
              <a:t>{ "success": true, "data": { … } }</a:t>
            </a:r>
            <a:endParaRPr sz="1350" b="0" i="0">
              <a:solidFill>
                <a:srgbClr val="D5E1EB"/>
              </a:solidFill>
              <a:latin typeface="Consolas" panose="020B0609020204030204"/>
            </a:endParaRPr>
          </a:p>
        </p:txBody>
      </p:sp>
      <p:sp>
        <p:nvSpPr>
          <p:cNvPr id="49" name="TextBox 48"/>
          <p:cNvSpPr txBox="1"/>
          <p:nvPr/>
        </p:nvSpPr>
        <p:spPr>
          <a:xfrm>
            <a:off x="658368" y="6519672"/>
            <a:ext cx="3840480" cy="146304"/>
          </a:xfrm>
          <a:prstGeom prst="rect">
            <a:avLst/>
          </a:prstGeom>
          <a:noFill/>
        </p:spPr>
        <p:txBody>
          <a:bodyPr wrap="square" lIns="0" tIns="0" rIns="0" bIns="0" anchor="t">
            <a:spAutoFit/>
          </a:bodyPr>
          <a:lstStyle/>
          <a:p>
            <a:pPr algn="l">
              <a:spcBef>
                <a:spcPts val="0"/>
              </a:spcBef>
              <a:spcAft>
                <a:spcPts val="0"/>
              </a:spcAft>
            </a:pPr>
            <a:r>
              <a:rPr sz="850" b="1" i="0">
                <a:solidFill>
                  <a:srgbClr val="7A858F"/>
                </a:solidFill>
                <a:latin typeface="Aptos"/>
              </a:rPr>
              <a:t>ETRELAY: RENTAL OPERATIONS</a:t>
            </a:r>
            <a:endParaRPr sz="850" b="1" i="0">
              <a:solidFill>
                <a:srgbClr val="7A858F"/>
              </a:solidFill>
              <a:latin typeface="Aptos"/>
            </a:endParaRPr>
          </a:p>
        </p:txBody>
      </p:sp>
      <p:sp>
        <p:nvSpPr>
          <p:cNvPr id="50" name="TextBox 49"/>
          <p:cNvSpPr txBox="1"/>
          <p:nvPr/>
        </p:nvSpPr>
        <p:spPr>
          <a:xfrm>
            <a:off x="7680960" y="6519672"/>
            <a:ext cx="3840480" cy="146304"/>
          </a:xfrm>
          <a:prstGeom prst="rect">
            <a:avLst/>
          </a:prstGeom>
          <a:noFill/>
        </p:spPr>
        <p:txBody>
          <a:bodyPr wrap="square" lIns="0" tIns="0" rIns="0" bIns="0" anchor="t">
            <a:spAutoFit/>
          </a:bodyPr>
          <a:lstStyle/>
          <a:p>
            <a:pPr algn="r">
              <a:spcBef>
                <a:spcPts val="0"/>
              </a:spcBef>
              <a:spcAft>
                <a:spcPts val="0"/>
              </a:spcAft>
            </a:pPr>
            <a:r>
              <a:rPr sz="850" b="0" i="0">
                <a:solidFill>
                  <a:srgbClr val="7A858F"/>
                </a:solidFill>
                <a:latin typeface="Aptos"/>
              </a:rPr>
              <a:t>TRAN KHANH BINH • 2231200127</a:t>
            </a:r>
            <a:endParaRPr sz="850" b="0" i="0">
              <a:solidFill>
                <a:srgbClr val="7A858F"/>
              </a:solidFill>
              <a:latin typeface="Aptos"/>
            </a:endParaRPr>
          </a:p>
        </p:txBody>
      </p:sp>
      <p:pic>
        <p:nvPicPr>
          <p:cNvPr id="51" name="api-health-evidence" descr="api-health-response.png"/>
          <p:cNvPicPr>
            <a:picLocks noChangeAspect="1"/>
          </p:cNvPicPr>
          <p:nvPr/>
        </p:nvPicPr>
        <p:blipFill>
          <a:blip r:embed="rId2"/>
          <a:stretch>
            <a:fillRect/>
          </a:stretch>
        </p:blipFill>
        <p:spPr>
          <a:xfrm>
            <a:off x="5900000" y="2300000"/>
            <a:ext cx="5500000" cy="2713333"/>
          </a:xfrm>
          <a:prstGeom prst="rect">
            <a:avLst/>
          </a:prstGeom>
        </p:spPr>
      </p:pic>
      <p:pic>
        <p:nvPicPr>
          <p:cNvPr id="52" name="Picture 51" descr="emulator-customer-local.png"/>
          <p:cNvPicPr>
            <a:picLocks noChangeAspect="1"/>
          </p:cNvPicPr>
          <p:nvPr/>
        </p:nvPicPr>
        <p:blipFill>
          <a:blip r:embed="rId3"/>
          <a:stretch>
            <a:fillRect/>
          </a:stretch>
        </p:blipFill>
        <p:spPr>
          <a:xfrm>
            <a:off x="777240" y="1874519"/>
            <a:ext cx="5440680" cy="3187898"/>
          </a:xfrm>
          <a:prstGeom prst="rect">
            <a:avLst/>
          </a:prstGeom>
        </p:spPr>
      </p:pic>
      <p:sp>
        <p:nvSpPr>
          <p:cNvPr id="53" name="TextBox 52"/>
          <p:cNvSpPr txBox="1"/>
          <p:nvPr/>
        </p:nvSpPr>
        <p:spPr>
          <a:xfrm>
            <a:off x="868680" y="5212080"/>
            <a:ext cx="5120640" cy="320040"/>
          </a:xfrm>
          <a:prstGeom prst="rect">
            <a:avLst/>
          </a:prstGeom>
          <a:noFill/>
        </p:spPr>
        <p:txBody>
          <a:bodyPr wrap="none">
            <a:spAutoFit/>
          </a:bodyPr>
          <a:lstStyle/>
          <a:p>
            <a:pPr>
              <a:defRPr sz="1000" b="1">
                <a:latin typeface="Aptos"/>
              </a:defRPr>
            </a:pPr>
            <a:r>
              <a:t>RUNTIME EVIDENCE  •  local Customer data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7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7680960" cy="237744"/>
          </a:xfrm>
          <a:prstGeom prst="rect">
            <a:avLst/>
          </a:prstGeom>
          <a:noFill/>
        </p:spPr>
        <p:txBody>
          <a:bodyPr wrap="square" lIns="0" tIns="0" rIns="0" bIns="0" anchor="t">
            <a:spAutoFit/>
          </a:bodyPr>
          <a:lstStyle/>
          <a:p>
            <a:pPr algn="l">
              <a:spcBef>
                <a:spcPts val="0"/>
              </a:spcBef>
              <a:spcAft>
                <a:spcPts val="0"/>
              </a:spcAft>
            </a:pPr>
            <a:r>
              <a:rPr sz="1000" b="1" i="0">
                <a:solidFill>
                  <a:srgbClr val="1E5EFF"/>
                </a:solidFill>
                <a:latin typeface="Aptos Display"/>
              </a:rPr>
              <a:t>CSW430 • MOBILE APPLICATION DEVELOPMENT</a:t>
            </a:r>
            <a:endParaRPr sz="1000" b="1" i="0">
              <a:solidFill>
                <a:srgbClr val="1E5EFF"/>
              </a:solidFill>
              <a:latin typeface="Aptos Display"/>
            </a:endParaRPr>
          </a:p>
        </p:txBody>
      </p:sp>
      <p:sp>
        <p:nvSpPr>
          <p:cNvPr id="4" name="TextBox 3"/>
          <p:cNvSpPr txBox="1"/>
          <p:nvPr/>
        </p:nvSpPr>
        <p:spPr>
          <a:xfrm>
            <a:off x="658368" y="658368"/>
            <a:ext cx="9875520" cy="585216"/>
          </a:xfrm>
          <a:prstGeom prst="rect">
            <a:avLst/>
          </a:prstGeom>
          <a:noFill/>
        </p:spPr>
        <p:txBody>
          <a:bodyPr wrap="square" lIns="0" tIns="0" rIns="0" bIns="0" anchor="t">
            <a:spAutoFit/>
          </a:bodyPr>
          <a:lstStyle/>
          <a:p>
            <a:pPr algn="l">
              <a:spcBef>
                <a:spcPts val="0"/>
              </a:spcBef>
              <a:spcAft>
                <a:spcPts val="0"/>
              </a:spcAft>
            </a:pPr>
            <a:r>
              <a:rPr sz="2900" b="1" i="0">
                <a:solidFill>
                  <a:srgbClr val="0B1F33"/>
                </a:solidFill>
                <a:latin typeface="Aptos Display"/>
              </a:rPr>
              <a:t>Runtime UI and screen coverage</a:t>
            </a:r>
            <a:endParaRPr sz="2900" b="1" i="0">
              <a:solidFill>
                <a:srgbClr val="0B1F33"/>
              </a:solidFill>
              <a:latin typeface="Aptos Display"/>
            </a:endParaRPr>
          </a:p>
        </p:txBody>
      </p:sp>
      <p:sp>
        <p:nvSpPr>
          <p:cNvPr id="5" name="TextBox 4"/>
          <p:cNvSpPr txBox="1"/>
          <p:nvPr/>
        </p:nvSpPr>
        <p:spPr>
          <a:xfrm>
            <a:off x="676656" y="1252728"/>
            <a:ext cx="9966960" cy="347472"/>
          </a:xfrm>
          <a:prstGeom prst="rect">
            <a:avLst/>
          </a:prstGeom>
          <a:noFill/>
        </p:spPr>
        <p:txBody>
          <a:bodyPr wrap="square" lIns="0" tIns="0" rIns="0" bIns="0" anchor="t">
            <a:spAutoFit/>
          </a:bodyPr>
          <a:lstStyle/>
          <a:p>
            <a:r>
              <a:t>Authenticated Etrelay screens captured on the connected Android Studio emulator.</a:t>
            </a:r>
          </a:p>
        </p:txBody>
      </p:sp>
      <p:sp>
        <p:nvSpPr>
          <p:cNvPr id="6" name="Rounded Rectangle 5"/>
          <p:cNvSpPr/>
          <p:nvPr/>
        </p:nvSpPr>
        <p:spPr>
          <a:xfrm>
            <a:off x="11064240" y="320040"/>
            <a:ext cx="502920" cy="384048"/>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20040"/>
            <a:ext cx="502920" cy="384048"/>
          </a:xfrm>
          <a:prstGeom prst="rect">
            <a:avLst/>
          </a:prstGeom>
          <a:noFill/>
        </p:spPr>
        <p:txBody>
          <a:bodyPr wrap="square" lIns="0" tIns="0" rIns="0" bIns="0" anchor="ctr">
            <a:spAutoFit/>
          </a:bodyPr>
          <a:lstStyle/>
          <a:p>
            <a:pPr algn="ctr">
              <a:spcBef>
                <a:spcPts val="0"/>
              </a:spcBef>
              <a:spcAft>
                <a:spcPts val="0"/>
              </a:spcAft>
            </a:pPr>
            <a:r>
              <a:rPr sz="1200" b="1" i="0">
                <a:solidFill>
                  <a:srgbClr val="FFFFFF"/>
                </a:solidFill>
                <a:latin typeface="Aptos"/>
              </a:rPr>
              <a:t>09</a:t>
            </a:r>
            <a:endParaRPr sz="1200" b="1" i="0">
              <a:solidFill>
                <a:srgbClr val="FFFFFF"/>
              </a:solidFill>
              <a:latin typeface="Aptos"/>
            </a:endParaRPr>
          </a:p>
        </p:txBody>
      </p:sp>
      <p:sp>
        <p:nvSpPr>
          <p:cNvPr id="8" name="Rounded Rectangle 7"/>
          <p:cNvSpPr/>
          <p:nvPr/>
        </p:nvSpPr>
        <p:spPr>
          <a:xfrm>
            <a:off x="658368" y="1600200"/>
            <a:ext cx="5943600" cy="4315968"/>
          </a:xfrm>
          <a:prstGeom prst="roundRect">
            <a:avLst/>
          </a:prstGeom>
          <a:solidFill>
            <a:srgbClr val="FFFFFF"/>
          </a:solidFill>
          <a:ln w="1016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8_transfer_list_cropped.png"/>
          <p:cNvPicPr>
            <a:picLocks noChangeAspect="1"/>
          </p:cNvPicPr>
          <p:nvPr/>
        </p:nvPicPr>
        <p:blipFill>
          <a:blip r:embed="rId1"/>
          <a:stretch>
            <a:fillRect/>
          </a:stretch>
        </p:blipFill>
        <p:spPr>
          <a:xfrm>
            <a:off x="813082" y="1709928"/>
            <a:ext cx="5634171" cy="4096511"/>
          </a:xfrm>
          <a:prstGeom prst="rect">
            <a:avLst/>
          </a:prstGeom>
        </p:spPr>
      </p:pic>
      <p:sp>
        <p:nvSpPr>
          <p:cNvPr id="10" name="Rounded Rectangle 9"/>
          <p:cNvSpPr/>
          <p:nvPr/>
        </p:nvSpPr>
        <p:spPr>
          <a:xfrm>
            <a:off x="6839712" y="1600200"/>
            <a:ext cx="4709160" cy="4315968"/>
          </a:xfrm>
          <a:prstGeom prst="roundRect">
            <a:avLst/>
          </a:prstGeom>
          <a:solidFill>
            <a:srgbClr val="FFFFFF"/>
          </a:solidFill>
          <a:ln w="1016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9_asset_list_cropped.png"/>
          <p:cNvPicPr>
            <a:picLocks noChangeAspect="1"/>
          </p:cNvPicPr>
          <p:nvPr/>
        </p:nvPicPr>
        <p:blipFill>
          <a:blip r:embed="rId2"/>
          <a:stretch>
            <a:fillRect/>
          </a:stretch>
        </p:blipFill>
        <p:spPr>
          <a:xfrm>
            <a:off x="6949440" y="2125989"/>
            <a:ext cx="4489704" cy="3264388"/>
          </a:xfrm>
          <a:prstGeom prst="rect">
            <a:avLst/>
          </a:prstGeom>
        </p:spPr>
      </p:pic>
      <p:sp>
        <p:nvSpPr>
          <p:cNvPr id="12" name="Rounded Rectangle 11"/>
          <p:cNvSpPr/>
          <p:nvPr/>
        </p:nvSpPr>
        <p:spPr>
          <a:xfrm>
            <a:off x="868680" y="6035040"/>
            <a:ext cx="1572768" cy="310896"/>
          </a:xfrm>
          <a:prstGeom prst="roundRect">
            <a:avLst/>
          </a:prstGeom>
          <a:solidFill>
            <a:srgbClr val="E8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6035040"/>
            <a:ext cx="1389888" cy="310896"/>
          </a:xfrm>
          <a:prstGeom prst="rect">
            <a:avLst/>
          </a:prstGeom>
          <a:noFill/>
        </p:spPr>
        <p:txBody>
          <a:bodyPr wrap="square" lIns="0" tIns="0" rIns="0" bIns="0" anchor="ctr">
            <a:spAutoFit/>
          </a:bodyPr>
          <a:lstStyle/>
          <a:p>
            <a:pPr algn="ctr">
              <a:spcBef>
                <a:spcPts val="0"/>
              </a:spcBef>
              <a:spcAft>
                <a:spcPts val="0"/>
              </a:spcAft>
            </a:pPr>
            <a:r>
              <a:rPr sz="1100" b="1" i="0">
                <a:solidFill>
                  <a:srgbClr val="1E5EFF"/>
                </a:solidFill>
                <a:latin typeface="Aptos"/>
              </a:rPr>
              <a:t>TRANSFER LIST</a:t>
            </a:r>
            <a:endParaRPr sz="1100" b="1" i="0">
              <a:solidFill>
                <a:srgbClr val="1E5EFF"/>
              </a:solidFill>
              <a:latin typeface="Aptos"/>
            </a:endParaRPr>
          </a:p>
        </p:txBody>
      </p:sp>
      <p:sp>
        <p:nvSpPr>
          <p:cNvPr id="14" name="TextBox 13"/>
          <p:cNvSpPr txBox="1"/>
          <p:nvPr/>
        </p:nvSpPr>
        <p:spPr>
          <a:xfrm>
            <a:off x="2596896" y="6053328"/>
            <a:ext cx="3611880" cy="256032"/>
          </a:xfrm>
          <a:prstGeom prst="rect">
            <a:avLst/>
          </a:prstGeom>
          <a:noFill/>
        </p:spPr>
        <p:txBody>
          <a:bodyPr wrap="square" lIns="0" tIns="0" rIns="0" bIns="0" anchor="t">
            <a:spAutoFit/>
          </a:bodyPr>
          <a:lstStyle/>
          <a:p>
            <a:pPr algn="l">
              <a:spcBef>
                <a:spcPts val="0"/>
              </a:spcBef>
              <a:spcAft>
                <a:spcPts val="0"/>
              </a:spcAft>
            </a:pPr>
            <a:r>
              <a:rPr sz="1250" b="0" i="0">
                <a:solidFill>
                  <a:srgbClr val="0B1F33"/>
                </a:solidFill>
                <a:latin typeface="Aptos"/>
              </a:rPr>
              <a:t>Search • filters • state badges • ownership</a:t>
            </a:r>
            <a:endParaRPr sz="1250" b="0" i="0">
              <a:solidFill>
                <a:srgbClr val="0B1F33"/>
              </a:solidFill>
              <a:latin typeface="Aptos"/>
            </a:endParaRPr>
          </a:p>
        </p:txBody>
      </p:sp>
      <p:sp>
        <p:nvSpPr>
          <p:cNvPr id="15" name="Rounded Rectangle 14"/>
          <p:cNvSpPr/>
          <p:nvPr/>
        </p:nvSpPr>
        <p:spPr>
          <a:xfrm>
            <a:off x="7068312" y="6035040"/>
            <a:ext cx="1389888" cy="310896"/>
          </a:xfrm>
          <a:prstGeom prst="roundRect">
            <a:avLst/>
          </a:prstGeom>
          <a:solidFill>
            <a:srgbClr val="DF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59752" y="6035040"/>
            <a:ext cx="1207008" cy="310896"/>
          </a:xfrm>
          <a:prstGeom prst="rect">
            <a:avLst/>
          </a:prstGeom>
          <a:noFill/>
        </p:spPr>
        <p:txBody>
          <a:bodyPr wrap="square" lIns="0" tIns="0" rIns="0" bIns="0" anchor="ctr">
            <a:spAutoFit/>
          </a:bodyPr>
          <a:lstStyle/>
          <a:p>
            <a:pPr algn="ctr">
              <a:spcBef>
                <a:spcPts val="0"/>
              </a:spcBef>
              <a:spcAft>
                <a:spcPts val="0"/>
              </a:spcAft>
            </a:pPr>
            <a:r>
              <a:rPr sz="1100" b="1" i="0">
                <a:solidFill>
                  <a:srgbClr val="14B8A6"/>
                </a:solidFill>
                <a:latin typeface="Aptos"/>
              </a:rPr>
              <a:t>ASSET LIST</a:t>
            </a:r>
            <a:endParaRPr sz="1100" b="1" i="0">
              <a:solidFill>
                <a:srgbClr val="14B8A6"/>
              </a:solidFill>
              <a:latin typeface="Aptos"/>
            </a:endParaRPr>
          </a:p>
        </p:txBody>
      </p:sp>
      <p:sp>
        <p:nvSpPr>
          <p:cNvPr id="17" name="TextBox 16"/>
          <p:cNvSpPr txBox="1"/>
          <p:nvPr/>
        </p:nvSpPr>
        <p:spPr>
          <a:xfrm>
            <a:off x="8641080" y="5989320"/>
            <a:ext cx="2788920" cy="457200"/>
          </a:xfrm>
          <a:prstGeom prst="rect">
            <a:avLst/>
          </a:prstGeom>
          <a:noFill/>
        </p:spPr>
        <p:txBody>
          <a:bodyPr wrap="square" lIns="0" tIns="0" rIns="0" bIns="0" anchor="t">
            <a:spAutoFit/>
          </a:bodyPr>
          <a:lstStyle/>
          <a:p>
            <a:pPr algn="l">
              <a:spcBef>
                <a:spcPts val="0"/>
              </a:spcBef>
              <a:spcAft>
                <a:spcPts val="0"/>
              </a:spcAft>
            </a:pPr>
            <a:r>
              <a:rPr sz="1250" b="0" i="0">
                <a:solidFill>
                  <a:srgbClr val="0B1F33"/>
                </a:solidFill>
                <a:latin typeface="Aptos"/>
              </a:rPr>
              <a:t>Serialized • bulk • warehouse • working state</a:t>
            </a:r>
            <a:endParaRPr sz="1250" b="0" i="0">
              <a:solidFill>
                <a:srgbClr val="0B1F33"/>
              </a:solidFill>
              <a:latin typeface="Aptos"/>
            </a:endParaRPr>
          </a:p>
        </p:txBody>
      </p:sp>
      <p:sp>
        <p:nvSpPr>
          <p:cNvPr id="18" name="TextBox 17"/>
          <p:cNvSpPr txBox="1"/>
          <p:nvPr/>
        </p:nvSpPr>
        <p:spPr>
          <a:xfrm>
            <a:off x="658368" y="6519672"/>
            <a:ext cx="3840480" cy="146304"/>
          </a:xfrm>
          <a:prstGeom prst="rect">
            <a:avLst/>
          </a:prstGeom>
          <a:noFill/>
        </p:spPr>
        <p:txBody>
          <a:bodyPr wrap="square" lIns="0" tIns="0" rIns="0" bIns="0" anchor="t">
            <a:spAutoFit/>
          </a:bodyPr>
          <a:lstStyle/>
          <a:p>
            <a:pPr algn="l">
              <a:spcBef>
                <a:spcPts val="0"/>
              </a:spcBef>
              <a:spcAft>
                <a:spcPts val="0"/>
              </a:spcAft>
            </a:pPr>
            <a:r>
              <a:rPr sz="850" b="1" i="0">
                <a:solidFill>
                  <a:srgbClr val="7A858F"/>
                </a:solidFill>
                <a:latin typeface="Aptos"/>
              </a:rPr>
              <a:t>ETRELAY: RENTAL OPERATIONS</a:t>
            </a:r>
            <a:endParaRPr sz="850" b="1" i="0">
              <a:solidFill>
                <a:srgbClr val="7A858F"/>
              </a:solidFill>
              <a:latin typeface="Aptos"/>
            </a:endParaRPr>
          </a:p>
        </p:txBody>
      </p:sp>
      <p:sp>
        <p:nvSpPr>
          <p:cNvPr id="19" name="TextBox 18"/>
          <p:cNvSpPr txBox="1"/>
          <p:nvPr/>
        </p:nvSpPr>
        <p:spPr>
          <a:xfrm>
            <a:off x="7680960" y="6519672"/>
            <a:ext cx="3840480" cy="146304"/>
          </a:xfrm>
          <a:prstGeom prst="rect">
            <a:avLst/>
          </a:prstGeom>
          <a:noFill/>
        </p:spPr>
        <p:txBody>
          <a:bodyPr wrap="square" lIns="0" tIns="0" rIns="0" bIns="0" anchor="t">
            <a:spAutoFit/>
          </a:bodyPr>
          <a:lstStyle/>
          <a:p>
            <a:pPr algn="r">
              <a:spcBef>
                <a:spcPts val="0"/>
              </a:spcBef>
              <a:spcAft>
                <a:spcPts val="0"/>
              </a:spcAft>
            </a:pPr>
            <a:r>
              <a:rPr sz="850" b="0" i="0">
                <a:solidFill>
                  <a:srgbClr val="7A858F"/>
                </a:solidFill>
                <a:latin typeface="Aptos"/>
              </a:rPr>
              <a:t>TRAN KHANH BINH • 2231200127</a:t>
            </a:r>
            <a:endParaRPr sz="850" b="0" i="0">
              <a:solidFill>
                <a:srgbClr val="7A858F"/>
              </a:solidFill>
              <a:latin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7680960" cy="237744"/>
          </a:xfrm>
          <a:prstGeom prst="rect">
            <a:avLst/>
          </a:prstGeom>
          <a:noFill/>
        </p:spPr>
        <p:txBody>
          <a:bodyPr wrap="square" lIns="0" tIns="0" rIns="0" bIns="0" anchor="t">
            <a:spAutoFit/>
          </a:bodyPr>
          <a:lstStyle/>
          <a:p>
            <a:pPr algn="l">
              <a:spcBef>
                <a:spcPts val="0"/>
              </a:spcBef>
              <a:spcAft>
                <a:spcPts val="0"/>
              </a:spcAft>
            </a:pPr>
            <a:r>
              <a:rPr sz="1000" b="1" i="0">
                <a:solidFill>
                  <a:srgbClr val="14B8A6"/>
                </a:solidFill>
                <a:latin typeface="Aptos Display"/>
              </a:rPr>
              <a:t>CSW430 • MOBILE APPLICATION DEVELOPMENT</a:t>
            </a:r>
            <a:endParaRPr sz="1000" b="1" i="0">
              <a:solidFill>
                <a:srgbClr val="14B8A6"/>
              </a:solidFill>
              <a:latin typeface="Aptos Display"/>
            </a:endParaRPr>
          </a:p>
        </p:txBody>
      </p:sp>
      <p:sp>
        <p:nvSpPr>
          <p:cNvPr id="4" name="TextBox 3"/>
          <p:cNvSpPr txBox="1"/>
          <p:nvPr/>
        </p:nvSpPr>
        <p:spPr>
          <a:xfrm>
            <a:off x="658368" y="658368"/>
            <a:ext cx="9875520" cy="585216"/>
          </a:xfrm>
          <a:prstGeom prst="rect">
            <a:avLst/>
          </a:prstGeom>
          <a:noFill/>
        </p:spPr>
        <p:txBody>
          <a:bodyPr wrap="square" lIns="0" tIns="0" rIns="0" bIns="0" anchor="t">
            <a:spAutoFit/>
          </a:bodyPr>
          <a:lstStyle/>
          <a:p>
            <a:pPr algn="l">
              <a:spcBef>
                <a:spcPts val="0"/>
              </a:spcBef>
              <a:spcAft>
                <a:spcPts val="0"/>
              </a:spcAft>
            </a:pPr>
            <a:r>
              <a:rPr sz="2900" b="1" i="0">
                <a:solidFill>
                  <a:srgbClr val="FFFFFF"/>
                </a:solidFill>
                <a:latin typeface="Aptos Display"/>
              </a:rPr>
              <a:t>Testing and verified results</a:t>
            </a:r>
            <a:endParaRPr sz="2900" b="1" i="0">
              <a:solidFill>
                <a:srgbClr val="FFFFFF"/>
              </a:solidFill>
              <a:latin typeface="Aptos Display"/>
            </a:endParaRPr>
          </a:p>
        </p:txBody>
      </p:sp>
      <p:sp>
        <p:nvSpPr>
          <p:cNvPr id="5" name="TextBox 4"/>
          <p:cNvSpPr txBox="1"/>
          <p:nvPr/>
        </p:nvSpPr>
        <p:spPr>
          <a:xfrm>
            <a:off x="676656" y="1252728"/>
            <a:ext cx="9966960" cy="347472"/>
          </a:xfrm>
          <a:prstGeom prst="rect">
            <a:avLst/>
          </a:prstGeom>
          <a:noFill/>
        </p:spPr>
        <p:txBody>
          <a:bodyPr wrap="square" lIns="0" tIns="0" rIns="0" bIns="0" anchor="t">
            <a:spAutoFit/>
          </a:bodyPr>
          <a:lstStyle/>
          <a:p>
            <a:pPr algn="l">
              <a:spcBef>
                <a:spcPts val="0"/>
              </a:spcBef>
              <a:spcAft>
                <a:spcPts val="0"/>
              </a:spcAft>
            </a:pPr>
            <a:r>
              <a:rPr sz="1300" b="0" i="0">
                <a:solidFill>
                  <a:srgbClr val="B9C8D6"/>
                </a:solidFill>
                <a:latin typeface="Aptos"/>
              </a:rPr>
              <a:t>Verification of Flutter, REST API and local demo components.</a:t>
            </a:r>
            <a:endParaRPr sz="1300" b="0" i="0">
              <a:solidFill>
                <a:srgbClr val="B9C8D6"/>
              </a:solidFill>
              <a:latin typeface="Aptos"/>
            </a:endParaRPr>
          </a:p>
        </p:txBody>
      </p:sp>
      <p:sp>
        <p:nvSpPr>
          <p:cNvPr id="6" name="Rounded Rectangle 5"/>
          <p:cNvSpPr/>
          <p:nvPr/>
        </p:nvSpPr>
        <p:spPr>
          <a:xfrm>
            <a:off x="11064240" y="320040"/>
            <a:ext cx="502920" cy="38404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20040"/>
            <a:ext cx="502920" cy="384048"/>
          </a:xfrm>
          <a:prstGeom prst="rect">
            <a:avLst/>
          </a:prstGeom>
          <a:noFill/>
        </p:spPr>
        <p:txBody>
          <a:bodyPr wrap="square" lIns="0" tIns="0" rIns="0" bIns="0" anchor="ctr">
            <a:spAutoFit/>
          </a:bodyPr>
          <a:lstStyle/>
          <a:p>
            <a:pPr algn="ctr">
              <a:spcBef>
                <a:spcPts val="0"/>
              </a:spcBef>
              <a:spcAft>
                <a:spcPts val="0"/>
              </a:spcAft>
            </a:pPr>
            <a:r>
              <a:rPr sz="1200" b="1" i="0">
                <a:solidFill>
                  <a:srgbClr val="FFFFFF"/>
                </a:solidFill>
                <a:latin typeface="Aptos"/>
              </a:rPr>
              <a:t>10</a:t>
            </a:r>
            <a:endParaRPr sz="1200" b="1" i="0">
              <a:solidFill>
                <a:srgbClr val="FFFFFF"/>
              </a:solidFill>
              <a:latin typeface="Aptos"/>
            </a:endParaRPr>
          </a:p>
        </p:txBody>
      </p:sp>
      <p:sp>
        <p:nvSpPr>
          <p:cNvPr id="8" name="TextBox 7"/>
          <p:cNvSpPr txBox="1"/>
          <p:nvPr/>
        </p:nvSpPr>
        <p:spPr>
          <a:xfrm>
            <a:off x="777240" y="1874519"/>
            <a:ext cx="2468880" cy="960120"/>
          </a:xfrm>
          <a:prstGeom prst="rect">
            <a:avLst/>
          </a:prstGeom>
          <a:noFill/>
        </p:spPr>
        <p:txBody>
          <a:bodyPr wrap="square" lIns="0" tIns="0" rIns="0" bIns="0" anchor="t">
            <a:spAutoFit/>
          </a:bodyPr>
          <a:lstStyle/>
          <a:p>
            <a:pPr algn="l">
              <a:spcBef>
                <a:spcPts val="0"/>
              </a:spcBef>
              <a:spcAft>
                <a:spcPts val="0"/>
              </a:spcAft>
            </a:pPr>
            <a:r>
              <a:rPr sz="4800" b="1" i="0">
                <a:solidFill>
                  <a:srgbClr val="14B8A6"/>
                </a:solidFill>
                <a:latin typeface="Aptos Display"/>
              </a:rPr>
              <a:t>127</a:t>
            </a:r>
            <a:endParaRPr sz="4800" b="1" i="0">
              <a:solidFill>
                <a:srgbClr val="14B8A6"/>
              </a:solidFill>
              <a:latin typeface="Aptos Display"/>
            </a:endParaRPr>
          </a:p>
        </p:txBody>
      </p:sp>
      <p:sp>
        <p:nvSpPr>
          <p:cNvPr id="9" name="TextBox 8"/>
          <p:cNvSpPr txBox="1"/>
          <p:nvPr/>
        </p:nvSpPr>
        <p:spPr>
          <a:xfrm>
            <a:off x="777240" y="2770632"/>
            <a:ext cx="2468880" cy="347472"/>
          </a:xfrm>
          <a:prstGeom prst="rect">
            <a:avLst/>
          </a:prstGeom>
          <a:noFill/>
        </p:spPr>
        <p:txBody>
          <a:bodyPr wrap="square" lIns="0" tIns="0" rIns="0" bIns="0" anchor="t">
            <a:spAutoFit/>
          </a:bodyPr>
          <a:lstStyle/>
          <a:p>
            <a:pPr algn="l">
              <a:spcBef>
                <a:spcPts val="0"/>
              </a:spcBef>
              <a:spcAft>
                <a:spcPts val="0"/>
              </a:spcAft>
            </a:pPr>
            <a:r>
              <a:rPr sz="1600" b="1" i="0">
                <a:solidFill>
                  <a:srgbClr val="FFFFFF"/>
                </a:solidFill>
                <a:latin typeface="Aptos"/>
              </a:rPr>
              <a:t>Flutter tests</a:t>
            </a:r>
            <a:endParaRPr sz="1600" b="1" i="0">
              <a:solidFill>
                <a:srgbClr val="FFFFFF"/>
              </a:solidFill>
              <a:latin typeface="Aptos"/>
            </a:endParaRPr>
          </a:p>
        </p:txBody>
      </p:sp>
      <p:sp>
        <p:nvSpPr>
          <p:cNvPr id="10" name="TextBox 9"/>
          <p:cNvSpPr txBox="1"/>
          <p:nvPr/>
        </p:nvSpPr>
        <p:spPr>
          <a:xfrm>
            <a:off x="777240" y="3246120"/>
            <a:ext cx="2468880" cy="868680"/>
          </a:xfrm>
          <a:prstGeom prst="rect">
            <a:avLst/>
          </a:prstGeom>
          <a:noFill/>
        </p:spPr>
        <p:txBody>
          <a:bodyPr wrap="square" lIns="0" tIns="0" rIns="0" bIns="0" anchor="t">
            <a:spAutoFit/>
          </a:bodyPr>
          <a:lstStyle/>
          <a:p>
            <a:pPr algn="l">
              <a:spcBef>
                <a:spcPts val="0"/>
              </a:spcBef>
              <a:spcAft>
                <a:spcPts val="0"/>
              </a:spcAft>
            </a:pPr>
            <a:r>
              <a:rPr sz="1250" b="0" i="0">
                <a:solidFill>
                  <a:srgbClr val="B9C8D6"/>
                </a:solidFill>
                <a:latin typeface="Aptos"/>
              </a:rPr>
              <a:t>Workflow, widgets and failure recovery</a:t>
            </a:r>
            <a:endParaRPr sz="1250" b="0" i="0">
              <a:solidFill>
                <a:srgbClr val="B9C8D6"/>
              </a:solidFill>
              <a:latin typeface="Aptos"/>
            </a:endParaRPr>
          </a:p>
        </p:txBody>
      </p:sp>
      <p:sp>
        <p:nvSpPr>
          <p:cNvPr id="11" name="TextBox 10"/>
          <p:cNvSpPr txBox="1"/>
          <p:nvPr/>
        </p:nvSpPr>
        <p:spPr>
          <a:xfrm>
            <a:off x="3611880" y="1874519"/>
            <a:ext cx="2468880" cy="960120"/>
          </a:xfrm>
          <a:prstGeom prst="rect">
            <a:avLst/>
          </a:prstGeom>
          <a:noFill/>
        </p:spPr>
        <p:txBody>
          <a:bodyPr wrap="square" lIns="0" tIns="0" rIns="0" bIns="0" anchor="t">
            <a:spAutoFit/>
          </a:bodyPr>
          <a:lstStyle/>
          <a:p>
            <a:pPr algn="l">
              <a:spcBef>
                <a:spcPts val="0"/>
              </a:spcBef>
              <a:spcAft>
                <a:spcPts val="0"/>
              </a:spcAft>
            </a:pPr>
            <a:r>
              <a:rPr sz="4800" b="1" i="0">
                <a:solidFill>
                  <a:srgbClr val="1E5EFF"/>
                </a:solidFill>
                <a:latin typeface="Aptos Display"/>
              </a:rPr>
              <a:t>29</a:t>
            </a:r>
            <a:endParaRPr sz="4800" b="1" i="0">
              <a:solidFill>
                <a:srgbClr val="1E5EFF"/>
              </a:solidFill>
              <a:latin typeface="Aptos Display"/>
            </a:endParaRPr>
          </a:p>
        </p:txBody>
      </p:sp>
      <p:sp>
        <p:nvSpPr>
          <p:cNvPr id="12" name="TextBox 11"/>
          <p:cNvSpPr txBox="1"/>
          <p:nvPr/>
        </p:nvSpPr>
        <p:spPr>
          <a:xfrm>
            <a:off x="3611880" y="2770632"/>
            <a:ext cx="2468880" cy="347472"/>
          </a:xfrm>
          <a:prstGeom prst="rect">
            <a:avLst/>
          </a:prstGeom>
          <a:noFill/>
        </p:spPr>
        <p:txBody>
          <a:bodyPr wrap="square" lIns="0" tIns="0" rIns="0" bIns="0" anchor="t">
            <a:spAutoFit/>
          </a:bodyPr>
          <a:lstStyle/>
          <a:p>
            <a:pPr algn="l">
              <a:spcBef>
                <a:spcPts val="0"/>
              </a:spcBef>
              <a:spcAft>
                <a:spcPts val="0"/>
              </a:spcAft>
            </a:pPr>
            <a:r>
              <a:rPr sz="1600" b="1" i="0">
                <a:solidFill>
                  <a:srgbClr val="FFFFFF"/>
                </a:solidFill>
                <a:latin typeface="Aptos"/>
              </a:rPr>
              <a:t>primary screens</a:t>
            </a:r>
            <a:endParaRPr sz="1600" b="1" i="0">
              <a:solidFill>
                <a:srgbClr val="FFFFFF"/>
              </a:solidFill>
              <a:latin typeface="Aptos"/>
            </a:endParaRPr>
          </a:p>
        </p:txBody>
      </p:sp>
      <p:sp>
        <p:nvSpPr>
          <p:cNvPr id="13" name="TextBox 12"/>
          <p:cNvSpPr txBox="1"/>
          <p:nvPr/>
        </p:nvSpPr>
        <p:spPr>
          <a:xfrm>
            <a:off x="3611880" y="3246120"/>
            <a:ext cx="2468880" cy="868680"/>
          </a:xfrm>
          <a:prstGeom prst="rect">
            <a:avLst/>
          </a:prstGeom>
          <a:noFill/>
        </p:spPr>
        <p:txBody>
          <a:bodyPr wrap="square" lIns="0" tIns="0" rIns="0" bIns="0" anchor="t">
            <a:spAutoFit/>
          </a:bodyPr>
          <a:lstStyle/>
          <a:p>
            <a:pPr algn="l">
              <a:spcBef>
                <a:spcPts val="0"/>
              </a:spcBef>
              <a:spcAft>
                <a:spcPts val="0"/>
              </a:spcAft>
            </a:pPr>
            <a:r>
              <a:rPr sz="1250" b="0" i="0">
                <a:solidFill>
                  <a:srgbClr val="B9C8D6"/>
                </a:solidFill>
                <a:latin typeface="Aptos"/>
              </a:rPr>
              <a:t>Above the course minimum of 20</a:t>
            </a:r>
            <a:endParaRPr sz="1250" b="0" i="0">
              <a:solidFill>
                <a:srgbClr val="B9C8D6"/>
              </a:solidFill>
              <a:latin typeface="Aptos"/>
            </a:endParaRPr>
          </a:p>
        </p:txBody>
      </p:sp>
      <p:sp>
        <p:nvSpPr>
          <p:cNvPr id="14" name="TextBox 13"/>
          <p:cNvSpPr txBox="1"/>
          <p:nvPr/>
        </p:nvSpPr>
        <p:spPr>
          <a:xfrm>
            <a:off x="6446520" y="1874519"/>
            <a:ext cx="2468880" cy="960120"/>
          </a:xfrm>
          <a:prstGeom prst="rect">
            <a:avLst/>
          </a:prstGeom>
          <a:noFill/>
        </p:spPr>
        <p:txBody>
          <a:bodyPr wrap="square" lIns="0" tIns="0" rIns="0" bIns="0" anchor="t">
            <a:spAutoFit/>
          </a:bodyPr>
          <a:lstStyle/>
          <a:p>
            <a:pPr algn="l">
              <a:spcBef>
                <a:spcPts val="0"/>
              </a:spcBef>
              <a:spcAft>
                <a:spcPts val="0"/>
              </a:spcAft>
            </a:pPr>
            <a:r>
              <a:rPr sz="4800" b="1" i="0">
                <a:solidFill>
                  <a:srgbClr val="F2B544"/>
                </a:solidFill>
                <a:latin typeface="Aptos Display"/>
              </a:rPr>
              <a:t>9</a:t>
            </a:r>
            <a:endParaRPr sz="4800" b="1" i="0">
              <a:solidFill>
                <a:srgbClr val="F2B544"/>
              </a:solidFill>
              <a:latin typeface="Aptos Display"/>
            </a:endParaRPr>
          </a:p>
        </p:txBody>
      </p:sp>
      <p:sp>
        <p:nvSpPr>
          <p:cNvPr id="15" name="TextBox 14"/>
          <p:cNvSpPr txBox="1"/>
          <p:nvPr/>
        </p:nvSpPr>
        <p:spPr>
          <a:xfrm>
            <a:off x="6446520" y="2770632"/>
            <a:ext cx="2468880" cy="347472"/>
          </a:xfrm>
          <a:prstGeom prst="rect">
            <a:avLst/>
          </a:prstGeom>
          <a:noFill/>
        </p:spPr>
        <p:txBody>
          <a:bodyPr wrap="square" lIns="0" tIns="0" rIns="0" bIns="0" anchor="t">
            <a:spAutoFit/>
          </a:bodyPr>
          <a:lstStyle/>
          <a:p>
            <a:pPr algn="l">
              <a:spcBef>
                <a:spcPts val="0"/>
              </a:spcBef>
              <a:spcAft>
                <a:spcPts val="0"/>
              </a:spcAft>
            </a:pPr>
            <a:r>
              <a:rPr sz="1600" b="1" i="0">
                <a:solidFill>
                  <a:srgbClr val="FFFFFF"/>
                </a:solidFill>
                <a:latin typeface="Aptos"/>
              </a:rPr>
              <a:t>REST API tests</a:t>
            </a:r>
            <a:endParaRPr sz="1600" b="1" i="0">
              <a:solidFill>
                <a:srgbClr val="FFFFFF"/>
              </a:solidFill>
              <a:latin typeface="Aptos"/>
            </a:endParaRPr>
          </a:p>
        </p:txBody>
      </p:sp>
      <p:sp>
        <p:nvSpPr>
          <p:cNvPr id="16" name="TextBox 15"/>
          <p:cNvSpPr txBox="1"/>
          <p:nvPr/>
        </p:nvSpPr>
        <p:spPr>
          <a:xfrm>
            <a:off x="6446520" y="3246120"/>
            <a:ext cx="2468880" cy="868680"/>
          </a:xfrm>
          <a:prstGeom prst="rect">
            <a:avLst/>
          </a:prstGeom>
          <a:noFill/>
        </p:spPr>
        <p:txBody>
          <a:bodyPr wrap="square" lIns="0" tIns="0" rIns="0" bIns="0" anchor="t">
            <a:spAutoFit/>
          </a:bodyPr>
          <a:lstStyle/>
          <a:p>
            <a:pPr algn="l">
              <a:spcBef>
                <a:spcPts val="0"/>
              </a:spcBef>
              <a:spcAft>
                <a:spcPts val="0"/>
              </a:spcAft>
            </a:pPr>
            <a:r>
              <a:rPr sz="1250" b="0" i="0">
                <a:solidFill>
                  <a:srgbClr val="B9C8D6"/>
                </a:solidFill>
                <a:latin typeface="Aptos"/>
              </a:rPr>
              <a:t>Health, validation, auth and ownership</a:t>
            </a:r>
            <a:endParaRPr sz="1250" b="0" i="0">
              <a:solidFill>
                <a:srgbClr val="B9C8D6"/>
              </a:solidFill>
              <a:latin typeface="Aptos"/>
            </a:endParaRPr>
          </a:p>
        </p:txBody>
      </p:sp>
      <p:sp>
        <p:nvSpPr>
          <p:cNvPr id="17" name="TextBox 16"/>
          <p:cNvSpPr txBox="1"/>
          <p:nvPr/>
        </p:nvSpPr>
        <p:spPr>
          <a:xfrm>
            <a:off x="9281160" y="1874519"/>
            <a:ext cx="2468880" cy="960120"/>
          </a:xfrm>
          <a:prstGeom prst="rect">
            <a:avLst/>
          </a:prstGeom>
          <a:noFill/>
        </p:spPr>
        <p:txBody>
          <a:bodyPr wrap="square" lIns="0" tIns="0" rIns="0" bIns="0" anchor="t">
            <a:spAutoFit/>
          </a:bodyPr>
          <a:lstStyle/>
          <a:p>
            <a:pPr algn="l">
              <a:spcBef>
                <a:spcPts val="0"/>
              </a:spcBef>
              <a:spcAft>
                <a:spcPts val="0"/>
              </a:spcAft>
            </a:pPr>
            <a:r>
              <a:rPr sz="4800" b="1" i="0">
                <a:solidFill>
                  <a:srgbClr val="EF6A5B"/>
                </a:solidFill>
                <a:latin typeface="Aptos Display"/>
              </a:rPr>
              <a:t>9</a:t>
            </a:r>
            <a:endParaRPr sz="4800" b="1" i="0">
              <a:solidFill>
                <a:srgbClr val="EF6A5B"/>
              </a:solidFill>
              <a:latin typeface="Aptos Display"/>
            </a:endParaRPr>
          </a:p>
        </p:txBody>
      </p:sp>
      <p:sp>
        <p:nvSpPr>
          <p:cNvPr id="18" name="TextBox 17"/>
          <p:cNvSpPr txBox="1"/>
          <p:nvPr/>
        </p:nvSpPr>
        <p:spPr>
          <a:xfrm>
            <a:off x="9281160" y="2770632"/>
            <a:ext cx="2468880" cy="347472"/>
          </a:xfrm>
          <a:prstGeom prst="rect">
            <a:avLst/>
          </a:prstGeom>
          <a:noFill/>
        </p:spPr>
        <p:txBody>
          <a:bodyPr wrap="square" lIns="0" tIns="0" rIns="0" bIns="0" anchor="t">
            <a:spAutoFit/>
          </a:bodyPr>
          <a:lstStyle/>
          <a:p>
            <a:pPr algn="l">
              <a:spcBef>
                <a:spcPts val="0"/>
              </a:spcBef>
              <a:spcAft>
                <a:spcPts val="0"/>
              </a:spcAft>
            </a:pPr>
            <a:r>
              <a:rPr sz="1600" b="1" i="0">
                <a:solidFill>
                  <a:srgbClr val="FFFFFF"/>
                </a:solidFill>
                <a:latin typeface="Aptos"/>
              </a:rPr>
              <a:t>REST endpoints</a:t>
            </a:r>
            <a:endParaRPr sz="1600" b="1" i="0">
              <a:solidFill>
                <a:srgbClr val="FFFFFF"/>
              </a:solidFill>
              <a:latin typeface="Aptos"/>
            </a:endParaRPr>
          </a:p>
        </p:txBody>
      </p:sp>
      <p:sp>
        <p:nvSpPr>
          <p:cNvPr id="19" name="TextBox 18"/>
          <p:cNvSpPr txBox="1"/>
          <p:nvPr/>
        </p:nvSpPr>
        <p:spPr>
          <a:xfrm>
            <a:off x="9281160" y="3246120"/>
            <a:ext cx="2468880" cy="868680"/>
          </a:xfrm>
          <a:prstGeom prst="rect">
            <a:avLst/>
          </a:prstGeom>
          <a:noFill/>
        </p:spPr>
        <p:txBody>
          <a:bodyPr wrap="square" lIns="0" tIns="0" rIns="0" bIns="0" anchor="t">
            <a:spAutoFit/>
          </a:bodyPr>
          <a:lstStyle/>
          <a:p>
            <a:pPr algn="l">
              <a:spcBef>
                <a:spcPts val="0"/>
              </a:spcBef>
              <a:spcAft>
                <a:spcPts val="0"/>
              </a:spcAft>
            </a:pPr>
            <a:r>
              <a:rPr sz="1250" b="0" i="0">
                <a:solidFill>
                  <a:srgbClr val="B9C8D6"/>
                </a:solidFill>
                <a:latin typeface="Aptos"/>
              </a:rPr>
              <a:t>Required course capabilities</a:t>
            </a:r>
            <a:endParaRPr sz="1250" b="0" i="0">
              <a:solidFill>
                <a:srgbClr val="B9C8D6"/>
              </a:solidFill>
              <a:latin typeface="Aptos"/>
            </a:endParaRPr>
          </a:p>
        </p:txBody>
      </p:sp>
      <p:sp>
        <p:nvSpPr>
          <p:cNvPr id="20" name="Rounded Rectangle 19"/>
          <p:cNvSpPr/>
          <p:nvPr/>
        </p:nvSpPr>
        <p:spPr>
          <a:xfrm>
            <a:off x="822960" y="4754880"/>
            <a:ext cx="10561320" cy="841248"/>
          </a:xfrm>
          <a:prstGeom prst="roundRect">
            <a:avLst/>
          </a:prstGeom>
          <a:solidFill>
            <a:srgbClr val="102A43"/>
          </a:solidFill>
          <a:ln w="12700">
            <a:solidFill>
              <a:srgbClr val="294A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15568" y="5010912"/>
            <a:ext cx="320040" cy="32004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15568" y="5010912"/>
            <a:ext cx="320040" cy="320040"/>
          </a:xfrm>
          <a:prstGeom prst="rect">
            <a:avLst/>
          </a:prstGeom>
          <a:noFill/>
        </p:spPr>
        <p:txBody>
          <a:bodyPr wrap="square" lIns="0" tIns="0" rIns="0" bIns="0" anchor="ctr">
            <a:spAutoFit/>
          </a:bodyPr>
          <a:lstStyle/>
          <a:p>
            <a:pPr algn="ctr">
              <a:spcBef>
                <a:spcPts val="0"/>
              </a:spcBef>
              <a:spcAft>
                <a:spcPts val="0"/>
              </a:spcAft>
            </a:pPr>
            <a:r>
              <a:rPr sz="1200" b="1" i="0">
                <a:solidFill>
                  <a:srgbClr val="FFFFFF"/>
                </a:solidFill>
                <a:latin typeface="Aptos"/>
              </a:rPr>
              <a:t>✓</a:t>
            </a:r>
            <a:endParaRPr sz="1200" b="1" i="0">
              <a:solidFill>
                <a:srgbClr val="FFFFFF"/>
              </a:solidFill>
              <a:latin typeface="Aptos"/>
            </a:endParaRPr>
          </a:p>
        </p:txBody>
      </p:sp>
      <p:sp>
        <p:nvSpPr>
          <p:cNvPr id="23" name="TextBox 22"/>
          <p:cNvSpPr txBox="1"/>
          <p:nvPr/>
        </p:nvSpPr>
        <p:spPr>
          <a:xfrm>
            <a:off x="1600200" y="4956048"/>
            <a:ext cx="1920240" cy="274320"/>
          </a:xfrm>
          <a:prstGeom prst="rect">
            <a:avLst/>
          </a:prstGeom>
          <a:noFill/>
        </p:spPr>
        <p:txBody>
          <a:bodyPr wrap="square" lIns="0" tIns="0" rIns="0" bIns="0" anchor="t">
            <a:spAutoFit/>
          </a:bodyPr>
          <a:lstStyle/>
          <a:p>
            <a:pPr algn="l">
              <a:spcBef>
                <a:spcPts val="0"/>
              </a:spcBef>
              <a:spcAft>
                <a:spcPts val="0"/>
              </a:spcAft>
            </a:pPr>
            <a:r>
              <a:rPr sz="1500" b="1" i="0">
                <a:solidFill>
                  <a:srgbClr val="FFFFFF"/>
                </a:solidFill>
                <a:latin typeface="Consolas" panose="020B0609020204030204"/>
              </a:rPr>
              <a:t>flutter analyze</a:t>
            </a:r>
            <a:endParaRPr sz="1500" b="1" i="0">
              <a:solidFill>
                <a:srgbClr val="FFFFFF"/>
              </a:solidFill>
              <a:latin typeface="Consolas" panose="020B0609020204030204"/>
            </a:endParaRPr>
          </a:p>
        </p:txBody>
      </p:sp>
      <p:sp>
        <p:nvSpPr>
          <p:cNvPr id="24" name="TextBox 23"/>
          <p:cNvSpPr txBox="1"/>
          <p:nvPr/>
        </p:nvSpPr>
        <p:spPr>
          <a:xfrm>
            <a:off x="3657600" y="4956048"/>
            <a:ext cx="3017520" cy="274320"/>
          </a:xfrm>
          <a:prstGeom prst="rect">
            <a:avLst/>
          </a:prstGeom>
          <a:noFill/>
        </p:spPr>
        <p:txBody>
          <a:bodyPr wrap="square" lIns="0" tIns="0" rIns="0" bIns="0" anchor="t">
            <a:spAutoFit/>
          </a:bodyPr>
          <a:lstStyle/>
          <a:p>
            <a:pPr algn="l">
              <a:spcBef>
                <a:spcPts val="0"/>
              </a:spcBef>
              <a:spcAft>
                <a:spcPts val="0"/>
              </a:spcAft>
            </a:pPr>
            <a:r>
              <a:rPr sz="1500" b="1" i="0">
                <a:solidFill>
                  <a:srgbClr val="14B8A6"/>
                </a:solidFill>
                <a:latin typeface="Aptos"/>
              </a:rPr>
              <a:t>PASS — no issues found</a:t>
            </a:r>
            <a:endParaRPr sz="1500" b="1" i="0">
              <a:solidFill>
                <a:srgbClr val="14B8A6"/>
              </a:solidFill>
              <a:latin typeface="Aptos"/>
            </a:endParaRPr>
          </a:p>
        </p:txBody>
      </p:sp>
      <p:sp>
        <p:nvSpPr>
          <p:cNvPr id="25" name="TextBox 24"/>
          <p:cNvSpPr txBox="1"/>
          <p:nvPr/>
        </p:nvSpPr>
        <p:spPr>
          <a:xfrm>
            <a:off x="6903720" y="4956048"/>
            <a:ext cx="3977639" cy="274320"/>
          </a:xfrm>
          <a:prstGeom prst="rect">
            <a:avLst/>
          </a:prstGeom>
          <a:noFill/>
        </p:spPr>
        <p:txBody>
          <a:bodyPr wrap="square" lIns="0" tIns="0" rIns="0" bIns="0" anchor="t">
            <a:spAutoFit/>
          </a:bodyPr>
          <a:lstStyle/>
          <a:p>
            <a:r>
              <a:t>Local database + emulator smoke: final runtime check</a:t>
            </a:r>
          </a:p>
        </p:txBody>
      </p:sp>
      <p:sp>
        <p:nvSpPr>
          <p:cNvPr id="26" name="TextBox 25"/>
          <p:cNvSpPr txBox="1"/>
          <p:nvPr/>
        </p:nvSpPr>
        <p:spPr>
          <a:xfrm>
            <a:off x="658368" y="6519672"/>
            <a:ext cx="3840480" cy="146304"/>
          </a:xfrm>
          <a:prstGeom prst="rect">
            <a:avLst/>
          </a:prstGeom>
          <a:noFill/>
        </p:spPr>
        <p:txBody>
          <a:bodyPr wrap="square" lIns="0" tIns="0" rIns="0" bIns="0" anchor="t">
            <a:spAutoFit/>
          </a:bodyPr>
          <a:lstStyle/>
          <a:p>
            <a:pPr algn="l">
              <a:spcBef>
                <a:spcPts val="0"/>
              </a:spcBef>
              <a:spcAft>
                <a:spcPts val="0"/>
              </a:spcAft>
            </a:pPr>
            <a:r>
              <a:rPr sz="850" b="1" i="0">
                <a:solidFill>
                  <a:srgbClr val="A8BBCB"/>
                </a:solidFill>
                <a:latin typeface="Aptos"/>
              </a:rPr>
              <a:t>ETRELAY: RENTAL OPERATIONS</a:t>
            </a:r>
            <a:endParaRPr sz="850" b="1" i="0">
              <a:solidFill>
                <a:srgbClr val="A8BBCB"/>
              </a:solidFill>
              <a:latin typeface="Aptos"/>
            </a:endParaRPr>
          </a:p>
        </p:txBody>
      </p:sp>
      <p:sp>
        <p:nvSpPr>
          <p:cNvPr id="27" name="TextBox 26"/>
          <p:cNvSpPr txBox="1"/>
          <p:nvPr/>
        </p:nvSpPr>
        <p:spPr>
          <a:xfrm>
            <a:off x="7680960" y="6519672"/>
            <a:ext cx="3840480" cy="146304"/>
          </a:xfrm>
          <a:prstGeom prst="rect">
            <a:avLst/>
          </a:prstGeom>
          <a:noFill/>
        </p:spPr>
        <p:txBody>
          <a:bodyPr wrap="square" lIns="0" tIns="0" rIns="0" bIns="0" anchor="t">
            <a:spAutoFit/>
          </a:bodyPr>
          <a:lstStyle/>
          <a:p>
            <a:pPr algn="r">
              <a:spcBef>
                <a:spcPts val="0"/>
              </a:spcBef>
              <a:spcAft>
                <a:spcPts val="0"/>
              </a:spcAft>
            </a:pPr>
            <a:r>
              <a:rPr sz="850" b="0" i="0">
                <a:solidFill>
                  <a:srgbClr val="A8BBCB"/>
                </a:solidFill>
                <a:latin typeface="Aptos"/>
              </a:rPr>
              <a:t>TRAN KHANH BINH • 2231200127</a:t>
            </a:r>
            <a:endParaRPr sz="850" b="0" i="0">
              <a:solidFill>
                <a:srgbClr val="A8BBCB"/>
              </a:solidFill>
              <a:latin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7680960" cy="237744"/>
          </a:xfrm>
          <a:prstGeom prst="rect">
            <a:avLst/>
          </a:prstGeom>
          <a:noFill/>
        </p:spPr>
        <p:txBody>
          <a:bodyPr wrap="square" lIns="0" tIns="0" rIns="0" bIns="0" anchor="t">
            <a:spAutoFit/>
          </a:bodyPr>
          <a:lstStyle/>
          <a:p>
            <a:pPr algn="l">
              <a:spcBef>
                <a:spcPts val="0"/>
              </a:spcBef>
              <a:spcAft>
                <a:spcPts val="0"/>
              </a:spcAft>
            </a:pPr>
            <a:r>
              <a:rPr sz="1000" b="1" i="0">
                <a:solidFill>
                  <a:srgbClr val="1E5EFF"/>
                </a:solidFill>
                <a:latin typeface="Aptos Display"/>
              </a:rPr>
              <a:t>CSW430 • MOBILE APPLICATION DEVELOPMENT</a:t>
            </a:r>
            <a:endParaRPr sz="1000" b="1" i="0">
              <a:solidFill>
                <a:srgbClr val="1E5EFF"/>
              </a:solidFill>
              <a:latin typeface="Aptos Display"/>
            </a:endParaRPr>
          </a:p>
        </p:txBody>
      </p:sp>
      <p:sp>
        <p:nvSpPr>
          <p:cNvPr id="4" name="TextBox 3"/>
          <p:cNvSpPr txBox="1"/>
          <p:nvPr/>
        </p:nvSpPr>
        <p:spPr>
          <a:xfrm>
            <a:off x="658368" y="658368"/>
            <a:ext cx="9875520" cy="585216"/>
          </a:xfrm>
          <a:prstGeom prst="rect">
            <a:avLst/>
          </a:prstGeom>
          <a:noFill/>
        </p:spPr>
        <p:txBody>
          <a:bodyPr wrap="square" lIns="0" tIns="0" rIns="0" bIns="0" anchor="t">
            <a:spAutoFit/>
          </a:bodyPr>
          <a:lstStyle/>
          <a:p>
            <a:pPr algn="l">
              <a:spcBef>
                <a:spcPts val="0"/>
              </a:spcBef>
              <a:spcAft>
                <a:spcPts val="0"/>
              </a:spcAft>
            </a:pPr>
            <a:r>
              <a:rPr sz="2900" b="1" i="0">
                <a:solidFill>
                  <a:srgbClr val="0B1F33"/>
                </a:solidFill>
                <a:latin typeface="Aptos Display"/>
              </a:rPr>
              <a:t>Demonstration path</a:t>
            </a:r>
            <a:endParaRPr sz="2900" b="1" i="0">
              <a:solidFill>
                <a:srgbClr val="0B1F33"/>
              </a:solidFill>
              <a:latin typeface="Aptos Display"/>
            </a:endParaRPr>
          </a:p>
        </p:txBody>
      </p:sp>
      <p:sp>
        <p:nvSpPr>
          <p:cNvPr id="5" name="TextBox 4"/>
          <p:cNvSpPr txBox="1"/>
          <p:nvPr/>
        </p:nvSpPr>
        <p:spPr>
          <a:xfrm>
            <a:off x="676656" y="1252728"/>
            <a:ext cx="9966960" cy="347472"/>
          </a:xfrm>
          <a:prstGeom prst="rect">
            <a:avLst/>
          </a:prstGeom>
          <a:noFill/>
        </p:spPr>
        <p:txBody>
          <a:bodyPr wrap="square" lIns="0" tIns="0" rIns="0" bIns="0" anchor="t">
            <a:spAutoFit/>
          </a:bodyPr>
          <a:lstStyle/>
          <a:p>
            <a:pPr algn="l">
              <a:spcBef>
                <a:spcPts val="0"/>
              </a:spcBef>
              <a:spcAft>
                <a:spcPts val="0"/>
              </a:spcAft>
            </a:pPr>
            <a:r>
              <a:rPr sz="1300" b="0" i="0">
                <a:solidFill>
                  <a:srgbClr val="5F6B76"/>
                </a:solidFill>
                <a:latin typeface="Aptos"/>
              </a:rPr>
              <a:t>A short sequence proving the required mobile–REST API–database workflow.</a:t>
            </a:r>
            <a:endParaRPr sz="1300" b="0" i="0">
              <a:solidFill>
                <a:srgbClr val="5F6B76"/>
              </a:solidFill>
              <a:latin typeface="Aptos"/>
            </a:endParaRPr>
          </a:p>
        </p:txBody>
      </p:sp>
      <p:sp>
        <p:nvSpPr>
          <p:cNvPr id="6" name="Rounded Rectangle 5"/>
          <p:cNvSpPr/>
          <p:nvPr/>
        </p:nvSpPr>
        <p:spPr>
          <a:xfrm>
            <a:off x="11064240" y="320040"/>
            <a:ext cx="502920" cy="384048"/>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20040"/>
            <a:ext cx="502920" cy="384048"/>
          </a:xfrm>
          <a:prstGeom prst="rect">
            <a:avLst/>
          </a:prstGeom>
          <a:noFill/>
        </p:spPr>
        <p:txBody>
          <a:bodyPr wrap="square" lIns="0" tIns="0" rIns="0" bIns="0" anchor="ctr">
            <a:spAutoFit/>
          </a:bodyPr>
          <a:lstStyle/>
          <a:p>
            <a:pPr algn="ctr">
              <a:spcBef>
                <a:spcPts val="0"/>
              </a:spcBef>
              <a:spcAft>
                <a:spcPts val="0"/>
              </a:spcAft>
            </a:pPr>
            <a:r>
              <a:rPr sz="1200" b="1" i="0">
                <a:solidFill>
                  <a:srgbClr val="FFFFFF"/>
                </a:solidFill>
                <a:latin typeface="Aptos"/>
              </a:rPr>
              <a:t>11</a:t>
            </a:r>
            <a:endParaRPr sz="1200" b="1" i="0">
              <a:solidFill>
                <a:srgbClr val="FFFFFF"/>
              </a:solidFill>
              <a:latin typeface="Aptos"/>
            </a:endParaRPr>
          </a:p>
        </p:txBody>
      </p:sp>
      <p:sp>
        <p:nvSpPr>
          <p:cNvPr id="8" name="Rounded Rectangle 7"/>
          <p:cNvSpPr/>
          <p:nvPr/>
        </p:nvSpPr>
        <p:spPr>
          <a:xfrm>
            <a:off x="685800" y="1874519"/>
            <a:ext cx="1664208" cy="3108960"/>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57400"/>
            <a:ext cx="685800" cy="502920"/>
          </a:xfrm>
          <a:prstGeom prst="rect">
            <a:avLst/>
          </a:prstGeom>
          <a:noFill/>
        </p:spPr>
        <p:txBody>
          <a:bodyPr wrap="square" lIns="0" tIns="0" rIns="0" bIns="0" anchor="t">
            <a:spAutoFit/>
          </a:bodyPr>
          <a:lstStyle/>
          <a:p>
            <a:pPr algn="l">
              <a:spcBef>
                <a:spcPts val="0"/>
              </a:spcBef>
              <a:spcAft>
                <a:spcPts val="0"/>
              </a:spcAft>
            </a:pPr>
            <a:r>
              <a:rPr sz="2500" b="1" i="0">
                <a:solidFill>
                  <a:srgbClr val="1E5EFF"/>
                </a:solidFill>
                <a:latin typeface="Aptos Display"/>
              </a:rPr>
              <a:t>01</a:t>
            </a:r>
            <a:endParaRPr sz="2500" b="1" i="0">
              <a:solidFill>
                <a:srgbClr val="1E5EFF"/>
              </a:solidFill>
              <a:latin typeface="Aptos Display"/>
            </a:endParaRPr>
          </a:p>
        </p:txBody>
      </p:sp>
      <p:sp>
        <p:nvSpPr>
          <p:cNvPr id="10" name="TextBox 9"/>
          <p:cNvSpPr txBox="1"/>
          <p:nvPr/>
        </p:nvSpPr>
        <p:spPr>
          <a:xfrm>
            <a:off x="868680" y="2743200"/>
            <a:ext cx="1261872" cy="320040"/>
          </a:xfrm>
          <a:prstGeom prst="rect">
            <a:avLst/>
          </a:prstGeom>
          <a:noFill/>
        </p:spPr>
        <p:txBody>
          <a:bodyPr wrap="square" lIns="0" tIns="0" rIns="0" bIns="0" anchor="t">
            <a:spAutoFit/>
          </a:bodyPr>
          <a:lstStyle/>
          <a:p>
            <a:pPr algn="l">
              <a:spcBef>
                <a:spcPts val="0"/>
              </a:spcBef>
              <a:spcAft>
                <a:spcPts val="0"/>
              </a:spcAft>
            </a:pPr>
            <a:r>
              <a:rPr sz="1300" b="1" i="0">
                <a:solidFill>
                  <a:srgbClr val="0B1F33"/>
                </a:solidFill>
                <a:latin typeface="Aptos"/>
              </a:rPr>
              <a:t>SIGN IN</a:t>
            </a:r>
            <a:endParaRPr sz="1300" b="1" i="0">
              <a:solidFill>
                <a:srgbClr val="0B1F33"/>
              </a:solidFill>
              <a:latin typeface="Aptos"/>
            </a:endParaRPr>
          </a:p>
        </p:txBody>
      </p:sp>
      <p:sp>
        <p:nvSpPr>
          <p:cNvPr id="11" name="TextBox 10"/>
          <p:cNvSpPr txBox="1"/>
          <p:nvPr/>
        </p:nvSpPr>
        <p:spPr>
          <a:xfrm>
            <a:off x="868680" y="3200400"/>
            <a:ext cx="1261872" cy="1051560"/>
          </a:xfrm>
          <a:prstGeom prst="rect">
            <a:avLst/>
          </a:prstGeom>
          <a:noFill/>
        </p:spPr>
        <p:txBody>
          <a:bodyPr wrap="square" lIns="0" tIns="0" rIns="0" bIns="0" anchor="t">
            <a:spAutoFit/>
          </a:bodyPr>
          <a:lstStyle/>
          <a:p>
            <a:pPr algn="l">
              <a:spcBef>
                <a:spcPts val="0"/>
              </a:spcBef>
              <a:spcAft>
                <a:spcPts val="0"/>
              </a:spcAft>
            </a:pPr>
            <a:r>
              <a:rPr sz="1350" b="0" i="0">
                <a:solidFill>
                  <a:srgbClr val="5F6B76"/>
                </a:solidFill>
                <a:latin typeface="Aptos"/>
              </a:rPr>
              <a:t>Call Node login API</a:t>
            </a:r>
            <a:endParaRPr sz="1350" b="0" i="0">
              <a:solidFill>
                <a:srgbClr val="5F6B76"/>
              </a:solidFill>
              <a:latin typeface="Aptos"/>
            </a:endParaRPr>
          </a:p>
        </p:txBody>
      </p:sp>
      <p:sp>
        <p:nvSpPr>
          <p:cNvPr id="12" name="Rectangle 11"/>
          <p:cNvSpPr/>
          <p:nvPr/>
        </p:nvSpPr>
        <p:spPr>
          <a:xfrm>
            <a:off x="868680" y="4498848"/>
            <a:ext cx="658368" cy="73152"/>
          </a:xfrm>
          <a:prstGeom prst="rect">
            <a:avLst/>
          </a:prstGeom>
          <a:solidFill>
            <a:srgbClr val="1E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587752" y="1874519"/>
            <a:ext cx="1664208" cy="3108960"/>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0632" y="2057400"/>
            <a:ext cx="685800" cy="502920"/>
          </a:xfrm>
          <a:prstGeom prst="rect">
            <a:avLst/>
          </a:prstGeom>
          <a:noFill/>
        </p:spPr>
        <p:txBody>
          <a:bodyPr wrap="square" lIns="0" tIns="0" rIns="0" bIns="0" anchor="t">
            <a:spAutoFit/>
          </a:bodyPr>
          <a:lstStyle/>
          <a:p>
            <a:pPr algn="l">
              <a:spcBef>
                <a:spcPts val="0"/>
              </a:spcBef>
              <a:spcAft>
                <a:spcPts val="0"/>
              </a:spcAft>
            </a:pPr>
            <a:r>
              <a:rPr sz="2500" b="1" i="0">
                <a:solidFill>
                  <a:srgbClr val="14B8A6"/>
                </a:solidFill>
                <a:latin typeface="Aptos Display"/>
              </a:rPr>
              <a:t>02</a:t>
            </a:r>
            <a:endParaRPr sz="2500" b="1" i="0">
              <a:solidFill>
                <a:srgbClr val="14B8A6"/>
              </a:solidFill>
              <a:latin typeface="Aptos Display"/>
            </a:endParaRPr>
          </a:p>
        </p:txBody>
      </p:sp>
      <p:sp>
        <p:nvSpPr>
          <p:cNvPr id="15" name="TextBox 14"/>
          <p:cNvSpPr txBox="1"/>
          <p:nvPr/>
        </p:nvSpPr>
        <p:spPr>
          <a:xfrm>
            <a:off x="2770632" y="2743200"/>
            <a:ext cx="1261872" cy="320040"/>
          </a:xfrm>
          <a:prstGeom prst="rect">
            <a:avLst/>
          </a:prstGeom>
          <a:noFill/>
        </p:spPr>
        <p:txBody>
          <a:bodyPr wrap="square" lIns="0" tIns="0" rIns="0" bIns="0" anchor="t">
            <a:spAutoFit/>
          </a:bodyPr>
          <a:lstStyle/>
          <a:p>
            <a:pPr algn="l">
              <a:spcBef>
                <a:spcPts val="0"/>
              </a:spcBef>
              <a:spcAft>
                <a:spcPts val="0"/>
              </a:spcAft>
            </a:pPr>
            <a:r>
              <a:rPr sz="1300" b="1" i="0">
                <a:solidFill>
                  <a:srgbClr val="0B1F33"/>
                </a:solidFill>
                <a:latin typeface="Aptos"/>
              </a:rPr>
              <a:t>PROFILE</a:t>
            </a:r>
            <a:endParaRPr sz="1300" b="1" i="0">
              <a:solidFill>
                <a:srgbClr val="0B1F33"/>
              </a:solidFill>
              <a:latin typeface="Aptos"/>
            </a:endParaRPr>
          </a:p>
        </p:txBody>
      </p:sp>
      <p:sp>
        <p:nvSpPr>
          <p:cNvPr id="16" name="TextBox 15"/>
          <p:cNvSpPr txBox="1"/>
          <p:nvPr/>
        </p:nvSpPr>
        <p:spPr>
          <a:xfrm>
            <a:off x="2770632" y="3200400"/>
            <a:ext cx="1261872" cy="1051560"/>
          </a:xfrm>
          <a:prstGeom prst="rect">
            <a:avLst/>
          </a:prstGeom>
          <a:noFill/>
        </p:spPr>
        <p:txBody>
          <a:bodyPr wrap="square" lIns="0" tIns="0" rIns="0" bIns="0" anchor="t">
            <a:spAutoFit/>
          </a:bodyPr>
          <a:lstStyle/>
          <a:p>
            <a:pPr algn="l">
              <a:spcBef>
                <a:spcPts val="0"/>
              </a:spcBef>
              <a:spcAft>
                <a:spcPts val="0"/>
              </a:spcAft>
            </a:pPr>
            <a:r>
              <a:rPr sz="1350" b="0" i="0">
                <a:solidFill>
                  <a:srgbClr val="5F6B76"/>
                </a:solidFill>
                <a:latin typeface="Aptos"/>
              </a:rPr>
              <a:t>Read/update profile API</a:t>
            </a:r>
            <a:endParaRPr sz="1350" b="0" i="0">
              <a:solidFill>
                <a:srgbClr val="5F6B76"/>
              </a:solidFill>
              <a:latin typeface="Aptos"/>
            </a:endParaRPr>
          </a:p>
        </p:txBody>
      </p:sp>
      <p:sp>
        <p:nvSpPr>
          <p:cNvPr id="17" name="Rectangle 16"/>
          <p:cNvSpPr/>
          <p:nvPr/>
        </p:nvSpPr>
        <p:spPr>
          <a:xfrm>
            <a:off x="2770632" y="4498848"/>
            <a:ext cx="658368" cy="731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89704" y="1874519"/>
            <a:ext cx="1664208" cy="3108960"/>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72584" y="2057400"/>
            <a:ext cx="685800" cy="502920"/>
          </a:xfrm>
          <a:prstGeom prst="rect">
            <a:avLst/>
          </a:prstGeom>
          <a:noFill/>
        </p:spPr>
        <p:txBody>
          <a:bodyPr wrap="square" lIns="0" tIns="0" rIns="0" bIns="0" anchor="t">
            <a:spAutoFit/>
          </a:bodyPr>
          <a:lstStyle/>
          <a:p>
            <a:pPr algn="l">
              <a:spcBef>
                <a:spcPts val="0"/>
              </a:spcBef>
              <a:spcAft>
                <a:spcPts val="0"/>
              </a:spcAft>
            </a:pPr>
            <a:r>
              <a:rPr sz="2500" b="1" i="0">
                <a:solidFill>
                  <a:srgbClr val="F2B544"/>
                </a:solidFill>
                <a:latin typeface="Aptos Display"/>
              </a:rPr>
              <a:t>03</a:t>
            </a:r>
            <a:endParaRPr sz="2500" b="1" i="0">
              <a:solidFill>
                <a:srgbClr val="F2B544"/>
              </a:solidFill>
              <a:latin typeface="Aptos Display"/>
            </a:endParaRPr>
          </a:p>
        </p:txBody>
      </p:sp>
      <p:sp>
        <p:nvSpPr>
          <p:cNvPr id="20" name="TextBox 19"/>
          <p:cNvSpPr txBox="1"/>
          <p:nvPr/>
        </p:nvSpPr>
        <p:spPr>
          <a:xfrm>
            <a:off x="4672584" y="2743200"/>
            <a:ext cx="1261872" cy="320040"/>
          </a:xfrm>
          <a:prstGeom prst="rect">
            <a:avLst/>
          </a:prstGeom>
          <a:noFill/>
        </p:spPr>
        <p:txBody>
          <a:bodyPr wrap="square" lIns="0" tIns="0" rIns="0" bIns="0" anchor="t">
            <a:spAutoFit/>
          </a:bodyPr>
          <a:lstStyle/>
          <a:p>
            <a:pPr algn="l">
              <a:spcBef>
                <a:spcPts val="0"/>
              </a:spcBef>
              <a:spcAft>
                <a:spcPts val="0"/>
              </a:spcAft>
            </a:pPr>
            <a:r>
              <a:rPr sz="1300" b="1" i="0">
                <a:solidFill>
                  <a:srgbClr val="0B1F33"/>
                </a:solidFill>
                <a:latin typeface="Aptos"/>
              </a:rPr>
              <a:t>CUSTOMERS</a:t>
            </a:r>
            <a:endParaRPr sz="1300" b="1" i="0">
              <a:solidFill>
                <a:srgbClr val="0B1F33"/>
              </a:solidFill>
              <a:latin typeface="Aptos"/>
            </a:endParaRPr>
          </a:p>
        </p:txBody>
      </p:sp>
      <p:sp>
        <p:nvSpPr>
          <p:cNvPr id="21" name="TextBox 20"/>
          <p:cNvSpPr txBox="1"/>
          <p:nvPr/>
        </p:nvSpPr>
        <p:spPr>
          <a:xfrm>
            <a:off x="4672584" y="3200400"/>
            <a:ext cx="1261872" cy="1051560"/>
          </a:xfrm>
          <a:prstGeom prst="rect">
            <a:avLst/>
          </a:prstGeom>
          <a:noFill/>
        </p:spPr>
        <p:txBody>
          <a:bodyPr wrap="square" lIns="0" tIns="0" rIns="0" bIns="0" anchor="t">
            <a:spAutoFit/>
          </a:bodyPr>
          <a:lstStyle/>
          <a:p>
            <a:pPr algn="l">
              <a:spcBef>
                <a:spcPts val="0"/>
              </a:spcBef>
              <a:spcAft>
                <a:spcPts val="0"/>
              </a:spcAft>
            </a:pPr>
            <a:r>
              <a:rPr sz="1350" b="0" i="0">
                <a:solidFill>
                  <a:srgbClr val="5F6B76"/>
                </a:solidFill>
                <a:latin typeface="Aptos"/>
              </a:rPr>
              <a:t>List/detail through REST API</a:t>
            </a:r>
            <a:endParaRPr sz="1350" b="0" i="0">
              <a:solidFill>
                <a:srgbClr val="5F6B76"/>
              </a:solidFill>
              <a:latin typeface="Aptos"/>
            </a:endParaRPr>
          </a:p>
        </p:txBody>
      </p:sp>
      <p:sp>
        <p:nvSpPr>
          <p:cNvPr id="22" name="Rectangle 21"/>
          <p:cNvSpPr/>
          <p:nvPr/>
        </p:nvSpPr>
        <p:spPr>
          <a:xfrm>
            <a:off x="4672584" y="4498848"/>
            <a:ext cx="658368" cy="73152"/>
          </a:xfrm>
          <a:prstGeom prst="rect">
            <a:avLst/>
          </a:prstGeom>
          <a:solidFill>
            <a:srgbClr val="F2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91656" y="1874519"/>
            <a:ext cx="1664208" cy="3108960"/>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74536" y="2057400"/>
            <a:ext cx="685800" cy="502920"/>
          </a:xfrm>
          <a:prstGeom prst="rect">
            <a:avLst/>
          </a:prstGeom>
          <a:noFill/>
        </p:spPr>
        <p:txBody>
          <a:bodyPr wrap="square" lIns="0" tIns="0" rIns="0" bIns="0" anchor="t">
            <a:spAutoFit/>
          </a:bodyPr>
          <a:lstStyle/>
          <a:p>
            <a:pPr algn="l">
              <a:spcBef>
                <a:spcPts val="0"/>
              </a:spcBef>
              <a:spcAft>
                <a:spcPts val="0"/>
              </a:spcAft>
            </a:pPr>
            <a:r>
              <a:rPr sz="2500" b="1" i="0">
                <a:solidFill>
                  <a:srgbClr val="EF6A5B"/>
                </a:solidFill>
                <a:latin typeface="Aptos Display"/>
              </a:rPr>
              <a:t>04</a:t>
            </a:r>
            <a:endParaRPr sz="2500" b="1" i="0">
              <a:solidFill>
                <a:srgbClr val="EF6A5B"/>
              </a:solidFill>
              <a:latin typeface="Aptos Display"/>
            </a:endParaRPr>
          </a:p>
        </p:txBody>
      </p:sp>
      <p:sp>
        <p:nvSpPr>
          <p:cNvPr id="25" name="TextBox 24"/>
          <p:cNvSpPr txBox="1"/>
          <p:nvPr/>
        </p:nvSpPr>
        <p:spPr>
          <a:xfrm>
            <a:off x="6574536" y="2743200"/>
            <a:ext cx="1261872" cy="320040"/>
          </a:xfrm>
          <a:prstGeom prst="rect">
            <a:avLst/>
          </a:prstGeom>
          <a:noFill/>
        </p:spPr>
        <p:txBody>
          <a:bodyPr wrap="square" lIns="0" tIns="0" rIns="0" bIns="0" anchor="t">
            <a:spAutoFit/>
          </a:bodyPr>
          <a:lstStyle/>
          <a:p>
            <a:pPr algn="l">
              <a:spcBef>
                <a:spcPts val="0"/>
              </a:spcBef>
              <a:spcAft>
                <a:spcPts val="0"/>
              </a:spcAft>
            </a:pPr>
            <a:r>
              <a:rPr sz="1300" b="1" i="0">
                <a:solidFill>
                  <a:srgbClr val="0B1F33"/>
                </a:solidFill>
                <a:latin typeface="Aptos"/>
              </a:rPr>
              <a:t>CREATE</a:t>
            </a:r>
            <a:endParaRPr sz="1300" b="1" i="0">
              <a:solidFill>
                <a:srgbClr val="0B1F33"/>
              </a:solidFill>
              <a:latin typeface="Aptos"/>
            </a:endParaRPr>
          </a:p>
        </p:txBody>
      </p:sp>
      <p:sp>
        <p:nvSpPr>
          <p:cNvPr id="26" name="TextBox 25"/>
          <p:cNvSpPr txBox="1"/>
          <p:nvPr/>
        </p:nvSpPr>
        <p:spPr>
          <a:xfrm>
            <a:off x="6574536" y="3200400"/>
            <a:ext cx="1261872" cy="1051560"/>
          </a:xfrm>
          <a:prstGeom prst="rect">
            <a:avLst/>
          </a:prstGeom>
          <a:noFill/>
        </p:spPr>
        <p:txBody>
          <a:bodyPr wrap="square" lIns="0" tIns="0" rIns="0" bIns="0" anchor="t">
            <a:spAutoFit/>
          </a:bodyPr>
          <a:lstStyle/>
          <a:p>
            <a:pPr algn="l">
              <a:spcBef>
                <a:spcPts val="0"/>
              </a:spcBef>
              <a:spcAft>
                <a:spcPts val="0"/>
              </a:spcAft>
            </a:pPr>
            <a:r>
              <a:rPr sz="1350" b="0" i="0">
                <a:solidFill>
                  <a:srgbClr val="5F6B76"/>
                </a:solidFill>
                <a:latin typeface="Aptos"/>
              </a:rPr>
              <a:t>Add a Customer through REST API</a:t>
            </a:r>
            <a:endParaRPr sz="1350" b="0" i="0">
              <a:solidFill>
                <a:srgbClr val="5F6B76"/>
              </a:solidFill>
              <a:latin typeface="Aptos"/>
            </a:endParaRPr>
          </a:p>
        </p:txBody>
      </p:sp>
      <p:sp>
        <p:nvSpPr>
          <p:cNvPr id="27" name="Rectangle 26"/>
          <p:cNvSpPr/>
          <p:nvPr/>
        </p:nvSpPr>
        <p:spPr>
          <a:xfrm>
            <a:off x="6574536" y="4498848"/>
            <a:ext cx="658368" cy="73152"/>
          </a:xfrm>
          <a:prstGeom prst="rect">
            <a:avLst/>
          </a:prstGeom>
          <a:solidFill>
            <a:srgbClr val="EF6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93608" y="1874519"/>
            <a:ext cx="1664208" cy="3108960"/>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76488" y="2057400"/>
            <a:ext cx="685800" cy="502920"/>
          </a:xfrm>
          <a:prstGeom prst="rect">
            <a:avLst/>
          </a:prstGeom>
          <a:noFill/>
        </p:spPr>
        <p:txBody>
          <a:bodyPr wrap="square" lIns="0" tIns="0" rIns="0" bIns="0" anchor="t">
            <a:spAutoFit/>
          </a:bodyPr>
          <a:lstStyle/>
          <a:p>
            <a:pPr algn="l">
              <a:spcBef>
                <a:spcPts val="0"/>
              </a:spcBef>
              <a:spcAft>
                <a:spcPts val="0"/>
              </a:spcAft>
            </a:pPr>
            <a:r>
              <a:rPr sz="2500" b="1" i="0">
                <a:solidFill>
                  <a:srgbClr val="1E5EFF"/>
                </a:solidFill>
                <a:latin typeface="Aptos Display"/>
              </a:rPr>
              <a:t>05</a:t>
            </a:r>
            <a:endParaRPr sz="2500" b="1" i="0">
              <a:solidFill>
                <a:srgbClr val="1E5EFF"/>
              </a:solidFill>
              <a:latin typeface="Aptos Display"/>
            </a:endParaRPr>
          </a:p>
        </p:txBody>
      </p:sp>
      <p:sp>
        <p:nvSpPr>
          <p:cNvPr id="30" name="TextBox 29"/>
          <p:cNvSpPr txBox="1"/>
          <p:nvPr/>
        </p:nvSpPr>
        <p:spPr>
          <a:xfrm>
            <a:off x="8476488" y="2743200"/>
            <a:ext cx="1261872" cy="320040"/>
          </a:xfrm>
          <a:prstGeom prst="rect">
            <a:avLst/>
          </a:prstGeom>
          <a:noFill/>
        </p:spPr>
        <p:txBody>
          <a:bodyPr wrap="square" lIns="0" tIns="0" rIns="0" bIns="0" anchor="t">
            <a:spAutoFit/>
          </a:bodyPr>
          <a:lstStyle/>
          <a:p>
            <a:pPr algn="l">
              <a:spcBef>
                <a:spcPts val="0"/>
              </a:spcBef>
              <a:spcAft>
                <a:spcPts val="0"/>
              </a:spcAft>
            </a:pPr>
            <a:r>
              <a:rPr sz="1300" b="1" i="0">
                <a:solidFill>
                  <a:srgbClr val="0B1F33"/>
                </a:solidFill>
                <a:latin typeface="Aptos"/>
              </a:rPr>
              <a:t>UPDATE</a:t>
            </a:r>
            <a:endParaRPr sz="1300" b="1" i="0">
              <a:solidFill>
                <a:srgbClr val="0B1F33"/>
              </a:solidFill>
              <a:latin typeface="Aptos"/>
            </a:endParaRPr>
          </a:p>
        </p:txBody>
      </p:sp>
      <p:sp>
        <p:nvSpPr>
          <p:cNvPr id="31" name="TextBox 30"/>
          <p:cNvSpPr txBox="1"/>
          <p:nvPr/>
        </p:nvSpPr>
        <p:spPr>
          <a:xfrm>
            <a:off x="8476488" y="3200400"/>
            <a:ext cx="1261872" cy="1051560"/>
          </a:xfrm>
          <a:prstGeom prst="rect">
            <a:avLst/>
          </a:prstGeom>
          <a:noFill/>
        </p:spPr>
        <p:txBody>
          <a:bodyPr wrap="square" lIns="0" tIns="0" rIns="0" bIns="0" anchor="t">
            <a:spAutoFit/>
          </a:bodyPr>
          <a:lstStyle/>
          <a:p>
            <a:pPr algn="l">
              <a:spcBef>
                <a:spcPts val="0"/>
              </a:spcBef>
              <a:spcAft>
                <a:spcPts val="0"/>
              </a:spcAft>
            </a:pPr>
            <a:r>
              <a:rPr sz="1350" b="0" i="0">
                <a:solidFill>
                  <a:srgbClr val="5F6B76"/>
                </a:solidFill>
                <a:latin typeface="Aptos"/>
              </a:rPr>
              <a:t>Edit or archive Customer</a:t>
            </a:r>
            <a:endParaRPr sz="1350" b="0" i="0">
              <a:solidFill>
                <a:srgbClr val="5F6B76"/>
              </a:solidFill>
              <a:latin typeface="Aptos"/>
            </a:endParaRPr>
          </a:p>
        </p:txBody>
      </p:sp>
      <p:sp>
        <p:nvSpPr>
          <p:cNvPr id="32" name="Rectangle 31"/>
          <p:cNvSpPr/>
          <p:nvPr/>
        </p:nvSpPr>
        <p:spPr>
          <a:xfrm>
            <a:off x="8476488" y="4498848"/>
            <a:ext cx="658368" cy="73152"/>
          </a:xfrm>
          <a:prstGeom prst="rect">
            <a:avLst/>
          </a:prstGeom>
          <a:solidFill>
            <a:srgbClr val="1E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195560" y="1874519"/>
            <a:ext cx="1664208" cy="3108960"/>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78440" y="2057400"/>
            <a:ext cx="685800" cy="502920"/>
          </a:xfrm>
          <a:prstGeom prst="rect">
            <a:avLst/>
          </a:prstGeom>
          <a:noFill/>
        </p:spPr>
        <p:txBody>
          <a:bodyPr wrap="square" lIns="0" tIns="0" rIns="0" bIns="0" anchor="t">
            <a:spAutoFit/>
          </a:bodyPr>
          <a:lstStyle/>
          <a:p>
            <a:pPr algn="l">
              <a:spcBef>
                <a:spcPts val="0"/>
              </a:spcBef>
              <a:spcAft>
                <a:spcPts val="0"/>
              </a:spcAft>
            </a:pPr>
            <a:r>
              <a:rPr sz="2500" b="1" i="0">
                <a:solidFill>
                  <a:srgbClr val="14B8A6"/>
                </a:solidFill>
                <a:latin typeface="Aptos Display"/>
              </a:rPr>
              <a:t>06</a:t>
            </a:r>
            <a:endParaRPr sz="2500" b="1" i="0">
              <a:solidFill>
                <a:srgbClr val="14B8A6"/>
              </a:solidFill>
              <a:latin typeface="Aptos Display"/>
            </a:endParaRPr>
          </a:p>
        </p:txBody>
      </p:sp>
      <p:sp>
        <p:nvSpPr>
          <p:cNvPr id="35" name="TextBox 34"/>
          <p:cNvSpPr txBox="1"/>
          <p:nvPr/>
        </p:nvSpPr>
        <p:spPr>
          <a:xfrm>
            <a:off x="10378440" y="2743200"/>
            <a:ext cx="1261872" cy="320040"/>
          </a:xfrm>
          <a:prstGeom prst="rect">
            <a:avLst/>
          </a:prstGeom>
          <a:noFill/>
        </p:spPr>
        <p:txBody>
          <a:bodyPr wrap="square" lIns="0" tIns="0" rIns="0" bIns="0" anchor="t">
            <a:spAutoFit/>
          </a:bodyPr>
          <a:lstStyle/>
          <a:p>
            <a:pPr algn="l">
              <a:spcBef>
                <a:spcPts val="0"/>
              </a:spcBef>
              <a:spcAft>
                <a:spcPts val="0"/>
              </a:spcAft>
            </a:pPr>
            <a:r>
              <a:rPr sz="1300" b="1" i="0">
                <a:solidFill>
                  <a:srgbClr val="0B1F33"/>
                </a:solidFill>
                <a:latin typeface="Aptos"/>
              </a:rPr>
              <a:t>DELETE</a:t>
            </a:r>
            <a:endParaRPr sz="1300" b="1" i="0">
              <a:solidFill>
                <a:srgbClr val="0B1F33"/>
              </a:solidFill>
              <a:latin typeface="Aptos"/>
            </a:endParaRPr>
          </a:p>
        </p:txBody>
      </p:sp>
      <p:sp>
        <p:nvSpPr>
          <p:cNvPr id="36" name="TextBox 35"/>
          <p:cNvSpPr txBox="1"/>
          <p:nvPr/>
        </p:nvSpPr>
        <p:spPr>
          <a:xfrm>
            <a:off x="10378440" y="3200400"/>
            <a:ext cx="1261872" cy="1051560"/>
          </a:xfrm>
          <a:prstGeom prst="rect">
            <a:avLst/>
          </a:prstGeom>
          <a:noFill/>
        </p:spPr>
        <p:txBody>
          <a:bodyPr wrap="square" lIns="0" tIns="0" rIns="0" bIns="0" anchor="t">
            <a:spAutoFit/>
          </a:bodyPr>
          <a:lstStyle/>
          <a:p>
            <a:pPr algn="l">
              <a:spcBef>
                <a:spcPts val="0"/>
              </a:spcBef>
              <a:spcAft>
                <a:spcPts val="0"/>
              </a:spcAft>
            </a:pPr>
            <a:r>
              <a:rPr sz="1350" b="0" i="0">
                <a:solidFill>
                  <a:srgbClr val="5F6B76"/>
                </a:solidFill>
                <a:latin typeface="Aptos"/>
              </a:rPr>
              <a:t>Verify ownership and JSON response</a:t>
            </a:r>
            <a:endParaRPr sz="1350" b="0" i="0">
              <a:solidFill>
                <a:srgbClr val="5F6B76"/>
              </a:solidFill>
              <a:latin typeface="Aptos"/>
            </a:endParaRPr>
          </a:p>
        </p:txBody>
      </p:sp>
      <p:sp>
        <p:nvSpPr>
          <p:cNvPr id="37" name="Rectangle 36"/>
          <p:cNvSpPr/>
          <p:nvPr/>
        </p:nvSpPr>
        <p:spPr>
          <a:xfrm>
            <a:off x="10378440" y="4498848"/>
            <a:ext cx="658368" cy="731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423160" y="5394960"/>
            <a:ext cx="7360920" cy="566928"/>
          </a:xfrm>
          <a:prstGeom prst="roundRect">
            <a:avLst/>
          </a:prstGeom>
          <a:solidFill>
            <a:srgbClr val="FFF0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651760" y="5486400"/>
            <a:ext cx="6903720" cy="438912"/>
          </a:xfrm>
          <a:prstGeom prst="rect">
            <a:avLst/>
          </a:prstGeom>
          <a:noFill/>
        </p:spPr>
        <p:txBody>
          <a:bodyPr wrap="square" lIns="0" tIns="0" rIns="0" bIns="0" anchor="t">
            <a:spAutoFit/>
          </a:bodyPr>
          <a:lstStyle/>
          <a:p>
            <a:pPr algn="ctr">
              <a:spcBef>
                <a:spcPts val="0"/>
              </a:spcBef>
              <a:spcAft>
                <a:spcPts val="0"/>
              </a:spcAft>
            </a:pPr>
            <a:r>
              <a:rPr sz="1250" b="1" i="0">
                <a:solidFill>
                  <a:srgbClr val="7C5700"/>
                </a:solidFill>
                <a:latin typeface="Aptos"/>
              </a:rPr>
              <a:t>RUNTIME EVIDENCE  •  API health, login, profile and Customer CRUD on the Android Studio emulator.</a:t>
            </a:r>
            <a:endParaRPr sz="1250" b="1" i="0">
              <a:solidFill>
                <a:srgbClr val="7C5700"/>
              </a:solidFill>
              <a:latin typeface="Aptos"/>
            </a:endParaRPr>
          </a:p>
        </p:txBody>
      </p:sp>
      <p:sp>
        <p:nvSpPr>
          <p:cNvPr id="40" name="TextBox 39"/>
          <p:cNvSpPr txBox="1"/>
          <p:nvPr/>
        </p:nvSpPr>
        <p:spPr>
          <a:xfrm>
            <a:off x="658368" y="6519672"/>
            <a:ext cx="3840480" cy="146304"/>
          </a:xfrm>
          <a:prstGeom prst="rect">
            <a:avLst/>
          </a:prstGeom>
          <a:noFill/>
        </p:spPr>
        <p:txBody>
          <a:bodyPr wrap="square" lIns="0" tIns="0" rIns="0" bIns="0" anchor="t">
            <a:spAutoFit/>
          </a:bodyPr>
          <a:lstStyle/>
          <a:p>
            <a:pPr algn="l">
              <a:spcBef>
                <a:spcPts val="0"/>
              </a:spcBef>
              <a:spcAft>
                <a:spcPts val="0"/>
              </a:spcAft>
            </a:pPr>
            <a:r>
              <a:rPr sz="850" b="1" i="0">
                <a:solidFill>
                  <a:srgbClr val="7A858F"/>
                </a:solidFill>
                <a:latin typeface="Aptos"/>
              </a:rPr>
              <a:t>ETRELAY: RENTAL OPERATIONS</a:t>
            </a:r>
            <a:endParaRPr sz="850" b="1" i="0">
              <a:solidFill>
                <a:srgbClr val="7A858F"/>
              </a:solidFill>
              <a:latin typeface="Aptos"/>
            </a:endParaRPr>
          </a:p>
        </p:txBody>
      </p:sp>
      <p:sp>
        <p:nvSpPr>
          <p:cNvPr id="41" name="TextBox 40"/>
          <p:cNvSpPr txBox="1"/>
          <p:nvPr/>
        </p:nvSpPr>
        <p:spPr>
          <a:xfrm>
            <a:off x="7680960" y="6519672"/>
            <a:ext cx="3840480" cy="146304"/>
          </a:xfrm>
          <a:prstGeom prst="rect">
            <a:avLst/>
          </a:prstGeom>
          <a:noFill/>
        </p:spPr>
        <p:txBody>
          <a:bodyPr wrap="square" lIns="0" tIns="0" rIns="0" bIns="0" anchor="t">
            <a:spAutoFit/>
          </a:bodyPr>
          <a:lstStyle/>
          <a:p>
            <a:pPr algn="r">
              <a:spcBef>
                <a:spcPts val="0"/>
              </a:spcBef>
              <a:spcAft>
                <a:spcPts val="0"/>
              </a:spcAft>
            </a:pPr>
            <a:r>
              <a:rPr sz="850" b="0" i="0">
                <a:solidFill>
                  <a:srgbClr val="7A858F"/>
                </a:solidFill>
                <a:latin typeface="Aptos"/>
              </a:rPr>
              <a:t>TRAN KHANH BINH • 2231200127</a:t>
            </a:r>
            <a:endParaRPr sz="850" b="0" i="0">
              <a:solidFill>
                <a:srgbClr val="7A858F"/>
              </a:solidFill>
              <a:latin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7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7680960" cy="237744"/>
          </a:xfrm>
          <a:prstGeom prst="rect">
            <a:avLst/>
          </a:prstGeom>
          <a:noFill/>
        </p:spPr>
        <p:txBody>
          <a:bodyPr wrap="square" lIns="0" tIns="0" rIns="0" bIns="0" anchor="t">
            <a:spAutoFit/>
          </a:bodyPr>
          <a:lstStyle/>
          <a:p>
            <a:pPr algn="l">
              <a:spcBef>
                <a:spcPts val="0"/>
              </a:spcBef>
              <a:spcAft>
                <a:spcPts val="0"/>
              </a:spcAft>
            </a:pPr>
            <a:r>
              <a:rPr sz="1000" b="1" i="0">
                <a:solidFill>
                  <a:srgbClr val="1E5EFF"/>
                </a:solidFill>
                <a:latin typeface="Aptos Display"/>
              </a:rPr>
              <a:t>CSW430 • MOBILE APPLICATION DEVELOPMENT</a:t>
            </a:r>
            <a:endParaRPr sz="1000" b="1" i="0">
              <a:solidFill>
                <a:srgbClr val="1E5EFF"/>
              </a:solidFill>
              <a:latin typeface="Aptos Display"/>
            </a:endParaRPr>
          </a:p>
        </p:txBody>
      </p:sp>
      <p:sp>
        <p:nvSpPr>
          <p:cNvPr id="4" name="TextBox 3"/>
          <p:cNvSpPr txBox="1"/>
          <p:nvPr/>
        </p:nvSpPr>
        <p:spPr>
          <a:xfrm>
            <a:off x="658368" y="658368"/>
            <a:ext cx="9875520" cy="585216"/>
          </a:xfrm>
          <a:prstGeom prst="rect">
            <a:avLst/>
          </a:prstGeom>
          <a:noFill/>
        </p:spPr>
        <p:txBody>
          <a:bodyPr wrap="square" lIns="0" tIns="0" rIns="0" bIns="0" anchor="t">
            <a:spAutoFit/>
          </a:bodyPr>
          <a:lstStyle/>
          <a:p>
            <a:pPr algn="l">
              <a:spcBef>
                <a:spcPts val="0"/>
              </a:spcBef>
              <a:spcAft>
                <a:spcPts val="0"/>
              </a:spcAft>
            </a:pPr>
            <a:r>
              <a:rPr sz="2900" b="1" i="0">
                <a:solidFill>
                  <a:srgbClr val="0B1F33"/>
                </a:solidFill>
                <a:latin typeface="Aptos Display"/>
              </a:rPr>
              <a:t>Limitations and future work</a:t>
            </a:r>
            <a:endParaRPr sz="2900" b="1" i="0">
              <a:solidFill>
                <a:srgbClr val="0B1F33"/>
              </a:solidFill>
              <a:latin typeface="Aptos Display"/>
            </a:endParaRPr>
          </a:p>
        </p:txBody>
      </p:sp>
      <p:sp>
        <p:nvSpPr>
          <p:cNvPr id="5" name="TextBox 4"/>
          <p:cNvSpPr txBox="1"/>
          <p:nvPr/>
        </p:nvSpPr>
        <p:spPr>
          <a:xfrm>
            <a:off x="676656" y="1252728"/>
            <a:ext cx="9966960" cy="347472"/>
          </a:xfrm>
          <a:prstGeom prst="rect">
            <a:avLst/>
          </a:prstGeom>
          <a:noFill/>
        </p:spPr>
        <p:txBody>
          <a:bodyPr wrap="square" lIns="0" tIns="0" rIns="0" bIns="0" anchor="t">
            <a:spAutoFit/>
          </a:bodyPr>
          <a:lstStyle/>
          <a:p>
            <a:pPr algn="l">
              <a:spcBef>
                <a:spcPts val="0"/>
              </a:spcBef>
              <a:spcAft>
                <a:spcPts val="0"/>
              </a:spcAft>
            </a:pPr>
            <a:r>
              <a:rPr sz="1300" b="0" i="0">
                <a:solidFill>
                  <a:srgbClr val="5F6B76"/>
                </a:solidFill>
                <a:latin typeface="Aptos"/>
              </a:rPr>
              <a:t>Clear boundaries make the academic claim stronger, not weaker.</a:t>
            </a:r>
            <a:endParaRPr sz="1300" b="0" i="0">
              <a:solidFill>
                <a:srgbClr val="5F6B76"/>
              </a:solidFill>
              <a:latin typeface="Aptos"/>
            </a:endParaRPr>
          </a:p>
        </p:txBody>
      </p:sp>
      <p:sp>
        <p:nvSpPr>
          <p:cNvPr id="6" name="Rounded Rectangle 5"/>
          <p:cNvSpPr/>
          <p:nvPr/>
        </p:nvSpPr>
        <p:spPr>
          <a:xfrm>
            <a:off x="11064240" y="320040"/>
            <a:ext cx="502920" cy="384048"/>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20040"/>
            <a:ext cx="502920" cy="384048"/>
          </a:xfrm>
          <a:prstGeom prst="rect">
            <a:avLst/>
          </a:prstGeom>
          <a:noFill/>
        </p:spPr>
        <p:txBody>
          <a:bodyPr wrap="square" lIns="0" tIns="0" rIns="0" bIns="0" anchor="ctr">
            <a:spAutoFit/>
          </a:bodyPr>
          <a:lstStyle/>
          <a:p>
            <a:pPr algn="ctr">
              <a:spcBef>
                <a:spcPts val="0"/>
              </a:spcBef>
              <a:spcAft>
                <a:spcPts val="0"/>
              </a:spcAft>
            </a:pPr>
            <a:r>
              <a:rPr sz="1200" b="1" i="0">
                <a:solidFill>
                  <a:srgbClr val="FFFFFF"/>
                </a:solidFill>
                <a:latin typeface="Aptos"/>
              </a:rPr>
              <a:t>12</a:t>
            </a:r>
            <a:endParaRPr sz="1200" b="1" i="0">
              <a:solidFill>
                <a:srgbClr val="FFFFFF"/>
              </a:solidFill>
              <a:latin typeface="Aptos"/>
            </a:endParaRPr>
          </a:p>
        </p:txBody>
      </p:sp>
      <p:sp>
        <p:nvSpPr>
          <p:cNvPr id="8" name="Rounded Rectangle 7"/>
          <p:cNvSpPr/>
          <p:nvPr/>
        </p:nvSpPr>
        <p:spPr>
          <a:xfrm>
            <a:off x="749808" y="1737360"/>
            <a:ext cx="3474720" cy="4251960"/>
          </a:xfrm>
          <a:prstGeom prst="roundRect">
            <a:avLst/>
          </a:prstGeom>
          <a:solidFill>
            <a:srgbClr val="FFF0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29968"/>
            <a:ext cx="2194560" cy="310896"/>
          </a:xfrm>
          <a:prstGeom prst="rect">
            <a:avLst/>
          </a:prstGeom>
          <a:noFill/>
        </p:spPr>
        <p:txBody>
          <a:bodyPr wrap="square" lIns="0" tIns="0" rIns="0" bIns="0" anchor="t">
            <a:spAutoFit/>
          </a:bodyPr>
          <a:lstStyle/>
          <a:p>
            <a:pPr algn="l">
              <a:spcBef>
                <a:spcPts val="0"/>
              </a:spcBef>
              <a:spcAft>
                <a:spcPts val="0"/>
              </a:spcAft>
            </a:pPr>
            <a:r>
              <a:rPr sz="1300" b="1" i="0">
                <a:solidFill>
                  <a:srgbClr val="8A6200"/>
                </a:solidFill>
                <a:latin typeface="Aptos"/>
              </a:rPr>
              <a:t>CURRENT LIMITS</a:t>
            </a:r>
            <a:endParaRPr sz="1300" b="1" i="0">
              <a:solidFill>
                <a:srgbClr val="8A6200"/>
              </a:solidFill>
              <a:latin typeface="Aptos"/>
            </a:endParaRPr>
          </a:p>
        </p:txBody>
      </p:sp>
      <p:sp>
        <p:nvSpPr>
          <p:cNvPr id="10" name="TextBox 9"/>
          <p:cNvSpPr txBox="1"/>
          <p:nvPr/>
        </p:nvSpPr>
        <p:spPr>
          <a:xfrm>
            <a:off x="1051560" y="2670048"/>
            <a:ext cx="2788920" cy="2468880"/>
          </a:xfrm>
          <a:prstGeom prst="rect">
            <a:avLst/>
          </a:prstGeom>
          <a:noFill/>
        </p:spPr>
        <p:txBody>
          <a:bodyPr wrap="square" lIns="0" tIns="0" rIns="0" bIns="0">
            <a:spAutoFit/>
          </a:bodyPr>
          <a:lstStyle/>
          <a:p>
            <a:r>
              <a:t>•  Emulator screenshots use demonstration data only</a:t>
            </a:r>
          </a:p>
          <a:p>
            <a:r>
              <a:t>•  Local-only demonstration: no cloud/Play Store deployment</a:t>
            </a:r>
          </a:p>
          <a:p>
            <a:r>
              <a:t>•  No commercial launch details in the academic report</a:t>
            </a:r>
          </a:p>
        </p:txBody>
      </p:sp>
      <p:sp>
        <p:nvSpPr>
          <p:cNvPr id="11" name="Rounded Rectangle 10"/>
          <p:cNvSpPr/>
          <p:nvPr/>
        </p:nvSpPr>
        <p:spPr>
          <a:xfrm>
            <a:off x="4434840" y="1737360"/>
            <a:ext cx="6995160" cy="1920240"/>
          </a:xfrm>
          <a:prstGeom prst="round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36592" y="2029968"/>
            <a:ext cx="2377440" cy="292608"/>
          </a:xfrm>
          <a:prstGeom prst="rect">
            <a:avLst/>
          </a:prstGeom>
          <a:noFill/>
        </p:spPr>
        <p:txBody>
          <a:bodyPr wrap="square" lIns="0" tIns="0" rIns="0" bIns="0" anchor="t">
            <a:spAutoFit/>
          </a:bodyPr>
          <a:lstStyle/>
          <a:p>
            <a:pPr algn="l">
              <a:spcBef>
                <a:spcPts val="0"/>
              </a:spcBef>
              <a:spcAft>
                <a:spcPts val="0"/>
              </a:spcAft>
            </a:pPr>
            <a:r>
              <a:rPr sz="1300" b="1" i="0">
                <a:solidFill>
                  <a:srgbClr val="14B8A6"/>
                </a:solidFill>
                <a:latin typeface="Aptos"/>
              </a:rPr>
              <a:t>BACKEND EXPLANATION</a:t>
            </a:r>
            <a:endParaRPr sz="1300" b="1" i="0">
              <a:solidFill>
                <a:srgbClr val="14B8A6"/>
              </a:solidFill>
              <a:latin typeface="Aptos"/>
            </a:endParaRPr>
          </a:p>
        </p:txBody>
      </p:sp>
      <p:sp>
        <p:nvSpPr>
          <p:cNvPr id="13" name="TextBox 12"/>
          <p:cNvSpPr txBox="1"/>
          <p:nvPr/>
        </p:nvSpPr>
        <p:spPr>
          <a:xfrm>
            <a:off x="4736592" y="2468880"/>
            <a:ext cx="6126480" cy="987552"/>
          </a:xfrm>
          <a:prstGeom prst="rect">
            <a:avLst/>
          </a:prstGeom>
          <a:noFill/>
        </p:spPr>
        <p:txBody>
          <a:bodyPr wrap="square" lIns="0" tIns="0" rIns="0" bIns="0" anchor="t">
            <a:spAutoFit/>
          </a:bodyPr>
          <a:lstStyle/>
          <a:p>
            <a:pPr algn="l">
              <a:spcBef>
                <a:spcPts val="0"/>
              </a:spcBef>
              <a:spcAft>
                <a:spcPts val="0"/>
              </a:spcAft>
            </a:pPr>
            <a:r>
              <a:rPr sz="2000" b="1" i="0">
                <a:solidFill>
                  <a:srgbClr val="FFFFFF"/>
                </a:solidFill>
                <a:latin typeface="Aptos"/>
              </a:rPr>
              <a:t>Express owns REST routes, Zod validation and PostgreSQL queries. Local JWT identifies users only.</a:t>
            </a:r>
            <a:endParaRPr sz="2000" b="1" i="0">
              <a:solidFill>
                <a:srgbClr val="FFFFFF"/>
              </a:solidFill>
              <a:latin typeface="Aptos"/>
            </a:endParaRPr>
          </a:p>
        </p:txBody>
      </p:sp>
      <p:sp>
        <p:nvSpPr>
          <p:cNvPr id="14" name="Rounded Rectangle 13"/>
          <p:cNvSpPr/>
          <p:nvPr/>
        </p:nvSpPr>
        <p:spPr>
          <a:xfrm>
            <a:off x="4434840" y="3977639"/>
            <a:ext cx="1572768" cy="1234440"/>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34840" y="3977639"/>
            <a:ext cx="1572768" cy="91440"/>
          </a:xfrm>
          <a:prstGeom prst="rect">
            <a:avLst/>
          </a:prstGeom>
          <a:solidFill>
            <a:srgbClr val="1E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5" y="4325112"/>
            <a:ext cx="1316736" cy="438912"/>
          </a:xfrm>
          <a:prstGeom prst="rect">
            <a:avLst/>
          </a:prstGeom>
          <a:noFill/>
        </p:spPr>
        <p:txBody>
          <a:bodyPr wrap="square" lIns="0" tIns="0" rIns="0" bIns="0" anchor="ctr">
            <a:spAutoFit/>
          </a:bodyPr>
          <a:lstStyle/>
          <a:p>
            <a:pPr algn="ctr">
              <a:spcBef>
                <a:spcPts val="0"/>
              </a:spcBef>
              <a:spcAft>
                <a:spcPts val="0"/>
              </a:spcAft>
            </a:pPr>
            <a:r>
              <a:rPr sz="1200" b="1" i="0">
                <a:solidFill>
                  <a:srgbClr val="0B1F33"/>
                </a:solidFill>
                <a:latin typeface="Aptos"/>
              </a:rPr>
              <a:t>REPORTING</a:t>
            </a:r>
            <a:endParaRPr sz="1200" b="1" i="0">
              <a:solidFill>
                <a:srgbClr val="0B1F33"/>
              </a:solidFill>
              <a:latin typeface="Aptos"/>
            </a:endParaRPr>
          </a:p>
        </p:txBody>
      </p:sp>
      <p:sp>
        <p:nvSpPr>
          <p:cNvPr id="17" name="Rounded Rectangle 16"/>
          <p:cNvSpPr/>
          <p:nvPr/>
        </p:nvSpPr>
        <p:spPr>
          <a:xfrm>
            <a:off x="6199631" y="3977639"/>
            <a:ext cx="1572768" cy="1234440"/>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9631" y="3977639"/>
            <a:ext cx="1572768" cy="9144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7647" y="4325112"/>
            <a:ext cx="1316736" cy="438912"/>
          </a:xfrm>
          <a:prstGeom prst="rect">
            <a:avLst/>
          </a:prstGeom>
          <a:noFill/>
        </p:spPr>
        <p:txBody>
          <a:bodyPr wrap="square" lIns="0" tIns="0" rIns="0" bIns="0" anchor="ctr">
            <a:spAutoFit/>
          </a:bodyPr>
          <a:lstStyle/>
          <a:p>
            <a:pPr algn="ctr">
              <a:spcBef>
                <a:spcPts val="0"/>
              </a:spcBef>
              <a:spcAft>
                <a:spcPts val="0"/>
              </a:spcAft>
            </a:pPr>
            <a:r>
              <a:rPr sz="1200" b="1" i="0">
                <a:solidFill>
                  <a:srgbClr val="0B1F33"/>
                </a:solidFill>
                <a:latin typeface="Aptos"/>
              </a:rPr>
              <a:t>OFFLINE SYNC</a:t>
            </a:r>
            <a:endParaRPr sz="1200" b="1" i="0">
              <a:solidFill>
                <a:srgbClr val="0B1F33"/>
              </a:solidFill>
              <a:latin typeface="Aptos"/>
            </a:endParaRPr>
          </a:p>
        </p:txBody>
      </p:sp>
      <p:sp>
        <p:nvSpPr>
          <p:cNvPr id="20" name="Rounded Rectangle 19"/>
          <p:cNvSpPr/>
          <p:nvPr/>
        </p:nvSpPr>
        <p:spPr>
          <a:xfrm>
            <a:off x="7964423" y="3977639"/>
            <a:ext cx="1572768" cy="1234440"/>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3" y="3977639"/>
            <a:ext cx="1572768" cy="91440"/>
          </a:xfrm>
          <a:prstGeom prst="rect">
            <a:avLst/>
          </a:prstGeom>
          <a:solidFill>
            <a:srgbClr val="EF6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40" y="4325112"/>
            <a:ext cx="1316736" cy="438912"/>
          </a:xfrm>
          <a:prstGeom prst="rect">
            <a:avLst/>
          </a:prstGeom>
          <a:noFill/>
        </p:spPr>
        <p:txBody>
          <a:bodyPr wrap="square" lIns="0" tIns="0" rIns="0" bIns="0" anchor="ctr">
            <a:spAutoFit/>
          </a:bodyPr>
          <a:lstStyle/>
          <a:p>
            <a:pPr algn="ctr">
              <a:spcBef>
                <a:spcPts val="0"/>
              </a:spcBef>
              <a:spcAft>
                <a:spcPts val="0"/>
              </a:spcAft>
            </a:pPr>
            <a:r>
              <a:rPr sz="1200" b="1" i="0">
                <a:solidFill>
                  <a:srgbClr val="0B1F33"/>
                </a:solidFill>
                <a:latin typeface="Aptos"/>
              </a:rPr>
              <a:t>NOTIFICATIONS</a:t>
            </a:r>
            <a:endParaRPr sz="1200" b="1" i="0">
              <a:solidFill>
                <a:srgbClr val="0B1F33"/>
              </a:solidFill>
              <a:latin typeface="Aptos"/>
            </a:endParaRPr>
          </a:p>
        </p:txBody>
      </p:sp>
      <p:sp>
        <p:nvSpPr>
          <p:cNvPr id="23" name="Rounded Rectangle 22"/>
          <p:cNvSpPr/>
          <p:nvPr/>
        </p:nvSpPr>
        <p:spPr>
          <a:xfrm>
            <a:off x="9729215" y="3977639"/>
            <a:ext cx="1572768" cy="1234440"/>
          </a:xfrm>
          <a:prstGeom prst="roundRect">
            <a:avLst/>
          </a:prstGeom>
          <a:solidFill>
            <a:srgbClr val="FFFFFF"/>
          </a:solidFill>
          <a:ln w="12700">
            <a:solidFill>
              <a:srgbClr val="D8D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729215" y="3977639"/>
            <a:ext cx="1572768" cy="91440"/>
          </a:xfrm>
          <a:prstGeom prst="rect">
            <a:avLst/>
          </a:prstGeom>
          <a:solidFill>
            <a:srgbClr val="F2B5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57232" y="4325112"/>
            <a:ext cx="1316736" cy="438912"/>
          </a:xfrm>
          <a:prstGeom prst="rect">
            <a:avLst/>
          </a:prstGeom>
          <a:noFill/>
        </p:spPr>
        <p:txBody>
          <a:bodyPr wrap="square" lIns="0" tIns="0" rIns="0" bIns="0" anchor="ctr">
            <a:spAutoFit/>
          </a:bodyPr>
          <a:lstStyle/>
          <a:p>
            <a:pPr algn="ctr">
              <a:spcBef>
                <a:spcPts val="0"/>
              </a:spcBef>
              <a:spcAft>
                <a:spcPts val="0"/>
              </a:spcAft>
            </a:pPr>
            <a:r>
              <a:rPr sz="1200" b="1" i="0">
                <a:solidFill>
                  <a:srgbClr val="0B1F33"/>
                </a:solidFill>
                <a:latin typeface="Aptos"/>
              </a:rPr>
              <a:t>SUS STUDY</a:t>
            </a:r>
            <a:endParaRPr sz="1200" b="1" i="0">
              <a:solidFill>
                <a:srgbClr val="0B1F33"/>
              </a:solidFill>
              <a:latin typeface="Aptos"/>
            </a:endParaRPr>
          </a:p>
        </p:txBody>
      </p:sp>
      <p:sp>
        <p:nvSpPr>
          <p:cNvPr id="26" name="TextBox 25"/>
          <p:cNvSpPr txBox="1"/>
          <p:nvPr/>
        </p:nvSpPr>
        <p:spPr>
          <a:xfrm>
            <a:off x="4590288" y="5468112"/>
            <a:ext cx="1920240" cy="274320"/>
          </a:xfrm>
          <a:prstGeom prst="rect">
            <a:avLst/>
          </a:prstGeom>
          <a:noFill/>
        </p:spPr>
        <p:txBody>
          <a:bodyPr wrap="square" lIns="0" tIns="0" rIns="0" bIns="0" anchor="t">
            <a:spAutoFit/>
          </a:bodyPr>
          <a:lstStyle/>
          <a:p>
            <a:pPr algn="l">
              <a:spcBef>
                <a:spcPts val="0"/>
              </a:spcBef>
              <a:spcAft>
                <a:spcPts val="0"/>
              </a:spcAft>
            </a:pPr>
            <a:r>
              <a:rPr sz="1200" b="1" i="0">
                <a:solidFill>
                  <a:srgbClr val="5F6B76"/>
                </a:solidFill>
                <a:latin typeface="Aptos"/>
              </a:rPr>
              <a:t>FUTURE WORK</a:t>
            </a:r>
            <a:endParaRPr sz="1200" b="1" i="0">
              <a:solidFill>
                <a:srgbClr val="5F6B76"/>
              </a:solidFill>
              <a:latin typeface="Aptos"/>
            </a:endParaRPr>
          </a:p>
        </p:txBody>
      </p:sp>
      <p:sp>
        <p:nvSpPr>
          <p:cNvPr id="27" name="TextBox 26"/>
          <p:cNvSpPr txBox="1"/>
          <p:nvPr/>
        </p:nvSpPr>
        <p:spPr>
          <a:xfrm>
            <a:off x="658368" y="6519672"/>
            <a:ext cx="3840480" cy="146304"/>
          </a:xfrm>
          <a:prstGeom prst="rect">
            <a:avLst/>
          </a:prstGeom>
          <a:noFill/>
        </p:spPr>
        <p:txBody>
          <a:bodyPr wrap="square" lIns="0" tIns="0" rIns="0" bIns="0" anchor="t">
            <a:spAutoFit/>
          </a:bodyPr>
          <a:lstStyle/>
          <a:p>
            <a:pPr algn="l">
              <a:spcBef>
                <a:spcPts val="0"/>
              </a:spcBef>
              <a:spcAft>
                <a:spcPts val="0"/>
              </a:spcAft>
            </a:pPr>
            <a:r>
              <a:rPr sz="850" b="1" i="0">
                <a:solidFill>
                  <a:srgbClr val="7A858F"/>
                </a:solidFill>
                <a:latin typeface="Aptos"/>
              </a:rPr>
              <a:t>ETRELAY: RENTAL OPERATIONS</a:t>
            </a:r>
            <a:endParaRPr sz="850" b="1" i="0">
              <a:solidFill>
                <a:srgbClr val="7A858F"/>
              </a:solidFill>
              <a:latin typeface="Aptos"/>
            </a:endParaRPr>
          </a:p>
        </p:txBody>
      </p:sp>
      <p:sp>
        <p:nvSpPr>
          <p:cNvPr id="28" name="TextBox 27"/>
          <p:cNvSpPr txBox="1"/>
          <p:nvPr/>
        </p:nvSpPr>
        <p:spPr>
          <a:xfrm>
            <a:off x="7680960" y="6519672"/>
            <a:ext cx="3840480" cy="146304"/>
          </a:xfrm>
          <a:prstGeom prst="rect">
            <a:avLst/>
          </a:prstGeom>
          <a:noFill/>
        </p:spPr>
        <p:txBody>
          <a:bodyPr wrap="square" lIns="0" tIns="0" rIns="0" bIns="0" anchor="t">
            <a:spAutoFit/>
          </a:bodyPr>
          <a:lstStyle/>
          <a:p>
            <a:pPr algn="r">
              <a:spcBef>
                <a:spcPts val="0"/>
              </a:spcBef>
              <a:spcAft>
                <a:spcPts val="0"/>
              </a:spcAft>
            </a:pPr>
            <a:r>
              <a:rPr sz="850" b="0" i="0">
                <a:solidFill>
                  <a:srgbClr val="7A858F"/>
                </a:solidFill>
                <a:latin typeface="Aptos"/>
              </a:rPr>
              <a:t>TRAN KHANH BINH • 2231200127</a:t>
            </a:r>
            <a:endParaRPr sz="850" b="0" i="0">
              <a:solidFill>
                <a:srgbClr val="7A858F"/>
              </a:solidFill>
              <a:latin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846320"/>
            <a:ext cx="2331720" cy="2331720"/>
          </a:xfrm>
          <a:prstGeom prst="ellipse">
            <a:avLst/>
          </a:prstGeom>
          <a:solidFill>
            <a:srgbClr val="1E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744200" y="-640080"/>
            <a:ext cx="2423160" cy="242316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310896"/>
            <a:ext cx="7680960" cy="237744"/>
          </a:xfrm>
          <a:prstGeom prst="rect">
            <a:avLst/>
          </a:prstGeom>
          <a:noFill/>
        </p:spPr>
        <p:txBody>
          <a:bodyPr wrap="square" lIns="0" tIns="0" rIns="0" bIns="0" anchor="t">
            <a:spAutoFit/>
          </a:bodyPr>
          <a:lstStyle/>
          <a:p>
            <a:pPr algn="l">
              <a:spcBef>
                <a:spcPts val="0"/>
              </a:spcBef>
              <a:spcAft>
                <a:spcPts val="0"/>
              </a:spcAft>
            </a:pPr>
            <a:r>
              <a:rPr sz="1000" b="1" i="0">
                <a:solidFill>
                  <a:srgbClr val="14B8A6"/>
                </a:solidFill>
                <a:latin typeface="Aptos Display"/>
              </a:rPr>
              <a:t>CSW430 • CONCLUSION</a:t>
            </a:r>
            <a:endParaRPr sz="1000" b="1" i="0">
              <a:solidFill>
                <a:srgbClr val="14B8A6"/>
              </a:solidFill>
              <a:latin typeface="Aptos Display"/>
            </a:endParaRPr>
          </a:p>
        </p:txBody>
      </p:sp>
      <p:sp>
        <p:nvSpPr>
          <p:cNvPr id="6" name="TextBox 5"/>
          <p:cNvSpPr txBox="1"/>
          <p:nvPr/>
        </p:nvSpPr>
        <p:spPr>
          <a:xfrm>
            <a:off x="1051560" y="1280160"/>
            <a:ext cx="10058400" cy="1298448"/>
          </a:xfrm>
          <a:prstGeom prst="rect">
            <a:avLst/>
          </a:prstGeom>
          <a:noFill/>
        </p:spPr>
        <p:txBody>
          <a:bodyPr wrap="square" lIns="0" tIns="0" rIns="0" bIns="0" anchor="t">
            <a:spAutoFit/>
          </a:bodyPr>
          <a:lstStyle/>
          <a:p>
            <a:pPr algn="ctr">
              <a:spcBef>
                <a:spcPts val="0"/>
              </a:spcBef>
              <a:spcAft>
                <a:spcPts val="0"/>
              </a:spcAft>
            </a:pPr>
            <a:r>
              <a:rPr sz="3800" b="1" i="0">
                <a:solidFill>
                  <a:srgbClr val="FFFFFF"/>
                </a:solidFill>
                <a:latin typeface="Aptos Display"/>
              </a:rPr>
              <a:t>Etrelay demonstrates a complete mobile application slice.</a:t>
            </a:r>
            <a:endParaRPr sz="3800" b="1" i="0">
              <a:solidFill>
                <a:srgbClr val="FFFFFF"/>
              </a:solidFill>
              <a:latin typeface="Aptos Display"/>
            </a:endParaRPr>
          </a:p>
        </p:txBody>
      </p:sp>
      <p:sp>
        <p:nvSpPr>
          <p:cNvPr id="7" name="TextBox 6"/>
          <p:cNvSpPr txBox="1"/>
          <p:nvPr/>
        </p:nvSpPr>
        <p:spPr>
          <a:xfrm>
            <a:off x="914400" y="2816352"/>
            <a:ext cx="10332720" cy="475488"/>
          </a:xfrm>
          <a:prstGeom prst="rect">
            <a:avLst/>
          </a:prstGeom>
          <a:noFill/>
        </p:spPr>
        <p:txBody>
          <a:bodyPr wrap="square" lIns="0" tIns="0" rIns="0" bIns="0" anchor="t">
            <a:spAutoFit/>
          </a:bodyPr>
          <a:lstStyle/>
          <a:p>
            <a:pPr algn="ctr">
              <a:spcBef>
                <a:spcPts val="0"/>
              </a:spcBef>
              <a:spcAft>
                <a:spcPts val="0"/>
              </a:spcAft>
            </a:pPr>
            <a:r>
              <a:rPr sz="1750" b="0" i="0">
                <a:solidFill>
                  <a:srgbClr val="C7D4E0"/>
                </a:solidFill>
                <a:latin typeface="Aptos"/>
              </a:rPr>
              <a:t>Mobile UI  •  backend/API  •  PostgreSQL  •  authentication  •  CRUD  •  QR  •  transfer lifecycle  •  testing</a:t>
            </a:r>
            <a:endParaRPr sz="1750" b="0" i="0">
              <a:solidFill>
                <a:srgbClr val="C7D4E0"/>
              </a:solidFill>
              <a:latin typeface="Aptos"/>
            </a:endParaRPr>
          </a:p>
        </p:txBody>
      </p:sp>
      <p:sp>
        <p:nvSpPr>
          <p:cNvPr id="8" name="Rounded Rectangle 7"/>
          <p:cNvSpPr/>
          <p:nvPr/>
        </p:nvSpPr>
        <p:spPr>
          <a:xfrm>
            <a:off x="2834640" y="3913632"/>
            <a:ext cx="6537960" cy="1051560"/>
          </a:xfrm>
          <a:prstGeom prst="roundRect">
            <a:avLst/>
          </a:prstGeom>
          <a:solidFill>
            <a:srgbClr val="102A43"/>
          </a:solidFill>
          <a:ln w="12700">
            <a:solidFill>
              <a:srgbClr val="294A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27248" y="4160520"/>
            <a:ext cx="2743200" cy="320040"/>
          </a:xfrm>
          <a:prstGeom prst="rect">
            <a:avLst/>
          </a:prstGeom>
          <a:noFill/>
        </p:spPr>
        <p:txBody>
          <a:bodyPr wrap="square" lIns="0" tIns="0" rIns="0" bIns="0" anchor="t">
            <a:spAutoFit/>
          </a:bodyPr>
          <a:lstStyle/>
          <a:p>
            <a:pPr algn="l">
              <a:spcBef>
                <a:spcPts val="0"/>
              </a:spcBef>
              <a:spcAft>
                <a:spcPts val="0"/>
              </a:spcAft>
            </a:pPr>
            <a:r>
              <a:rPr sz="1800" b="1" i="0">
                <a:solidFill>
                  <a:srgbClr val="14B8A6"/>
                </a:solidFill>
                <a:latin typeface="Aptos"/>
              </a:rPr>
              <a:t>Ready for presentation</a:t>
            </a:r>
            <a:endParaRPr sz="1800" b="1" i="0">
              <a:solidFill>
                <a:srgbClr val="14B8A6"/>
              </a:solidFill>
              <a:latin typeface="Aptos"/>
            </a:endParaRPr>
          </a:p>
        </p:txBody>
      </p:sp>
      <p:sp>
        <p:nvSpPr>
          <p:cNvPr id="10" name="TextBox 9"/>
          <p:cNvSpPr txBox="1"/>
          <p:nvPr/>
        </p:nvSpPr>
        <p:spPr>
          <a:xfrm>
            <a:off x="5833872" y="4078224"/>
            <a:ext cx="3182112" cy="548640"/>
          </a:xfrm>
          <a:prstGeom prst="rect">
            <a:avLst/>
          </a:prstGeom>
          <a:noFill/>
        </p:spPr>
        <p:txBody>
          <a:bodyPr wrap="square" lIns="0" tIns="0" rIns="0" bIns="0" anchor="t">
            <a:spAutoFit/>
          </a:bodyPr>
          <a:lstStyle/>
          <a:p>
            <a:pPr algn="r">
              <a:spcBef>
                <a:spcPts val="0"/>
              </a:spcBef>
              <a:spcAft>
                <a:spcPts val="0"/>
              </a:spcAft>
            </a:pPr>
            <a:r>
              <a:rPr sz="1600" b="0" i="0">
                <a:solidFill>
                  <a:srgbClr val="FFFFFF"/>
                </a:solidFill>
                <a:latin typeface="Aptos"/>
              </a:rPr>
              <a:t>Custom REST API implemented • local runtime demonstration ready</a:t>
            </a:r>
            <a:endParaRPr sz="1600" b="0" i="0">
              <a:solidFill>
                <a:srgbClr val="FFFFFF"/>
              </a:solidFill>
              <a:latin typeface="Aptos"/>
            </a:endParaRPr>
          </a:p>
        </p:txBody>
      </p:sp>
      <p:sp>
        <p:nvSpPr>
          <p:cNvPr id="11" name="TextBox 10"/>
          <p:cNvSpPr txBox="1"/>
          <p:nvPr/>
        </p:nvSpPr>
        <p:spPr>
          <a:xfrm>
            <a:off x="2834640" y="5532120"/>
            <a:ext cx="6537960" cy="411480"/>
          </a:xfrm>
          <a:prstGeom prst="rect">
            <a:avLst/>
          </a:prstGeom>
          <a:noFill/>
        </p:spPr>
        <p:txBody>
          <a:bodyPr wrap="square" lIns="0" tIns="0" rIns="0" bIns="0" anchor="t">
            <a:spAutoFit/>
          </a:bodyPr>
          <a:lstStyle/>
          <a:p>
            <a:pPr algn="ctr">
              <a:spcBef>
                <a:spcPts val="0"/>
              </a:spcBef>
              <a:spcAft>
                <a:spcPts val="0"/>
              </a:spcAft>
            </a:pPr>
            <a:r>
              <a:rPr sz="2200" b="1" i="0">
                <a:solidFill>
                  <a:srgbClr val="F2B544"/>
                </a:solidFill>
                <a:latin typeface="Aptos"/>
              </a:rPr>
              <a:t>Questions &amp; demonstration</a:t>
            </a:r>
            <a:endParaRPr sz="2200" b="1" i="0">
              <a:solidFill>
                <a:srgbClr val="F2B544"/>
              </a:solidFill>
              <a:latin typeface="Aptos"/>
            </a:endParaRPr>
          </a:p>
        </p:txBody>
      </p:sp>
      <p:sp>
        <p:nvSpPr>
          <p:cNvPr id="12" name="TextBox 11"/>
          <p:cNvSpPr txBox="1"/>
          <p:nvPr/>
        </p:nvSpPr>
        <p:spPr>
          <a:xfrm>
            <a:off x="658368" y="6519672"/>
            <a:ext cx="3840480" cy="146304"/>
          </a:xfrm>
          <a:prstGeom prst="rect">
            <a:avLst/>
          </a:prstGeom>
          <a:noFill/>
        </p:spPr>
        <p:txBody>
          <a:bodyPr wrap="square" lIns="0" tIns="0" rIns="0" bIns="0" anchor="t">
            <a:spAutoFit/>
          </a:bodyPr>
          <a:lstStyle/>
          <a:p>
            <a:pPr algn="l">
              <a:spcBef>
                <a:spcPts val="0"/>
              </a:spcBef>
              <a:spcAft>
                <a:spcPts val="0"/>
              </a:spcAft>
            </a:pPr>
            <a:r>
              <a:rPr sz="850" b="1" i="0">
                <a:solidFill>
                  <a:srgbClr val="A8BBCB"/>
                </a:solidFill>
                <a:latin typeface="Aptos"/>
              </a:rPr>
              <a:t>ETRELAY: RENTAL OPERATIONS</a:t>
            </a:r>
            <a:endParaRPr sz="850" b="1" i="0">
              <a:solidFill>
                <a:srgbClr val="A8BBCB"/>
              </a:solidFill>
              <a:latin typeface="Aptos"/>
            </a:endParaRPr>
          </a:p>
        </p:txBody>
      </p:sp>
      <p:sp>
        <p:nvSpPr>
          <p:cNvPr id="13" name="TextBox 12"/>
          <p:cNvSpPr txBox="1"/>
          <p:nvPr/>
        </p:nvSpPr>
        <p:spPr>
          <a:xfrm>
            <a:off x="7680960" y="6519672"/>
            <a:ext cx="3840480" cy="146304"/>
          </a:xfrm>
          <a:prstGeom prst="rect">
            <a:avLst/>
          </a:prstGeom>
          <a:noFill/>
        </p:spPr>
        <p:txBody>
          <a:bodyPr wrap="square" lIns="0" tIns="0" rIns="0" bIns="0" anchor="t">
            <a:spAutoFit/>
          </a:bodyPr>
          <a:lstStyle/>
          <a:p>
            <a:pPr algn="r">
              <a:spcBef>
                <a:spcPts val="0"/>
              </a:spcBef>
              <a:spcAft>
                <a:spcPts val="0"/>
              </a:spcAft>
            </a:pPr>
            <a:r>
              <a:rPr sz="850" b="0" i="0">
                <a:solidFill>
                  <a:srgbClr val="A8BBCB"/>
                </a:solidFill>
                <a:latin typeface="Aptos"/>
              </a:rPr>
              <a:t>TRAN KHANH BINH • 2231200127</a:t>
            </a:r>
            <a:endParaRPr sz="850" b="0" i="0">
              <a:solidFill>
                <a:srgbClr val="A8BBCB"/>
              </a:solidFill>
              <a:latin typeface="Aptos"/>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10896"/>
            <a:ext cx="7680960" cy="237744"/>
          </a:xfrm>
          <a:prstGeom prst="rect">
            <a:avLst/>
          </a:prstGeom>
          <a:noFill/>
        </p:spPr>
        <p:txBody>
          <a:bodyPr wrap="square" lIns="27432" rIns="27432" tIns="18288" bIns="18288" anchor="t">
            <a:spAutoFit/>
          </a:bodyPr>
          <a:lstStyle/>
          <a:p>
            <a:pPr algn="l">
              <a:spcAft>
                <a:spcPts val="0"/>
              </a:spcAft>
            </a:pPr>
            <a:r>
              <a:rPr sz="1000" b="1">
                <a:solidFill>
                  <a:srgbClr val="1E5EFF"/>
                </a:solidFill>
                <a:latin typeface="Aptos"/>
              </a:rPr>
              <a:t>CSW430 • MOBILE APPLICATION DEVELOPMENT</a:t>
            </a:r>
          </a:p>
        </p:txBody>
      </p:sp>
      <p:sp>
        <p:nvSpPr>
          <p:cNvPr id="3" name="TextBox 2"/>
          <p:cNvSpPr txBox="1"/>
          <p:nvPr/>
        </p:nvSpPr>
        <p:spPr>
          <a:xfrm>
            <a:off x="658368" y="658368"/>
            <a:ext cx="9875520" cy="585216"/>
          </a:xfrm>
          <a:prstGeom prst="rect">
            <a:avLst/>
          </a:prstGeom>
          <a:noFill/>
        </p:spPr>
        <p:txBody>
          <a:bodyPr wrap="square" lIns="27432" rIns="27432" tIns="18288" bIns="18288" anchor="t">
            <a:spAutoFit/>
          </a:bodyPr>
          <a:lstStyle/>
          <a:p>
            <a:pPr algn="l">
              <a:spcAft>
                <a:spcPts val="0"/>
              </a:spcAft>
            </a:pPr>
            <a:r>
              <a:rPr sz="2900" b="1">
                <a:solidFill>
                  <a:srgbClr val="0B1F33"/>
                </a:solidFill>
                <a:latin typeface="Aptos Display"/>
              </a:rPr>
              <a:t>References</a:t>
            </a:r>
          </a:p>
        </p:txBody>
      </p:sp>
      <p:sp>
        <p:nvSpPr>
          <p:cNvPr id="4" name="TextBox 3"/>
          <p:cNvSpPr txBox="1"/>
          <p:nvPr/>
        </p:nvSpPr>
        <p:spPr>
          <a:xfrm>
            <a:off x="676656" y="1252728"/>
            <a:ext cx="10058400" cy="347472"/>
          </a:xfrm>
          <a:prstGeom prst="rect">
            <a:avLst/>
          </a:prstGeom>
          <a:noFill/>
        </p:spPr>
        <p:txBody>
          <a:bodyPr wrap="square" lIns="27432" rIns="27432" tIns="18288" bIns="18288" anchor="t">
            <a:spAutoFit/>
          </a:bodyPr>
          <a:lstStyle/>
          <a:p>
            <a:pPr algn="l">
              <a:spcAft>
                <a:spcPts val="0"/>
              </a:spcAft>
            </a:pPr>
            <a:r>
              <a:rPr sz="1300" b="0">
                <a:solidFill>
                  <a:srgbClr val="5F6B76"/>
                </a:solidFill>
                <a:latin typeface="Aptos"/>
              </a:rPr>
              <a:t>Selected academic sources supporting usability, inventory traceability and API security.</a:t>
            </a:r>
          </a:p>
        </p:txBody>
      </p:sp>
      <p:sp>
        <p:nvSpPr>
          <p:cNvPr id="5" name="Rounded Rectangle 4"/>
          <p:cNvSpPr/>
          <p:nvPr/>
        </p:nvSpPr>
        <p:spPr>
          <a:xfrm>
            <a:off x="11064240" y="320040"/>
            <a:ext cx="502920" cy="384048"/>
          </a:xfrm>
          <a:prstGeom prst="roundRect">
            <a:avLst/>
          </a:prstGeom>
          <a:solidFill>
            <a:srgbClr val="1E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64240" y="393192"/>
            <a:ext cx="502920" cy="182880"/>
          </a:xfrm>
          <a:prstGeom prst="rect">
            <a:avLst/>
          </a:prstGeom>
          <a:noFill/>
        </p:spPr>
        <p:txBody>
          <a:bodyPr wrap="square" lIns="27432" rIns="27432" tIns="18288" bIns="18288" anchor="t">
            <a:spAutoFit/>
          </a:bodyPr>
          <a:lstStyle/>
          <a:p>
            <a:pPr algn="ctr">
              <a:spcAft>
                <a:spcPts val="0"/>
              </a:spcAft>
            </a:pPr>
            <a:r>
              <a:rPr sz="1200" b="1">
                <a:solidFill>
                  <a:srgbClr val="FFFFFF"/>
                </a:solidFill>
                <a:latin typeface="Aptos"/>
              </a:rPr>
              <a:t>14</a:t>
            </a:r>
          </a:p>
        </p:txBody>
      </p:sp>
      <p:sp>
        <p:nvSpPr>
          <p:cNvPr id="7" name="Rounded Rectangle 6"/>
          <p:cNvSpPr/>
          <p:nvPr/>
        </p:nvSpPr>
        <p:spPr>
          <a:xfrm>
            <a:off x="749808" y="1737360"/>
            <a:ext cx="5349240" cy="4297680"/>
          </a:xfrm>
          <a:prstGeom prst="roundRect">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37360"/>
            <a:ext cx="5349240" cy="91440"/>
          </a:xfrm>
          <a:prstGeom prst="rect">
            <a:avLst/>
          </a:prstGeom>
          <a:solidFill>
            <a:srgbClr val="1E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99632" y="1737360"/>
            <a:ext cx="5230368" cy="4297680"/>
          </a:xfrm>
          <a:prstGeom prst="roundRect">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2" y="1737360"/>
            <a:ext cx="5230368" cy="9144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029968"/>
            <a:ext cx="4389120" cy="274320"/>
          </a:xfrm>
          <a:prstGeom prst="rect">
            <a:avLst/>
          </a:prstGeom>
          <a:noFill/>
        </p:spPr>
        <p:txBody>
          <a:bodyPr wrap="square" lIns="27432" rIns="27432" tIns="18288" bIns="18288" anchor="t">
            <a:spAutoFit/>
          </a:bodyPr>
          <a:lstStyle/>
          <a:p>
            <a:pPr algn="l">
              <a:spcAft>
                <a:spcPts val="0"/>
              </a:spcAft>
            </a:pPr>
            <a:r>
              <a:rPr sz="1300" b="1">
                <a:solidFill>
                  <a:srgbClr val="8A6200"/>
                </a:solidFill>
                <a:latin typeface="Aptos"/>
              </a:rPr>
              <a:t>MOBILE + UX</a:t>
            </a:r>
          </a:p>
        </p:txBody>
      </p:sp>
      <p:sp>
        <p:nvSpPr>
          <p:cNvPr id="12" name="TextBox 11"/>
          <p:cNvSpPr txBox="1"/>
          <p:nvPr/>
        </p:nvSpPr>
        <p:spPr>
          <a:xfrm>
            <a:off x="6501384" y="2029968"/>
            <a:ext cx="4389120" cy="274320"/>
          </a:xfrm>
          <a:prstGeom prst="rect">
            <a:avLst/>
          </a:prstGeom>
          <a:noFill/>
        </p:spPr>
        <p:txBody>
          <a:bodyPr wrap="square" lIns="27432" rIns="27432" tIns="18288" bIns="18288" anchor="t">
            <a:spAutoFit/>
          </a:bodyPr>
          <a:lstStyle/>
          <a:p>
            <a:pPr algn="l">
              <a:spcAft>
                <a:spcPts val="0"/>
              </a:spcAft>
            </a:pPr>
            <a:r>
              <a:rPr sz="1300" b="1">
                <a:solidFill>
                  <a:srgbClr val="14B8A6"/>
                </a:solidFill>
                <a:latin typeface="Aptos"/>
              </a:rPr>
              <a:t>INVENTORY + SECURITY</a:t>
            </a:r>
          </a:p>
        </p:txBody>
      </p:sp>
      <p:sp>
        <p:nvSpPr>
          <p:cNvPr id="13" name="TextBox 12"/>
          <p:cNvSpPr txBox="1"/>
          <p:nvPr/>
        </p:nvSpPr>
        <p:spPr>
          <a:xfrm>
            <a:off x="1051560" y="2487168"/>
            <a:ext cx="4617720" cy="3063240"/>
          </a:xfrm>
          <a:prstGeom prst="rect">
            <a:avLst/>
          </a:prstGeom>
          <a:noFill/>
        </p:spPr>
        <p:txBody>
          <a:bodyPr wrap="square" lIns="27432" rIns="27432" tIns="18288" bIns="18288" anchor="t">
            <a:spAutoFit/>
          </a:bodyPr>
          <a:lstStyle/>
          <a:p>
            <a:pPr algn="l">
              <a:spcAft>
                <a:spcPts val="0"/>
              </a:spcAft>
            </a:pPr>
            <a:r>
              <a:rPr sz="1400" b="0">
                <a:solidFill>
                  <a:srgbClr val="0B1F33"/>
                </a:solidFill>
                <a:latin typeface="Aptos"/>
              </a:rPr>
              <a:t>Harrison, Flood &amp; Duce (2013) — mobile usability
Weichbroth (2020) — usability literature review
Nielsen (1994) — usability heuristics
Chen et al. (2014) — OAuth for mobile apps</a:t>
            </a:r>
          </a:p>
        </p:txBody>
      </p:sp>
      <p:sp>
        <p:nvSpPr>
          <p:cNvPr id="14" name="TextBox 13"/>
          <p:cNvSpPr txBox="1"/>
          <p:nvPr/>
        </p:nvSpPr>
        <p:spPr>
          <a:xfrm>
            <a:off x="6501384" y="2487168"/>
            <a:ext cx="4526280" cy="3063240"/>
          </a:xfrm>
          <a:prstGeom prst="rect">
            <a:avLst/>
          </a:prstGeom>
          <a:noFill/>
        </p:spPr>
        <p:txBody>
          <a:bodyPr wrap="square" lIns="27432" rIns="27432" tIns="18288" bIns="18288" anchor="t">
            <a:spAutoFit/>
          </a:bodyPr>
          <a:lstStyle/>
          <a:p>
            <a:pPr algn="l">
              <a:spcAft>
                <a:spcPts val="0"/>
              </a:spcAft>
            </a:pPr>
            <a:r>
              <a:rPr sz="1400" b="0">
                <a:solidFill>
                  <a:srgbClr val="0B1F33"/>
                </a:solidFill>
                <a:latin typeface="Aptos"/>
              </a:rPr>
              <a:t>Fett, Kusters &amp; Schmitz (2016) — OAuth 2.0 security
Sethi, Peltonen &amp; Aura (2019) — secure device pairing
Dane, Michael &amp; Wamba (2010) — RFID inventory control
Mathaba et al. (2017) — IoT inventory management
Sriram et al. (2021) — RFID supply-chain review</a:t>
            </a:r>
          </a:p>
        </p:txBody>
      </p:sp>
      <p:sp>
        <p:nvSpPr>
          <p:cNvPr id="15" name="TextBox 14"/>
          <p:cNvSpPr txBox="1"/>
          <p:nvPr/>
        </p:nvSpPr>
        <p:spPr>
          <a:xfrm>
            <a:off x="749808" y="6236208"/>
            <a:ext cx="7315200" cy="201168"/>
          </a:xfrm>
          <a:prstGeom prst="rect">
            <a:avLst/>
          </a:prstGeom>
          <a:noFill/>
        </p:spPr>
        <p:txBody>
          <a:bodyPr wrap="square" lIns="27432" rIns="27432" tIns="18288" bIns="18288" anchor="t">
            <a:spAutoFit/>
          </a:bodyPr>
          <a:lstStyle/>
          <a:p>
            <a:pPr algn="l">
              <a:spcAft>
                <a:spcPts val="0"/>
              </a:spcAft>
            </a:pPr>
            <a:r>
              <a:rPr sz="1100" b="0">
                <a:solidFill>
                  <a:srgbClr val="5F6B76"/>
                </a:solidFill>
                <a:latin typeface="Aptos"/>
              </a:rPr>
              <a:t>Full list: 25 references in the project report.</a:t>
            </a:r>
          </a:p>
        </p:txBody>
      </p:sp>
      <p:sp>
        <p:nvSpPr>
          <p:cNvPr id="16" name="TextBox 15"/>
          <p:cNvSpPr txBox="1"/>
          <p:nvPr/>
        </p:nvSpPr>
        <p:spPr>
          <a:xfrm>
            <a:off x="658368" y="6519672"/>
            <a:ext cx="3840480" cy="146304"/>
          </a:xfrm>
          <a:prstGeom prst="rect">
            <a:avLst/>
          </a:prstGeom>
          <a:noFill/>
        </p:spPr>
        <p:txBody>
          <a:bodyPr wrap="square" lIns="27432" rIns="27432" tIns="18288" bIns="18288" anchor="t">
            <a:spAutoFit/>
          </a:bodyPr>
          <a:lstStyle/>
          <a:p>
            <a:pPr algn="l">
              <a:spcAft>
                <a:spcPts val="0"/>
              </a:spcAft>
            </a:pPr>
            <a:r>
              <a:rPr sz="850" b="1">
                <a:solidFill>
                  <a:srgbClr val="7A858F"/>
                </a:solidFill>
                <a:latin typeface="Aptos"/>
              </a:rPr>
              <a:t>ETRELAY: RENTAL OPERATIONS</a:t>
            </a:r>
          </a:p>
        </p:txBody>
      </p:sp>
      <p:sp>
        <p:nvSpPr>
          <p:cNvPr id="17" name="TextBox 16"/>
          <p:cNvSpPr txBox="1"/>
          <p:nvPr/>
        </p:nvSpPr>
        <p:spPr>
          <a:xfrm>
            <a:off x="7680960" y="6519672"/>
            <a:ext cx="3840480" cy="146304"/>
          </a:xfrm>
          <a:prstGeom prst="rect">
            <a:avLst/>
          </a:prstGeom>
          <a:noFill/>
        </p:spPr>
        <p:txBody>
          <a:bodyPr wrap="square" lIns="27432" rIns="27432" tIns="18288" bIns="18288" anchor="t">
            <a:spAutoFit/>
          </a:bodyPr>
          <a:lstStyle/>
          <a:p>
            <a:pPr algn="l">
              <a:spcAft>
                <a:spcPts val="0"/>
              </a:spcAft>
            </a:pPr>
            <a:r>
              <a:rPr sz="850" b="0">
                <a:solidFill>
                  <a:srgbClr val="7A858F"/>
                </a:solidFill>
                <a:latin typeface="Aptos"/>
              </a:rPr>
              <a:t>TRAN KHANH BINH • 2231200127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5695</Words>
  <Application>WPS Presentation</Application>
  <PresentationFormat>On-screen Show (4:3)</PresentationFormat>
  <Paragraphs>458</Paragraphs>
  <Slides>13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vt:i4>
      </vt:variant>
    </vt:vector>
  </HeadingPairs>
  <TitlesOfParts>
    <vt:vector size="26" baseType="lpstr">
      <vt:lpstr>Arial</vt:lpstr>
      <vt:lpstr>SimSun</vt:lpstr>
      <vt:lpstr>Wingdings</vt:lpstr>
      <vt:lpstr>Arial</vt:lpstr>
      <vt:lpstr>Aptos Display</vt:lpstr>
      <vt:lpstr>Segoe UI Variable Display</vt:lpstr>
      <vt:lpstr>Aptos</vt:lpstr>
      <vt:lpstr>Consolas</vt:lpstr>
      <vt:lpstr>Calibri</vt:lpstr>
      <vt:lpstr>Segoe UI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CSW430 Presentation — Etrelay: Rental Operations</dc:title>
  <dc:creator>Tran Khanh Binh</dc:creator>
  <cp:keywords>CSW430, Flutter, mobile application, PostgreSQL, Supabase, equipment transfer</cp:keywords>
  <dc:description>generated using python-pptx</dc:description>
  <dc:subject>Mobile Application Development final project</dc:subject>
  <cp:lastModifiedBy>Trankhanhbinh Tran</cp:lastModifiedBy>
  <cp:revision>2</cp:revision>
  <dcterms:created xsi:type="dcterms:W3CDTF">2013-01-27T09:14:00Z</dcterms:created>
  <dcterms:modified xsi:type="dcterms:W3CDTF">2026-08-19T08:35:24Z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71300E1B0BF7463FA8E1766EF61AA587_12</vt:lpwstr>
  </property>
  <property fmtid="{D5CDD505-2E9C-101B-9397-08002B2CF9AE}" pid="3" name="KSOProductBuildVer">
    <vt:lpwstr>1033-12.2.0.21931</vt:lpwstr>
  </property>
</Properties>
</file>